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</p:sldIdLst>
  <p:sldSz cy="5143500" cx="9144000"/>
  <p:notesSz cx="6858000" cy="9144000"/>
  <p:embeddedFontLst>
    <p:embeddedFont>
      <p:font typeface="IBM Plex Sans"/>
      <p:regular r:id="rId67"/>
      <p:bold r:id="rId68"/>
      <p:italic r:id="rId69"/>
      <p:boldItalic r:id="rId70"/>
    </p:embeddedFont>
    <p:embeddedFont>
      <p:font typeface="Arial Black"/>
      <p:regular r:id="rId71"/>
    </p:embeddedFont>
    <p:embeddedFont>
      <p:font typeface="Roboto Mono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C6825E-57A2-4BF9-9427-7F0C65780570}">
  <a:tblStyle styleId="{17C6825E-57A2-4BF9-9427-7F0C6578057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font" Target="fonts/RobotoMono-bold.fntdata"/><Relationship Id="rId72" Type="http://schemas.openxmlformats.org/officeDocument/2006/relationships/font" Target="fonts/RobotoMono-regular.fntdata"/><Relationship Id="rId31" Type="http://schemas.openxmlformats.org/officeDocument/2006/relationships/slide" Target="slides/slide23.xml"/><Relationship Id="rId75" Type="http://schemas.openxmlformats.org/officeDocument/2006/relationships/font" Target="fonts/RobotoMono-boldItalic.fntdata"/><Relationship Id="rId30" Type="http://schemas.openxmlformats.org/officeDocument/2006/relationships/slide" Target="slides/slide22.xml"/><Relationship Id="rId74" Type="http://schemas.openxmlformats.org/officeDocument/2006/relationships/font" Target="fonts/RobotoMono-italic.fntdata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schemas.openxmlformats.org/officeDocument/2006/relationships/font" Target="fonts/ArialBlack-regular.fntdata"/><Relationship Id="rId70" Type="http://schemas.openxmlformats.org/officeDocument/2006/relationships/font" Target="fonts/IBMPlexSans-boldItalic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slide" Target="slides/slide58.xml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font" Target="fonts/IBMPlexSans-bold.fntdata"/><Relationship Id="rId23" Type="http://schemas.openxmlformats.org/officeDocument/2006/relationships/slide" Target="slides/slide15.xml"/><Relationship Id="rId67" Type="http://schemas.openxmlformats.org/officeDocument/2006/relationships/font" Target="fonts/IBMPlexSans-regular.fntdata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IBMPlexSans-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cf5223eb_0_64:notes"/>
          <p:cNvSpPr txBox="1"/>
          <p:nvPr>
            <p:ph idx="1" type="body"/>
          </p:nvPr>
        </p:nvSpPr>
        <p:spPr>
          <a:xfrm>
            <a:off x="760343" y="4699239"/>
            <a:ext cx="6082200" cy="44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3cf5223eb_0_64:notes"/>
          <p:cNvSpPr/>
          <p:nvPr>
            <p:ph idx="2" type="sldImg"/>
          </p:nvPr>
        </p:nvSpPr>
        <p:spPr>
          <a:xfrm>
            <a:off x="521922" y="751751"/>
            <a:ext cx="6558900" cy="37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51c6d58e0_0_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b51c6d58e0_0_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51c6d58e0_0_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51c6d58e0_0_2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b51c6d58e0_0_2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b51c6d58e0_0_2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a743a2a26_3_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g3ba743a2a26_3_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ba743a2a26_3_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1c6d58e0_0_5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b51c6d58e0_0_5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b51c6d58e0_0_5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51c6d58e0_0_5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g3b51c6d58e0_0_5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b51c6d58e0_0_5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ecb18d0e7_0_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aecb18d0e7_0_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aecb18d0e7_0_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ecb18d0e7_0_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aecb18d0e7_0_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aecb18d0e7_0_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51c6d58e0_0_1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b51c6d58e0_0_1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b51c6d58e0_0_1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ecb18d0e7_0_9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g3aecb18d0e7_0_9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aecb18d0e7_0_9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a743a2a26_1_14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g3ba743a2a26_1_14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ba743a2a26_1_14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a743a2a26_1_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ba743a2a26_1_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ba743a2a26_1_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ecb18d0e7_0_3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aecb18d0e7_0_3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aecb18d0e7_0_3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ecb18d0e7_0_4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aecb18d0e7_0_4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aecb18d0e7_0_4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ecb18d0e7_0_5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aecb18d0e7_0_5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aecb18d0e7_0_5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ecb18d0e7_0_6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g3aecb18d0e7_0_6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aecb18d0e7_0_6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cb18d0e7_0_7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g3aecb18d0e7_0_7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aecb18d0e7_0_7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a743a2a26_1_1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g3ba743a2a26_1_1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ba743a2a26_1_1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7fa918e3f_0_1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3b7fa918e3f_0_1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b7fa918e3f_0_1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7fa918e3f_0_5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b7fa918e3f_0_5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b7fa918e3f_0_5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a743a2a26_1_3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g3ba743a2a26_1_3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ba743a2a26_1_3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a743a2a26_1_1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g3ba743a2a26_1_1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ba743a2a26_1_1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a743a2a26_1_4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g3ba743a2a26_1_4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ba743a2a26_1_4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a743a2a26_1_8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g3ba743a2a26_1_8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ba743a2a26_1_8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3cf5223eb_0_19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g3a3cf5223eb_0_19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a3cf5223eb_0_19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3cf5223eb_0_26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g3a3cf5223eb_0_26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a3cf5223eb_0_26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3cf5223eb_0_32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g3a3cf5223eb_0_32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a3cf5223eb_0_32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db8ad5600_0_105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g3adb8ad5600_0_105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adb8ad5600_0_105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db8ad5600_0_11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g3adb8ad5600_0_11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adb8ad5600_0_11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db8ad5600_0_12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g3adb8ad5600_0_12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adb8ad5600_0_12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db8ad5600_0_13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adb8ad5600_0_13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adb8ad5600_0_13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7fa918e3f_0_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g3b7fa918e3f_0_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b7fa918e3f_0_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db8ad5600_0_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adb8ad5600_0_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adb8ad5600_0_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db8ad5600_0_1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g3adb8ad5600_0_1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adb8ad5600_0_1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db8ad5600_0_2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g3adb8ad5600_0_2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adb8ad5600_0_2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db8ad5600_0_3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g3adb8ad5600_0_3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adb8ad5600_0_3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db8ad5600_0_5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adb8ad5600_0_5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adb8ad5600_0_5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adb8ad5600_0_6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g3adb8ad5600_0_6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adb8ad5600_0_6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db8ad5600_0_8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4" name="Google Shape;514;g3adb8ad5600_0_8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adb8ad5600_0_8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adb8ad5600_0_9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g3adb8ad5600_0_9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adb8ad5600_0_9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b645d353e9_0_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g3b645d353e9_0_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b645d353e9_0_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925fd8db7_0_4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g3b925fd8db7_0_4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b925fd8db7_0_4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b925fd8db7_0_25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g3b925fd8db7_0_25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b925fd8db7_0_25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925fd8db7_0_5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g3b925fd8db7_0_5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b925fd8db7_0_5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645d353e9_0_25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2" name="Google Shape;572;g3b645d353e9_0_25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b645d353e9_0_25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b925fd8db7_0_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g3b925fd8db7_0_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b925fd8db7_0_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b973180da5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b973180da5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b973180da5_0_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0" name="Google Shape;600;g3b973180da5_0_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3b973180da5_0_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b973180da5_0_1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0" name="Google Shape;610;g3b973180da5_0_1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b973180da5_0_1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973180da5_0_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g3b973180da5_0_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b973180da5_0_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b973180da5_0_5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2" name="Google Shape;632;g3b973180da5_0_5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b973180da5_0_5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973180da5_0_7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4" name="Google Shape;644;g3b973180da5_0_7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b973180da5_0_7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973180da5_0_9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6" name="Google Shape;656;g3b973180da5_0_9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b973180da5_0_9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b973180da5_0_11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g3b973180da5_0_11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b973180da5_0_11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b973180da5_0_14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0" name="Google Shape;680;g3b973180da5_0_14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b973180da5_0_14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b973180da5_1_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0" name="Google Shape;690;g3b973180da5_1_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3b973180da5_1_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b973180da5_1_2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9" name="Google Shape;699;g3b973180da5_1_2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b973180da5_1_2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b973180da5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b973180da5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2.jpg"/><Relationship Id="rId2" Type="http://schemas.openxmlformats.org/officeDocument/2006/relationships/image" Target="../media/image6.jp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2708100" y="732510"/>
            <a:ext cx="0" cy="3429000"/>
          </a:xfrm>
          <a:prstGeom prst="straightConnector1">
            <a:avLst/>
          </a:prstGeom>
          <a:noFill/>
          <a:ln cap="flat" cmpd="sng" w="21325">
            <a:solidFill>
              <a:srgbClr val="9B1D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" name="Google Shape;56;p13"/>
          <p:cNvSpPr/>
          <p:nvPr/>
        </p:nvSpPr>
        <p:spPr>
          <a:xfrm>
            <a:off x="8000910" y="0"/>
            <a:ext cx="1066200" cy="589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10" y="1566000"/>
            <a:ext cx="2609010" cy="2010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type="title"/>
          </p:nvPr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79350" y="120015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/>
          <p:nvPr/>
        </p:nvSpPr>
        <p:spPr>
          <a:xfrm>
            <a:off x="2886030" y="737640"/>
            <a:ext cx="51141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Module </a:t>
            </a:r>
            <a: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i="0" lang="en" sz="4000" u="none" cap="none" strike="noStrike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: </a:t>
            </a:r>
            <a: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JDBC &amp; SQL Basics</a:t>
            </a:r>
            <a:b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n" sz="2400">
                <a:solidFill>
                  <a:schemeClr val="dk1"/>
                </a:solidFill>
              </a:rPr>
              <a:t>Java Database Connectivity + Relational Database Fundamentals</a:t>
            </a:r>
            <a:endParaRPr b="1"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168" name="Google Shape;168;p39"/>
          <p:cNvSpPr/>
          <p:nvPr/>
        </p:nvSpPr>
        <p:spPr>
          <a:xfrm>
            <a:off x="2886030" y="2919780"/>
            <a:ext cx="51141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Calibri"/>
                <a:ea typeface="Calibri"/>
                <a:cs typeface="Calibri"/>
                <a:sym typeface="Calibri"/>
              </a:rPr>
              <a:t>A BPI Training Program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0" y="4841640"/>
            <a:ext cx="7611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76" name="Google Shape;176;p4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7" name="Google Shape;177;p4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500" u="sng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Module Objectives:</a:t>
            </a:r>
            <a:endParaRPr b="1" sz="23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By the end of this course, students will be able to: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Understand the fundamentals of relational databases.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Create, read, update, and delete data using SQL commands.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Design tables with proper primary and foreign key constraints.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Perform table joins and filtering queries for data analysis.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Connect Java applications to PostgreSQL database using JDBC.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Execute SQL queries from Java programs using </a:t>
            </a:r>
            <a:r>
              <a:rPr lang="en" sz="1300">
                <a:solidFill>
                  <a:srgbClr val="188038"/>
                </a:solidFill>
              </a:rPr>
              <a:t>Statement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lang="en" sz="1300">
                <a:solidFill>
                  <a:srgbClr val="188038"/>
                </a:solidFill>
              </a:rPr>
              <a:t>PreparedStatement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Handle JDBC exceptions and manage database resources efficiently.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>
                <a:solidFill>
                  <a:schemeClr val="dk1"/>
                </a:solidFill>
              </a:rPr>
              <a:t>Implement simple database-driven Java applications.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4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4" name="Google Shape;184;p41"/>
          <p:cNvSpPr/>
          <p:nvPr/>
        </p:nvSpPr>
        <p:spPr>
          <a:xfrm>
            <a:off x="255150" y="102249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Introduction to </a:t>
            </a:r>
            <a:r>
              <a:rPr b="1" lang="en" sz="4500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Databases</a:t>
            </a:r>
            <a:endParaRPr b="0" i="0" sz="4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1" name="Google Shape;191;p4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2" name="Google Shape;192;p4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What is a Database?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 </a:t>
            </a:r>
            <a:r>
              <a:rPr b="1" lang="en" sz="1800"/>
              <a:t>database</a:t>
            </a:r>
            <a:r>
              <a:rPr lang="en" sz="1800"/>
              <a:t> is a structured collection of data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It stores data in a way that is: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Organized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Efficient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Easy to access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Databases are managed by a software called </a:t>
            </a:r>
            <a:r>
              <a:rPr b="1" lang="en" sz="1800">
                <a:solidFill>
                  <a:schemeClr val="dk1"/>
                </a:solidFill>
              </a:rPr>
              <a:t>DBMS</a:t>
            </a:r>
            <a:endParaRPr b="1" sz="18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9" name="Google Shape;199;p4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0" name="Google Shape;200;p4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What is a DBMS?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800"/>
              <a:t>DBMS = Database Management System</a:t>
            </a:r>
            <a:endParaRPr b="1"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Software that: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Stores data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Retrieves data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Updates data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Protects data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Example: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MySQL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PostgreSQL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Oracle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MSSQL</a:t>
            </a:r>
            <a:endParaRPr sz="18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7" name="Google Shape;207;p4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8" name="Google Shape;208;p4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Data is Organized?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Databases organize data using:</a:t>
            </a:r>
            <a:endParaRPr sz="18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4"/>
          <p:cNvSpPr txBox="1"/>
          <p:nvPr/>
        </p:nvSpPr>
        <p:spPr>
          <a:xfrm>
            <a:off x="962250" y="2242925"/>
            <a:ext cx="49842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Tables</a:t>
            </a:r>
            <a:r>
              <a:rPr lang="en" sz="1700">
                <a:solidFill>
                  <a:schemeClr val="dk1"/>
                </a:solidFill>
              </a:rPr>
              <a:t> → main storage units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Rows (Records)</a:t>
            </a:r>
            <a:r>
              <a:rPr lang="en" sz="1700">
                <a:solidFill>
                  <a:schemeClr val="dk1"/>
                </a:solidFill>
              </a:rPr>
              <a:t> → individual entries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Columns (Fields)</a:t>
            </a:r>
            <a:r>
              <a:rPr lang="en" sz="1700">
                <a:solidFill>
                  <a:schemeClr val="dk1"/>
                </a:solidFill>
              </a:rPr>
              <a:t> → data attributes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4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6" name="Google Shape;216;p45"/>
          <p:cNvSpPr/>
          <p:nvPr/>
        </p:nvSpPr>
        <p:spPr>
          <a:xfrm>
            <a:off x="255150" y="102249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SQL Basics</a:t>
            </a:r>
            <a:endParaRPr b="0" i="0" sz="4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3" name="Google Shape;223;p4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4" name="Google Shape;224;p46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What is SQL?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Stands for </a:t>
            </a:r>
            <a:r>
              <a:rPr b="1" lang="en" sz="1800"/>
              <a:t>Structured Query Language</a:t>
            </a:r>
            <a:endParaRPr b="1"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Used for creating, accessing and managing data in a database.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1" name="Google Shape;231;p4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2" name="Google Shape;232;p47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SQL Categories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7"/>
          <p:cNvSpPr txBox="1"/>
          <p:nvPr/>
        </p:nvSpPr>
        <p:spPr>
          <a:xfrm>
            <a:off x="789200" y="1690475"/>
            <a:ext cx="3869700" cy="3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1. DDL – Data Definition Language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ALTER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DML – Data Manipulation Language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3. DQL – Da</a:t>
            </a:r>
            <a:r>
              <a:rPr b="1" lang="en" sz="1300">
                <a:solidFill>
                  <a:schemeClr val="dk1"/>
                </a:solidFill>
              </a:rPr>
              <a:t>t</a:t>
            </a:r>
            <a:r>
              <a:rPr b="1" lang="en" sz="1300">
                <a:solidFill>
                  <a:schemeClr val="dk1"/>
                </a:solidFill>
              </a:rPr>
              <a:t>a Query Language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0" name="Google Shape;240;p4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1" name="Google Shape;241;p48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SQL Table Creation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/>
              <a:t>Common Constraints</a:t>
            </a:r>
            <a:endParaRPr b="1" sz="1500" u="sng"/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PRIMARY KEY - </a:t>
            </a:r>
            <a:r>
              <a:rPr lang="en" sz="1500"/>
              <a:t>unique identifier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AUTO_INCREMENT / SERIAL - </a:t>
            </a:r>
            <a:r>
              <a:rPr lang="en" sz="1500">
                <a:solidFill>
                  <a:schemeClr val="dk1"/>
                </a:solidFill>
              </a:rPr>
              <a:t>automatically generates ID values</a:t>
            </a:r>
            <a:endParaRPr sz="1500"/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NOT NULL - </a:t>
            </a:r>
            <a:r>
              <a:rPr lang="en" sz="1500"/>
              <a:t>cannot be empty</a:t>
            </a:r>
            <a:endParaRPr sz="1500"/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UNIQUE - </a:t>
            </a:r>
            <a:r>
              <a:rPr lang="en" sz="1500"/>
              <a:t>no duplicate values</a:t>
            </a:r>
            <a:endParaRPr sz="1500"/>
          </a:p>
        </p:txBody>
      </p:sp>
      <p:sp>
        <p:nvSpPr>
          <p:cNvPr id="242" name="Google Shape;242;p48"/>
          <p:cNvSpPr txBox="1"/>
          <p:nvPr/>
        </p:nvSpPr>
        <p:spPr>
          <a:xfrm>
            <a:off x="657650" y="1820631"/>
            <a:ext cx="48597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id </a:t>
            </a:r>
            <a:r>
              <a:rPr b="1" lang="en" sz="10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SERIAL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age </a:t>
            </a:r>
            <a:r>
              <a:rPr b="1" lang="en" sz="10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email </a:t>
            </a:r>
            <a:r>
              <a:rPr b="1" lang="en" sz="10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UNIQUE</a:t>
            </a:r>
            <a:endParaRPr sz="1000">
              <a:solidFill>
                <a:srgbClr val="8599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9" name="Google Shape;249;p4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0" name="Google Shape;250;p49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SQL Table Creation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/>
              <a:t>Common Constraints</a:t>
            </a:r>
            <a:endParaRPr b="1" sz="1500" u="sng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FOREIGN KEY</a:t>
            </a:r>
            <a:r>
              <a:rPr lang="en">
                <a:solidFill>
                  <a:schemeClr val="dk1"/>
                </a:solidFill>
              </a:rPr>
              <a:t> – links this table to another table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1" name="Google Shape;251;p49"/>
          <p:cNvSpPr txBox="1"/>
          <p:nvPr/>
        </p:nvSpPr>
        <p:spPr>
          <a:xfrm>
            <a:off x="623025" y="1682181"/>
            <a:ext cx="48597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id </a:t>
            </a:r>
            <a:r>
              <a:rPr b="1" lang="en" sz="11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SERIAL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student_id </a:t>
            </a:r>
            <a:r>
              <a:rPr b="1" lang="en" sz="11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course_name </a:t>
            </a:r>
            <a:r>
              <a:rPr b="1" lang="en" sz="11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grade </a:t>
            </a:r>
            <a:r>
              <a:rPr b="1" lang="en" sz="11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VARCHAR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1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(id),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1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FOREIGN KEY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(student_id) </a:t>
            </a:r>
            <a:r>
              <a:rPr b="1" lang="en" sz="1100">
                <a:solidFill>
                  <a:srgbClr val="07364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REFERENCES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students(id)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8" name="Google Shape;258;p5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9" name="Google Shape;259;p5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Basic</a:t>
            </a:r>
            <a:r>
              <a:rPr b="1" lang="en" sz="2400">
                <a:solidFill>
                  <a:srgbClr val="C9211E"/>
                </a:solidFill>
              </a:rPr>
              <a:t> SQL Data Types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" name="Google Shape;260;p50"/>
          <p:cNvGraphicFramePr/>
          <p:nvPr/>
        </p:nvGraphicFramePr>
        <p:xfrm>
          <a:off x="1550775" y="208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{17C6825E-57A2-4BF9-9427-7F0C65780570}</a:tableStyleId>
              </a:tblPr>
              <a:tblGrid>
                <a:gridCol w="1771700"/>
                <a:gridCol w="26575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Type</a:t>
                      </a:r>
                      <a:endParaRPr b="1" sz="11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b="1" sz="1100"/>
                    </a:p>
                  </a:txBody>
                  <a:tcPr marT="91425" marB="91425" marR="91425" marL="91425"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Whole numbers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VARCHAR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Text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DECIMAL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Money, prices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BOOLEAN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or false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67" name="Google Shape;267;p5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8" name="Google Shape;268;p5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SQL Commands (CRUD)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C - Create (INSERT)</a:t>
            </a:r>
            <a:endParaRPr b="1"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 - Read (SELECT)</a:t>
            </a:r>
            <a:endParaRPr b="1"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U - Update</a:t>
            </a:r>
            <a:endParaRPr b="1"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D - Delete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5" name="Google Shape;275;p5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6" name="Google Shape;276;p5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C - Create (INSERT)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Add new records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2"/>
          <p:cNvSpPr txBox="1"/>
          <p:nvPr/>
        </p:nvSpPr>
        <p:spPr>
          <a:xfrm>
            <a:off x="1294550" y="2571750"/>
            <a:ext cx="59049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INTO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 (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age, email)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3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'Juan Dela Cruz'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3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3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'juan@example.com'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84" name="Google Shape;284;p5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5" name="Google Shape;285;p5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R</a:t>
            </a:r>
            <a:r>
              <a:rPr b="1" lang="en" sz="2400">
                <a:solidFill>
                  <a:srgbClr val="C9211E"/>
                </a:solidFill>
              </a:rPr>
              <a:t> - Read (SELECT)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Retrieve data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With Condition:</a:t>
            </a:r>
            <a:endParaRPr b="1"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3"/>
          <p:cNvSpPr txBox="1"/>
          <p:nvPr/>
        </p:nvSpPr>
        <p:spPr>
          <a:xfrm>
            <a:off x="1149175" y="2346750"/>
            <a:ext cx="4354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age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email 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students;</a:t>
            </a:r>
            <a:endParaRPr sz="1700"/>
          </a:p>
        </p:txBody>
      </p:sp>
      <p:sp>
        <p:nvSpPr>
          <p:cNvPr id="287" name="Google Shape;287;p53"/>
          <p:cNvSpPr txBox="1"/>
          <p:nvPr/>
        </p:nvSpPr>
        <p:spPr>
          <a:xfrm>
            <a:off x="1149175" y="3572050"/>
            <a:ext cx="5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age, email 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 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age 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4" name="Google Shape;294;p5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5" name="Google Shape;295;p5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U</a:t>
            </a:r>
            <a:r>
              <a:rPr b="1" lang="en" sz="2400">
                <a:solidFill>
                  <a:srgbClr val="C9211E"/>
                </a:solidFill>
              </a:rPr>
              <a:t> - Update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Modify existing data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4"/>
          <p:cNvSpPr txBox="1"/>
          <p:nvPr/>
        </p:nvSpPr>
        <p:spPr>
          <a:xfrm>
            <a:off x="1529875" y="2540600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age </a:t>
            </a:r>
            <a:r>
              <a:rPr lang="en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22</a:t>
            </a:r>
            <a:endParaRPr>
              <a:solidFill>
                <a:srgbClr val="D3368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id </a:t>
            </a:r>
            <a:r>
              <a:rPr lang="en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03" name="Google Shape;303;p5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4" name="Google Shape;304;p55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D - Delete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Remove records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5"/>
          <p:cNvSpPr txBox="1"/>
          <p:nvPr/>
        </p:nvSpPr>
        <p:spPr>
          <a:xfrm>
            <a:off x="1370675" y="2609825"/>
            <a:ext cx="478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 </a:t>
            </a:r>
            <a:r>
              <a:rPr lang="en" sz="13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age </a:t>
            </a:r>
            <a:r>
              <a:rPr lang="en" sz="13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12" name="Google Shape;312;p5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3" name="Google Shape;313;p56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Filtering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DISTINCT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ORDER BY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7"/>
          <p:cNvSpPr/>
          <p:nvPr/>
        </p:nvSpPr>
        <p:spPr>
          <a:xfrm>
            <a:off x="381010" y="476105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0" name="Google Shape;320;p5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1" name="Google Shape;321;p57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Where Clause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7"/>
          <p:cNvSpPr txBox="1"/>
          <p:nvPr/>
        </p:nvSpPr>
        <p:spPr>
          <a:xfrm>
            <a:off x="623025" y="1709875"/>
            <a:ext cx="588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</a:t>
            </a:r>
            <a:r>
              <a:rPr b="1"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b="1" lang="en" sz="1200">
                <a:solidFill>
                  <a:schemeClr val="dk1"/>
                </a:solidFill>
              </a:rPr>
              <a:t> clause</a:t>
            </a:r>
            <a:r>
              <a:rPr lang="en" sz="1200">
                <a:solidFill>
                  <a:schemeClr val="dk1"/>
                </a:solidFill>
              </a:rPr>
              <a:t> is used to </a:t>
            </a:r>
            <a:r>
              <a:rPr b="1" lang="en" sz="1200">
                <a:solidFill>
                  <a:schemeClr val="dk1"/>
                </a:solidFill>
              </a:rPr>
              <a:t>select only rows that meet certain conditions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Syntax: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323" name="Google Shape;323;p57"/>
          <p:cNvSpPr txBox="1"/>
          <p:nvPr/>
        </p:nvSpPr>
        <p:spPr>
          <a:xfrm>
            <a:off x="761500" y="24990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column1, column2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table_name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condition;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" name="Google Shape;324;p57"/>
          <p:cNvSpPr txBox="1"/>
          <p:nvPr/>
        </p:nvSpPr>
        <p:spPr>
          <a:xfrm>
            <a:off x="761500" y="359895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'Maria Santos'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" name="Google Shape;325;p57"/>
          <p:cNvSpPr txBox="1"/>
          <p:nvPr/>
        </p:nvSpPr>
        <p:spPr>
          <a:xfrm>
            <a:off x="664600" y="3242025"/>
            <a:ext cx="39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Examples:</a:t>
            </a:r>
            <a:endParaRPr/>
          </a:p>
        </p:txBody>
      </p:sp>
      <p:sp>
        <p:nvSpPr>
          <p:cNvPr id="326" name="Google Shape;326;p57"/>
          <p:cNvSpPr txBox="1"/>
          <p:nvPr/>
        </p:nvSpPr>
        <p:spPr>
          <a:xfrm>
            <a:off x="3761500" y="3572081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age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BETWEEN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8"/>
          <p:cNvSpPr/>
          <p:nvPr/>
        </p:nvSpPr>
        <p:spPr>
          <a:xfrm>
            <a:off x="381010" y="476105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33" name="Google Shape;333;p5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4" name="Google Shape;334;p58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Distinct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8"/>
          <p:cNvSpPr txBox="1"/>
          <p:nvPr/>
        </p:nvSpPr>
        <p:spPr>
          <a:xfrm>
            <a:off x="623025" y="1709875"/>
            <a:ext cx="5884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DISTINCT</a:t>
            </a:r>
            <a:r>
              <a:rPr b="1" lang="en" sz="1100">
                <a:solidFill>
                  <a:schemeClr val="dk1"/>
                </a:solidFill>
              </a:rPr>
              <a:t> keyword</a:t>
            </a:r>
            <a:r>
              <a:rPr lang="en" sz="1100">
                <a:solidFill>
                  <a:schemeClr val="dk1"/>
                </a:solidFill>
              </a:rPr>
              <a:t> ensures that your result </a:t>
            </a:r>
            <a:r>
              <a:rPr b="1" lang="en" sz="1100">
                <a:solidFill>
                  <a:schemeClr val="dk1"/>
                </a:solidFill>
              </a:rPr>
              <a:t>does not contain duplicate values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Syntax: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336" name="Google Shape;336;p58"/>
          <p:cNvSpPr txBox="1"/>
          <p:nvPr/>
        </p:nvSpPr>
        <p:spPr>
          <a:xfrm>
            <a:off x="761500" y="24990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DISTINCT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column_name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table_name;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99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7" name="Google Shape;337;p58"/>
          <p:cNvSpPr txBox="1"/>
          <p:nvPr/>
        </p:nvSpPr>
        <p:spPr>
          <a:xfrm>
            <a:off x="761500" y="359895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 DISTINCT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99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8" name="Google Shape;338;p58"/>
          <p:cNvSpPr txBox="1"/>
          <p:nvPr/>
        </p:nvSpPr>
        <p:spPr>
          <a:xfrm>
            <a:off x="664600" y="3242025"/>
            <a:ext cx="39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Examples: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9"/>
          <p:cNvSpPr/>
          <p:nvPr/>
        </p:nvSpPr>
        <p:spPr>
          <a:xfrm>
            <a:off x="381010" y="476105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5" name="Google Shape;345;p5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6" name="Google Shape;346;p59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Order By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9"/>
          <p:cNvSpPr txBox="1"/>
          <p:nvPr/>
        </p:nvSpPr>
        <p:spPr>
          <a:xfrm>
            <a:off x="623025" y="1709875"/>
            <a:ext cx="5884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 BY</a:t>
            </a:r>
            <a:r>
              <a:rPr b="1" lang="en" sz="1100">
                <a:solidFill>
                  <a:schemeClr val="dk1"/>
                </a:solidFill>
              </a:rPr>
              <a:t> clause</a:t>
            </a:r>
            <a:r>
              <a:rPr lang="en" sz="1100">
                <a:solidFill>
                  <a:schemeClr val="dk1"/>
                </a:solidFill>
              </a:rPr>
              <a:t> sorts the results </a:t>
            </a:r>
            <a:r>
              <a:rPr b="1" lang="en" sz="1100">
                <a:solidFill>
                  <a:schemeClr val="dk1"/>
                </a:solidFill>
              </a:rPr>
              <a:t>ascending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ASC</a:t>
            </a:r>
            <a:r>
              <a:rPr b="1" lang="en" sz="1100">
                <a:solidFill>
                  <a:schemeClr val="dk1"/>
                </a:solidFill>
              </a:rPr>
              <a:t>)</a:t>
            </a:r>
            <a:r>
              <a:rPr lang="en" sz="1100">
                <a:solidFill>
                  <a:schemeClr val="dk1"/>
                </a:solidFill>
              </a:rPr>
              <a:t> or </a:t>
            </a:r>
            <a:r>
              <a:rPr b="1" lang="en" sz="1100">
                <a:solidFill>
                  <a:schemeClr val="dk1"/>
                </a:solidFill>
              </a:rPr>
              <a:t>descending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DESC</a:t>
            </a:r>
            <a:r>
              <a:rPr b="1" lang="en" sz="1100">
                <a:solidFill>
                  <a:schemeClr val="dk1"/>
                </a:solidFill>
              </a:rPr>
              <a:t>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Syntax: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348" name="Google Shape;348;p59"/>
          <p:cNvSpPr txBox="1"/>
          <p:nvPr/>
        </p:nvSpPr>
        <p:spPr>
          <a:xfrm>
            <a:off x="761500" y="24990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column1, column2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table_name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column1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99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99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9" name="Google Shape;349;p59"/>
          <p:cNvSpPr txBox="1"/>
          <p:nvPr/>
        </p:nvSpPr>
        <p:spPr>
          <a:xfrm>
            <a:off x="761500" y="3598950"/>
            <a:ext cx="30000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age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99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99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0" name="Google Shape;350;p59"/>
          <p:cNvSpPr txBox="1"/>
          <p:nvPr/>
        </p:nvSpPr>
        <p:spPr>
          <a:xfrm>
            <a:off x="664600" y="3242025"/>
            <a:ext cx="39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Examples:</a:t>
            </a:r>
            <a:endParaRPr/>
          </a:p>
        </p:txBody>
      </p:sp>
      <p:sp>
        <p:nvSpPr>
          <p:cNvPr id="351" name="Google Shape;351;p59"/>
          <p:cNvSpPr txBox="1"/>
          <p:nvPr/>
        </p:nvSpPr>
        <p:spPr>
          <a:xfrm>
            <a:off x="3156725" y="358335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ORDER BY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8" name="Google Shape;358;p6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9" name="Google Shape;359;p6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Exercise #1: Create a database and tables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Objectiv</a:t>
            </a:r>
            <a:r>
              <a:rPr b="1" lang="en" sz="1300">
                <a:solidFill>
                  <a:schemeClr val="dk1"/>
                </a:solidFill>
              </a:rPr>
              <a:t>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 how to create a </a:t>
            </a:r>
            <a:r>
              <a:rPr b="1" lang="en" sz="1100">
                <a:solidFill>
                  <a:schemeClr val="dk1"/>
                </a:solidFill>
              </a:rPr>
              <a:t>database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tables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b="1" lang="en" sz="1100">
                <a:solidFill>
                  <a:schemeClr val="dk1"/>
                </a:solidFill>
              </a:rPr>
              <a:t>relationships</a:t>
            </a:r>
            <a:r>
              <a:rPr lang="en" sz="1100">
                <a:solidFill>
                  <a:schemeClr val="dk1"/>
                </a:solidFill>
              </a:rPr>
              <a:t> in SQL.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Practice using </a:t>
            </a:r>
            <a:r>
              <a:rPr b="1" lang="en" sz="1100">
                <a:solidFill>
                  <a:schemeClr val="dk1"/>
                </a:solidFill>
              </a:rPr>
              <a:t>primary key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foreign key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0"/>
          <p:cNvSpPr txBox="1"/>
          <p:nvPr/>
        </p:nvSpPr>
        <p:spPr>
          <a:xfrm>
            <a:off x="678400" y="2571750"/>
            <a:ext cx="5178000" cy="24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Exercise Steps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Create the database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 SQL command to create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training_db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Switch to using the database.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Create the tables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Create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students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courses </a:t>
            </a:r>
            <a:r>
              <a:rPr lang="en" sz="1100">
                <a:solidFill>
                  <a:schemeClr val="dk1"/>
                </a:solidFill>
              </a:rPr>
              <a:t>tables.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Ensure </a:t>
            </a:r>
            <a:r>
              <a:rPr b="1" lang="en" sz="1100">
                <a:solidFill>
                  <a:schemeClr val="dk1"/>
                </a:solidFill>
              </a:rPr>
              <a:t>primary keys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foreign keys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b="1" lang="en" sz="1100">
                <a:solidFill>
                  <a:schemeClr val="dk1"/>
                </a:solidFill>
              </a:rPr>
              <a:t>constraints</a:t>
            </a:r>
            <a:r>
              <a:rPr lang="en" sz="1100">
                <a:solidFill>
                  <a:schemeClr val="dk1"/>
                </a:solidFill>
              </a:rPr>
              <a:t> are applied.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Insert sample data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Add </a:t>
            </a:r>
            <a:r>
              <a:rPr b="1" lang="en" sz="1100">
                <a:solidFill>
                  <a:schemeClr val="dk1"/>
                </a:solidFill>
              </a:rPr>
              <a:t>at least 5 students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Add </a:t>
            </a:r>
            <a:r>
              <a:rPr b="1" lang="en" sz="1100">
                <a:solidFill>
                  <a:schemeClr val="dk1"/>
                </a:solidFill>
              </a:rPr>
              <a:t>at least 3 courses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61" name="Google Shape;361;p60"/>
          <p:cNvSpPr txBox="1"/>
          <p:nvPr/>
        </p:nvSpPr>
        <p:spPr>
          <a:xfrm>
            <a:off x="5749150" y="1730650"/>
            <a:ext cx="2422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Students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i</a:t>
            </a:r>
            <a:r>
              <a:rPr b="1" lang="en" sz="1200"/>
              <a:t>d</a:t>
            </a:r>
            <a:r>
              <a:rPr lang="en" sz="1200"/>
              <a:t> (primary key, not null)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name</a:t>
            </a:r>
            <a:r>
              <a:rPr lang="en" sz="1200"/>
              <a:t> (varchar 50) (not null)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age</a:t>
            </a:r>
            <a:r>
              <a:rPr lang="en" sz="1200"/>
              <a:t> (int)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email</a:t>
            </a:r>
            <a:r>
              <a:rPr lang="en" sz="1200"/>
              <a:t> (varchar 100) (unique)</a:t>
            </a:r>
            <a:endParaRPr sz="1200"/>
          </a:p>
        </p:txBody>
      </p:sp>
      <p:sp>
        <p:nvSpPr>
          <p:cNvPr id="362" name="Google Shape;362;p60"/>
          <p:cNvSpPr txBox="1"/>
          <p:nvPr/>
        </p:nvSpPr>
        <p:spPr>
          <a:xfrm>
            <a:off x="5794100" y="3295175"/>
            <a:ext cx="312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Courses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i</a:t>
            </a:r>
            <a:r>
              <a:rPr b="1" lang="en" sz="1200"/>
              <a:t>d</a:t>
            </a:r>
            <a:r>
              <a:rPr lang="en" sz="1200"/>
              <a:t> (primary key, not null)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student_id</a:t>
            </a:r>
            <a:r>
              <a:rPr lang="en" sz="1200"/>
              <a:t> (int not null)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course_name</a:t>
            </a:r>
            <a:r>
              <a:rPr lang="en" sz="1200"/>
              <a:t> (varchar 50 not null)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grade</a:t>
            </a:r>
            <a:r>
              <a:rPr lang="en" sz="1200"/>
              <a:t> decimal (5,2)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en" sz="1200"/>
              <a:t>student_id</a:t>
            </a:r>
            <a:r>
              <a:rPr lang="en" sz="1200"/>
              <a:t> (</a:t>
            </a:r>
            <a:r>
              <a:rPr lang="en" sz="1200"/>
              <a:t>f</a:t>
            </a:r>
            <a:r>
              <a:rPr lang="en" sz="1200"/>
              <a:t>oreign_key) 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1"/>
          <p:cNvSpPr/>
          <p:nvPr/>
        </p:nvSpPr>
        <p:spPr>
          <a:xfrm>
            <a:off x="381010" y="476105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69" name="Google Shape;369;p6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0" name="Google Shape;370;p6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JOINS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1"/>
          <p:cNvSpPr txBox="1"/>
          <p:nvPr/>
        </p:nvSpPr>
        <p:spPr>
          <a:xfrm>
            <a:off x="470750" y="1599125"/>
            <a:ext cx="62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Joins</a:t>
            </a:r>
            <a:r>
              <a:rPr lang="en">
                <a:solidFill>
                  <a:schemeClr val="dk1"/>
                </a:solidFill>
              </a:rPr>
              <a:t> allow you to </a:t>
            </a:r>
            <a:r>
              <a:rPr b="1" lang="en">
                <a:solidFill>
                  <a:schemeClr val="dk1"/>
                </a:solidFill>
              </a:rPr>
              <a:t>combine data from multiple tables</a:t>
            </a:r>
            <a:r>
              <a:rPr lang="en">
                <a:solidFill>
                  <a:schemeClr val="dk1"/>
                </a:solidFill>
              </a:rPr>
              <a:t>.</a:t>
            </a:r>
            <a:endParaRPr sz="1700"/>
          </a:p>
        </p:txBody>
      </p:sp>
      <p:sp>
        <p:nvSpPr>
          <p:cNvPr id="372" name="Google Shape;372;p61"/>
          <p:cNvSpPr txBox="1"/>
          <p:nvPr/>
        </p:nvSpPr>
        <p:spPr>
          <a:xfrm>
            <a:off x="381000" y="20629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a)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INNER JOIN</a:t>
            </a:r>
            <a:endParaRPr/>
          </a:p>
        </p:txBody>
      </p:sp>
      <p:sp>
        <p:nvSpPr>
          <p:cNvPr id="373" name="Google Shape;373;p61"/>
          <p:cNvSpPr txBox="1"/>
          <p:nvPr/>
        </p:nvSpPr>
        <p:spPr>
          <a:xfrm>
            <a:off x="616125" y="23947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Returns rows that </a:t>
            </a:r>
            <a:r>
              <a:rPr b="1" lang="en" sz="1100">
                <a:solidFill>
                  <a:schemeClr val="dk1"/>
                </a:solidFill>
              </a:rPr>
              <a:t>match in both tables</a:t>
            </a:r>
            <a:endParaRPr/>
          </a:p>
        </p:txBody>
      </p:sp>
      <p:sp>
        <p:nvSpPr>
          <p:cNvPr id="374" name="Google Shape;374;p61"/>
          <p:cNvSpPr txBox="1"/>
          <p:nvPr/>
        </p:nvSpPr>
        <p:spPr>
          <a:xfrm>
            <a:off x="920700" y="2782875"/>
            <a:ext cx="4984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course_name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grade</a:t>
            </a:r>
            <a:endParaRPr sz="1000">
              <a:solidFill>
                <a:srgbClr val="CB4B1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INNER JOIN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courses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student_id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5" name="Google Shape;375;p61"/>
          <p:cNvSpPr txBox="1"/>
          <p:nvPr/>
        </p:nvSpPr>
        <p:spPr>
          <a:xfrm>
            <a:off x="381000" y="3551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</a:t>
            </a:r>
            <a:r>
              <a:rPr lang="en" sz="1100">
                <a:solidFill>
                  <a:schemeClr val="dk1"/>
                </a:solidFill>
              </a:rPr>
              <a:t>)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JOIN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6" name="Google Shape;376;p61"/>
          <p:cNvSpPr txBox="1"/>
          <p:nvPr/>
        </p:nvSpPr>
        <p:spPr>
          <a:xfrm>
            <a:off x="1083364" y="4173000"/>
            <a:ext cx="455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course_name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grade</a:t>
            </a:r>
            <a:endParaRPr sz="1000">
              <a:solidFill>
                <a:srgbClr val="CB4B1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LEFT JOIN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courses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student_id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7" name="Google Shape;377;p61"/>
          <p:cNvSpPr txBox="1"/>
          <p:nvPr/>
        </p:nvSpPr>
        <p:spPr>
          <a:xfrm>
            <a:off x="792650" y="3841500"/>
            <a:ext cx="471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Returns </a:t>
            </a:r>
            <a:r>
              <a:rPr b="1" lang="en" sz="1100">
                <a:solidFill>
                  <a:schemeClr val="dk1"/>
                </a:solidFill>
              </a:rPr>
              <a:t>all rows from left table</a:t>
            </a:r>
            <a:r>
              <a:rPr lang="en" sz="1100">
                <a:solidFill>
                  <a:schemeClr val="dk1"/>
                </a:solidFill>
              </a:rPr>
              <a:t>, even if no match in right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2"/>
          <p:cNvSpPr/>
          <p:nvPr/>
        </p:nvSpPr>
        <p:spPr>
          <a:xfrm>
            <a:off x="381010" y="476105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SQL Basics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84" name="Google Shape;384;p6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5" name="Google Shape;385;p6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JOINS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62"/>
          <p:cNvSpPr txBox="1"/>
          <p:nvPr/>
        </p:nvSpPr>
        <p:spPr>
          <a:xfrm>
            <a:off x="498450" y="17098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c)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 JOIN </a:t>
            </a:r>
            <a:r>
              <a:rPr lang="en" sz="1100">
                <a:solidFill>
                  <a:schemeClr val="dk1"/>
                </a:solidFill>
              </a:rPr>
              <a:t> ( or 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RIGHT OUTER JOIN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/>
          </a:p>
        </p:txBody>
      </p:sp>
      <p:sp>
        <p:nvSpPr>
          <p:cNvPr id="387" name="Google Shape;387;p62"/>
          <p:cNvSpPr txBox="1"/>
          <p:nvPr/>
        </p:nvSpPr>
        <p:spPr>
          <a:xfrm>
            <a:off x="775325" y="2063875"/>
            <a:ext cx="467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All rows from right table, even if no match in left</a:t>
            </a:r>
            <a:endParaRPr sz="1100"/>
          </a:p>
        </p:txBody>
      </p:sp>
      <p:sp>
        <p:nvSpPr>
          <p:cNvPr id="388" name="Google Shape;388;p62"/>
          <p:cNvSpPr txBox="1"/>
          <p:nvPr/>
        </p:nvSpPr>
        <p:spPr>
          <a:xfrm>
            <a:off x="546875" y="31428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d)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 OUTER JOIN</a:t>
            </a:r>
            <a:endParaRPr/>
          </a:p>
        </p:txBody>
      </p:sp>
      <p:sp>
        <p:nvSpPr>
          <p:cNvPr id="389" name="Google Shape;389;p62"/>
          <p:cNvSpPr txBox="1"/>
          <p:nvPr/>
        </p:nvSpPr>
        <p:spPr>
          <a:xfrm>
            <a:off x="865325" y="3511250"/>
            <a:ext cx="430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All rows from both tables, matches where possible</a:t>
            </a:r>
            <a:endParaRPr sz="1200"/>
          </a:p>
        </p:txBody>
      </p:sp>
      <p:sp>
        <p:nvSpPr>
          <p:cNvPr id="390" name="Google Shape;390;p62"/>
          <p:cNvSpPr txBox="1"/>
          <p:nvPr/>
        </p:nvSpPr>
        <p:spPr>
          <a:xfrm>
            <a:off x="1066075" y="2441213"/>
            <a:ext cx="517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course_name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grade</a:t>
            </a:r>
            <a:endParaRPr sz="1000">
              <a:solidFill>
                <a:srgbClr val="CB4B1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RIGHT JOIN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courses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student_id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1" name="Google Shape;391;p62"/>
          <p:cNvSpPr txBox="1"/>
          <p:nvPr/>
        </p:nvSpPr>
        <p:spPr>
          <a:xfrm>
            <a:off x="1107600" y="3922050"/>
            <a:ext cx="60780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student_id,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student_name,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course_name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grade</a:t>
            </a:r>
            <a:endParaRPr sz="1000">
              <a:solidFill>
                <a:srgbClr val="CB4B1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 s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FULL OUTER JOIN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courses c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student_id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7" name="Google Shape;397;p6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98" name="Google Shape;398;p63"/>
          <p:cNvSpPr/>
          <p:nvPr/>
        </p:nvSpPr>
        <p:spPr>
          <a:xfrm>
            <a:off x="255150" y="102249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JDBC</a:t>
            </a:r>
            <a:r>
              <a:rPr b="1" i="0" lang="en" sz="4500" u="none" cap="none" strike="noStrike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 Overview</a:t>
            </a:r>
            <a:endParaRPr b="0" i="0" sz="4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6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06" name="Google Shape;406;p6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What is </a:t>
            </a:r>
            <a:r>
              <a:rPr b="1" lang="en" sz="2400">
                <a:solidFill>
                  <a:srgbClr val="C9211E"/>
                </a:solidFill>
              </a:rPr>
              <a:t>JDBC</a:t>
            </a:r>
            <a:r>
              <a:rPr b="1" i="0" lang="en" sz="24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Java Database Connectivity (JDBC)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Standard Java API for working with databases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Provides drivers to communicate with DBs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Key components:</a:t>
            </a:r>
            <a:endParaRPr b="1"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Driver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Connection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Statement / PreparedStatement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ResultSet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13" name="Google Shape;413;p6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4" name="Google Shape;414;p65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Why Do We Need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Java alone cannot read/write database tables.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JDBC acts like a </a:t>
            </a:r>
            <a:r>
              <a:rPr b="1" lang="en" sz="1800">
                <a:solidFill>
                  <a:schemeClr val="dk1"/>
                </a:solidFill>
              </a:rPr>
              <a:t>bridge</a:t>
            </a:r>
            <a:r>
              <a:rPr lang="en" sz="1800">
                <a:solidFill>
                  <a:schemeClr val="dk1"/>
                </a:solidFill>
              </a:rPr>
              <a:t> between Java code and SQL databases.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It is </a:t>
            </a:r>
            <a:r>
              <a:rPr b="1" lang="en" sz="1800">
                <a:solidFill>
                  <a:schemeClr val="dk1"/>
                </a:solidFill>
              </a:rPr>
              <a:t>database-independent</a:t>
            </a:r>
            <a:r>
              <a:rPr lang="en" sz="1800">
                <a:solidFill>
                  <a:schemeClr val="dk1"/>
                </a:solidFill>
              </a:rPr>
              <a:t> — same Java code can work on MySQL, PostgreSQL, Oracle, etc. (with different drivers).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21" name="Google Shape;421;p6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2" name="Google Shape;422;p66"/>
          <p:cNvSpPr/>
          <p:nvPr/>
        </p:nvSpPr>
        <p:spPr>
          <a:xfrm>
            <a:off x="379350" y="1200150"/>
            <a:ext cx="4466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What is JDBC Architecture</a:t>
            </a:r>
            <a:endParaRPr b="1" sz="24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9211E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/>
              <a:t>Describes </a:t>
            </a:r>
            <a:r>
              <a:rPr b="1" lang="en" sz="1800"/>
              <a:t>how Java communicates with a database</a:t>
            </a:r>
            <a:r>
              <a:rPr lang="en" sz="1800"/>
              <a:t> using set of layers</a:t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59925"/>
            <a:ext cx="4347675" cy="303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</p:txBody>
      </p:sp>
      <p:cxnSp>
        <p:nvCxnSpPr>
          <p:cNvPr id="430" name="Google Shape;430;p6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31" name="Google Shape;431;p67"/>
          <p:cNvSpPr/>
          <p:nvPr/>
        </p:nvSpPr>
        <p:spPr>
          <a:xfrm>
            <a:off x="379350" y="1200150"/>
            <a:ext cx="78516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Main Layers of JDBC</a:t>
            </a:r>
            <a:endParaRPr b="1" sz="24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9211E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JDBC API</a:t>
            </a:r>
            <a:endParaRPr b="1"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This is what Java developers use to communicate with the the database</a:t>
            </a:r>
            <a:endParaRPr sz="18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Includes classes &amp; interfaces like:</a:t>
            </a:r>
            <a:endParaRPr sz="1800">
              <a:solidFill>
                <a:schemeClr val="dk1"/>
              </a:solidFill>
            </a:endParaRPr>
          </a:p>
          <a:p>
            <a:pPr indent="-34290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Connection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- Represents an active link to database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Statement / </a:t>
            </a:r>
            <a:r>
              <a:rPr b="1"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PreparedStatement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- For sending / executing SQL queries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ResultSet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- Holds data returned from a query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DriverManager</a:t>
            </a: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- Loads the database driver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38" name="Google Shape;438;p6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39" name="Google Shape;439;p68"/>
          <p:cNvSpPr/>
          <p:nvPr/>
        </p:nvSpPr>
        <p:spPr>
          <a:xfrm>
            <a:off x="379350" y="1200150"/>
            <a:ext cx="78516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Main Layers of JDBC</a:t>
            </a:r>
            <a:endParaRPr b="1" sz="24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9211E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JDBC Driver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	This is the translator between Java and the specific database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Examples:</a:t>
            </a:r>
            <a:endParaRPr b="1" sz="18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MySQL → MySQL JDBC Driver</a:t>
            </a:r>
            <a:br>
              <a:rPr lang="en" sz="1800"/>
            </a:br>
            <a:r>
              <a:rPr lang="en" sz="1800"/>
              <a:t>	PostgreSQL → PostgreSQL Driver</a:t>
            </a:r>
            <a:br>
              <a:rPr lang="en" sz="1800"/>
            </a:br>
            <a:r>
              <a:rPr lang="en" sz="1800"/>
              <a:t>	Oracle → Oracle Driver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46" name="Google Shape;446;p6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47" name="Google Shape;447;p69"/>
          <p:cNvSpPr/>
          <p:nvPr/>
        </p:nvSpPr>
        <p:spPr>
          <a:xfrm>
            <a:off x="379350" y="1200150"/>
            <a:ext cx="78516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Main Layers of JDBC</a:t>
            </a:r>
            <a:endParaRPr b="1" sz="24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9211E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JDBC Driver</a:t>
            </a:r>
            <a:endParaRPr b="1" sz="18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 u="sng"/>
              <a:t>Each driver knows how to:</a:t>
            </a:r>
            <a:endParaRPr b="1" sz="1800" u="sng"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Accept JDBC calls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Convert them into database-specific commands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Send the results back to Java</a:t>
            </a:r>
            <a:br>
              <a:rPr lang="en" sz="1800"/>
            </a:br>
            <a:endParaRPr sz="18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54" name="Google Shape;454;p7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5" name="Google Shape;455;p7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To Configure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Pre-requisite</a:t>
            </a:r>
            <a:r>
              <a:rPr b="1" lang="en" sz="1600"/>
              <a:t>:</a:t>
            </a:r>
            <a:endParaRPr b="1"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Download JDBC Driver</a:t>
            </a:r>
            <a:endParaRPr sz="16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Postgres:</a:t>
            </a:r>
            <a:r>
              <a:rPr lang="en" sz="1600"/>
              <a:t> https://jdbc.postgresql.org/download/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62" name="Google Shape;462;p7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3" name="Google Shape;463;p7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To Configure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1.	Add the JDBC Driver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Where / How to add it?</a:t>
            </a:r>
            <a:endParaRPr b="1" sz="1600" u="sng"/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Using IDE (Eclipse/IntelliJ/NetBeans): Add to project libraries</a:t>
            </a:r>
            <a:endParaRPr sz="1600"/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Using Maven (recommended for beginners):</a:t>
            </a:r>
            <a:endParaRPr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</a:t>
            </a:r>
            <a:endParaRPr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1"/>
          <p:cNvSpPr txBox="1"/>
          <p:nvPr/>
        </p:nvSpPr>
        <p:spPr>
          <a:xfrm>
            <a:off x="1322200" y="3219000"/>
            <a:ext cx="5289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&lt;!-- PostgreSQL Example --&gt;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&lt;dependency&gt;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&lt;groupId&gt;org.postgresql&lt;/groupId&gt;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&lt;artifactId&gt;postgresql&lt;/artifactId&gt;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&lt;version&gt;42.7.8&lt;/version&gt;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&lt;/dependency&gt;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71" name="Google Shape;471;p7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72" name="Google Shape;472;p72"/>
          <p:cNvSpPr/>
          <p:nvPr/>
        </p:nvSpPr>
        <p:spPr>
          <a:xfrm>
            <a:off x="386273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To Configure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2.	Create a Database URL (JDBC URL)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72"/>
          <p:cNvSpPr txBox="1"/>
          <p:nvPr/>
        </p:nvSpPr>
        <p:spPr>
          <a:xfrm>
            <a:off x="1592200" y="2571750"/>
            <a:ext cx="495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jdbc:&lt;database_type&gt;://&lt;host&gt;:&lt;port&gt;/&lt;database_name&gt;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72"/>
          <p:cNvSpPr txBox="1"/>
          <p:nvPr/>
        </p:nvSpPr>
        <p:spPr>
          <a:xfrm>
            <a:off x="1582225" y="3225950"/>
            <a:ext cx="5340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String url = "jdbc:postgresql://localhost:5432/training_db";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Collections Overview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7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82" name="Google Shape;482;p7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To Configure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3</a:t>
            </a:r>
            <a:r>
              <a:rPr b="1" lang="en" sz="1600"/>
              <a:t>.	Set your username and password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73"/>
          <p:cNvSpPr txBox="1"/>
          <p:nvPr/>
        </p:nvSpPr>
        <p:spPr>
          <a:xfrm>
            <a:off x="2014475" y="25717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username = "postgres";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password = "postgres";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90" name="Google Shape;490;p7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91" name="Google Shape;491;p7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To Configure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4</a:t>
            </a:r>
            <a:r>
              <a:rPr b="1" lang="en" sz="1600"/>
              <a:t>.	Connect to the Database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4"/>
          <p:cNvSpPr txBox="1"/>
          <p:nvPr/>
        </p:nvSpPr>
        <p:spPr>
          <a:xfrm>
            <a:off x="1342650" y="2571750"/>
            <a:ext cx="64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 conn = DriverManager.getConnection(url, username, password);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99" name="Google Shape;499;p7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00" name="Google Shape;500;p75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To Configure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5</a:t>
            </a:r>
            <a:r>
              <a:rPr b="1" lang="en" sz="1600"/>
              <a:t>.	Create a Statement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5"/>
          <p:cNvSpPr txBox="1"/>
          <p:nvPr/>
        </p:nvSpPr>
        <p:spPr>
          <a:xfrm>
            <a:off x="1640675" y="2571750"/>
            <a:ext cx="533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 stmt = conn.createStatement();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08" name="Google Shape;508;p7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09" name="Google Shape;509;p76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To Configure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6</a:t>
            </a:r>
            <a:r>
              <a:rPr b="1" lang="en" sz="1600"/>
              <a:t>.	Execute SQL Queries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Query example (SELECT):</a:t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Query example (INSERT, UPDATE, DELETE)</a:t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76"/>
          <p:cNvSpPr txBox="1"/>
          <p:nvPr/>
        </p:nvSpPr>
        <p:spPr>
          <a:xfrm>
            <a:off x="1509125" y="2831700"/>
            <a:ext cx="544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ResultSet rs = stmt.executeQuery("SELECT * FROM students");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76"/>
          <p:cNvSpPr txBox="1"/>
          <p:nvPr/>
        </p:nvSpPr>
        <p:spPr>
          <a:xfrm>
            <a:off x="1509125" y="4042825"/>
            <a:ext cx="777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 rows = stmt.executeUpdate("INSERT INTO students VALUES (1, 'John')");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18" name="Google Shape;518;p7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19" name="Google Shape;519;p77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To Configure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7</a:t>
            </a:r>
            <a:r>
              <a:rPr b="1" lang="en" sz="1600"/>
              <a:t>.	Process the Result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77"/>
          <p:cNvSpPr txBox="1"/>
          <p:nvPr/>
        </p:nvSpPr>
        <p:spPr>
          <a:xfrm>
            <a:off x="1474525" y="2519225"/>
            <a:ext cx="4970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(rs.next())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System.out.println(rs.getString("name"));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27" name="Google Shape;527;p7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28" name="Google Shape;528;p78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How To Configure JDBC?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8</a:t>
            </a:r>
            <a:r>
              <a:rPr b="1" lang="en" sz="1600"/>
              <a:t>.	Close Everything - ResultSet, Statement, Connection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78"/>
          <p:cNvSpPr txBox="1"/>
          <p:nvPr/>
        </p:nvSpPr>
        <p:spPr>
          <a:xfrm>
            <a:off x="1633750" y="24361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rs.close();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stmt.close();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conn.close();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36" name="Google Shape;536;p7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37" name="Google Shape;537;p79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Exercise #2: Database Connection using JDBC (M5_ACTIVITY2)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79"/>
          <p:cNvSpPr txBox="1"/>
          <p:nvPr/>
        </p:nvSpPr>
        <p:spPr>
          <a:xfrm>
            <a:off x="546875" y="1640250"/>
            <a:ext cx="3000000" cy="3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Objective:</a:t>
            </a:r>
            <a:r>
              <a:rPr lang="en" sz="1100">
                <a:solidFill>
                  <a:schemeClr val="dk1"/>
                </a:solidFill>
              </a:rPr>
              <a:t> Learn how to connect to a database using JDBC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Tasks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Create a Java class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DBConnection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Connect to a PostgreSQL database using: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DriverManager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URL, username, password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Print: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"Connected successfully"</a:t>
            </a:r>
            <a:r>
              <a:rPr lang="en" sz="1100">
                <a:solidFill>
                  <a:schemeClr val="dk1"/>
                </a:solidFill>
              </a:rPr>
              <a:t> if successful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Error message if connection fails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45" name="Google Shape;545;p8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46" name="Google Shape;546;p8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0"/>
          <p:cNvSpPr txBox="1"/>
          <p:nvPr/>
        </p:nvSpPr>
        <p:spPr>
          <a:xfrm>
            <a:off x="692250" y="2430875"/>
            <a:ext cx="8597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>
                <a:solidFill>
                  <a:srgbClr val="C9211E"/>
                </a:solidFill>
              </a:rPr>
              <a:t>Statement vs PreparedStatement</a:t>
            </a:r>
            <a:endParaRPr sz="25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54" name="Google Shape;554;p8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55" name="Google Shape;555;p8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9211E"/>
                </a:solidFill>
              </a:rPr>
              <a:t>Statement</a:t>
            </a:r>
            <a:endParaRPr b="1" sz="18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</a:t>
            </a:r>
            <a:r>
              <a:rPr b="1" lang="en"/>
              <a:t>Syntax: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81"/>
          <p:cNvSpPr txBox="1"/>
          <p:nvPr/>
        </p:nvSpPr>
        <p:spPr>
          <a:xfrm>
            <a:off x="429200" y="1550675"/>
            <a:ext cx="391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Statement</a:t>
            </a:r>
            <a:r>
              <a:rPr lang="en" sz="1200">
                <a:solidFill>
                  <a:schemeClr val="dk1"/>
                </a:solidFill>
              </a:rPr>
              <a:t> is used to execute </a:t>
            </a:r>
            <a:r>
              <a:rPr b="1" lang="en" sz="1200">
                <a:solidFill>
                  <a:schemeClr val="dk1"/>
                </a:solidFill>
              </a:rPr>
              <a:t>simple SQL queries</a:t>
            </a:r>
            <a:r>
              <a:rPr lang="en" sz="1200">
                <a:solidFill>
                  <a:schemeClr val="dk1"/>
                </a:solidFill>
              </a:rPr>
              <a:t> without parameters.</a:t>
            </a:r>
            <a:endParaRPr sz="1200"/>
          </a:p>
        </p:txBody>
      </p:sp>
      <p:sp>
        <p:nvSpPr>
          <p:cNvPr id="557" name="Google Shape;557;p81"/>
          <p:cNvSpPr txBox="1"/>
          <p:nvPr/>
        </p:nvSpPr>
        <p:spPr>
          <a:xfrm>
            <a:off x="539950" y="2571750"/>
            <a:ext cx="4769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Statement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stmt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createStatement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ResultSet rs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stmt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executeQuery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"SELECT * FROM students"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8" name="Google Shape;558;p81"/>
          <p:cNvSpPr txBox="1"/>
          <p:nvPr/>
        </p:nvSpPr>
        <p:spPr>
          <a:xfrm>
            <a:off x="616100" y="3095750"/>
            <a:ext cx="51366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Points: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Used for static SQL queries.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Vulnerable to </a:t>
            </a:r>
            <a:r>
              <a:rPr b="1" lang="en" sz="1100">
                <a:solidFill>
                  <a:schemeClr val="dk1"/>
                </a:solidFill>
              </a:rPr>
              <a:t>SQL Injection</a:t>
            </a:r>
            <a:r>
              <a:rPr lang="en" sz="1100">
                <a:solidFill>
                  <a:schemeClr val="dk1"/>
                </a:solidFill>
              </a:rPr>
              <a:t> if user input is concatenated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Every execution is </a:t>
            </a:r>
            <a:r>
              <a:rPr b="1" lang="en" sz="1100">
                <a:solidFill>
                  <a:schemeClr val="dk1"/>
                </a:solidFill>
              </a:rPr>
              <a:t>compiled at runtime</a:t>
            </a:r>
            <a:r>
              <a:rPr lang="en" sz="1100">
                <a:solidFill>
                  <a:schemeClr val="dk1"/>
                </a:solidFill>
              </a:rPr>
              <a:t>, can be slower for repeated queries.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65" name="Google Shape;565;p8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6" name="Google Shape;566;p8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9211E"/>
                </a:solidFill>
              </a:rPr>
              <a:t>PreparedStatement</a:t>
            </a:r>
            <a:endParaRPr b="1" sz="18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Syntax: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82"/>
          <p:cNvSpPr txBox="1"/>
          <p:nvPr/>
        </p:nvSpPr>
        <p:spPr>
          <a:xfrm>
            <a:off x="539950" y="2571750"/>
            <a:ext cx="77118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PreparedStatement pstmt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prepareStatement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"SELECT * FROM students WHERE age &gt;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?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pstmt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ResultSet rs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pstmt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executeQuery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8599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8" name="Google Shape;568;p82"/>
          <p:cNvSpPr txBox="1"/>
          <p:nvPr/>
        </p:nvSpPr>
        <p:spPr>
          <a:xfrm>
            <a:off x="539950" y="1481375"/>
            <a:ext cx="551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PreparedStatement</a:t>
            </a:r>
            <a:r>
              <a:rPr lang="en" sz="1200">
                <a:solidFill>
                  <a:schemeClr val="dk1"/>
                </a:solidFill>
              </a:rPr>
              <a:t> is used for </a:t>
            </a:r>
            <a:r>
              <a:rPr b="1" lang="en" sz="1200">
                <a:solidFill>
                  <a:schemeClr val="dk1"/>
                </a:solidFill>
              </a:rPr>
              <a:t>parameterized SQL queries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Pre-compiles SQL for repeated execution.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69" name="Google Shape;569;p82"/>
          <p:cNvSpPr txBox="1"/>
          <p:nvPr/>
        </p:nvSpPr>
        <p:spPr>
          <a:xfrm>
            <a:off x="629975" y="3329775"/>
            <a:ext cx="5745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Points: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Safe against </a:t>
            </a:r>
            <a:r>
              <a:rPr b="1" lang="en" sz="1100">
                <a:solidFill>
                  <a:schemeClr val="dk1"/>
                </a:solidFill>
              </a:rPr>
              <a:t>SQL Injection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Better performance for repeated queries.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r>
              <a:rPr lang="en" sz="1100">
                <a:solidFill>
                  <a:schemeClr val="dk1"/>
                </a:solidFill>
              </a:rPr>
              <a:t> placeholders for dynamic input.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76" name="Google Shape;576;p8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77" name="Google Shape;577;p83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9211E"/>
                </a:solidFill>
              </a:rPr>
              <a:t>Exercise #3: Practice Inserting and Selecting using JDBC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83"/>
          <p:cNvSpPr txBox="1"/>
          <p:nvPr/>
        </p:nvSpPr>
        <p:spPr>
          <a:xfrm>
            <a:off x="761450" y="1738275"/>
            <a:ext cx="30000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Objective:</a:t>
            </a:r>
            <a:r>
              <a:rPr lang="en" sz="1100">
                <a:solidFill>
                  <a:schemeClr val="dk1"/>
                </a:solidFill>
              </a:rPr>
              <a:t> You are required to create a Java application that can: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Add a Student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Capture student details: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Store these details in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students</a:t>
            </a:r>
            <a:r>
              <a:rPr lang="en" sz="1100">
                <a:solidFill>
                  <a:schemeClr val="dk1"/>
                </a:solidFill>
              </a:rPr>
              <a:t> table.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Add a Course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Assign a course to a specific student.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Capture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course name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grade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Store these details in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courses</a:t>
            </a:r>
            <a:r>
              <a:rPr lang="en" sz="1100">
                <a:solidFill>
                  <a:schemeClr val="dk1"/>
                </a:solidFill>
              </a:rPr>
              <a:t> table.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Ensure that each course is linked to a valid student.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579" name="Google Shape;579;p83"/>
          <p:cNvSpPr txBox="1"/>
          <p:nvPr/>
        </p:nvSpPr>
        <p:spPr>
          <a:xfrm>
            <a:off x="4652000" y="2229100"/>
            <a:ext cx="3000000" cy="2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Display all Students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Show all student records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Display all Courses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Show all courses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Course Name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Grade</a:t>
            </a:r>
            <a:r>
              <a:rPr lang="en" sz="1100">
                <a:solidFill>
                  <a:schemeClr val="dk1"/>
                </a:solidFill>
              </a:rPr>
              <a:t>, and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 Name</a:t>
            </a:r>
            <a:r>
              <a:rPr lang="en" sz="1100">
                <a:solidFill>
                  <a:schemeClr val="dk1"/>
                </a:solidFill>
              </a:rPr>
              <a:t> enrolled.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Tip: Use JOIN to combine data from students and courses table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86" name="Google Shape;586;p8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7" name="Google Shape;587;p84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p84" title="Screenshot from 2026-01-20 14-50-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00" y="946425"/>
            <a:ext cx="3349425" cy="179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84" title="Screenshot from 2026-01-20 14-51-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425" y="2775975"/>
            <a:ext cx="2721975" cy="192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84" title="Screenshot from 2026-01-20 14-52-2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3123" y="1023525"/>
            <a:ext cx="3113075" cy="25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84" title="Screenshot from 2026-01-20 14-53-1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5488" y="1023513"/>
            <a:ext cx="323850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84" title="Screenshot from 2026-01-20 14-53-5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76950" y="3247513"/>
            <a:ext cx="30670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5"/>
          <p:cNvSpPr txBox="1"/>
          <p:nvPr/>
        </p:nvSpPr>
        <p:spPr>
          <a:xfrm>
            <a:off x="2526775" y="1924475"/>
            <a:ext cx="3987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C9211E"/>
                </a:solidFill>
              </a:rPr>
              <a:t>Best Practices with JDBC</a:t>
            </a:r>
            <a:endParaRPr b="1" sz="32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04" name="Google Shape;604;p8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05" name="Google Shape;605;p86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9211E"/>
                </a:solidFill>
              </a:rPr>
              <a:t>Best Practices with JDBC</a:t>
            </a:r>
            <a:endParaRPr b="1" sz="18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1. Use Proper Project Structure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86"/>
          <p:cNvSpPr txBox="1"/>
          <p:nvPr/>
        </p:nvSpPr>
        <p:spPr>
          <a:xfrm>
            <a:off x="636875" y="2292900"/>
            <a:ext cx="5067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src/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├── dao/      	// Database access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├── model/    	// POJOs / Entities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├── service/  	// Business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├── util/     	// Utilities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└── app/           // Main Application / entrypoint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86"/>
          <p:cNvSpPr txBox="1"/>
          <p:nvPr/>
        </p:nvSpPr>
        <p:spPr>
          <a:xfrm>
            <a:off x="4799075" y="2292900"/>
            <a:ext cx="33351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Separation of concerns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Easier testing and maintenance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Prevents SQL code scattered everywhere (all are inside dao package)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14" name="Google Shape;614;p8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5" name="Google Shape;615;p87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9211E"/>
                </a:solidFill>
              </a:rPr>
              <a:t>Best Practices with JDBC</a:t>
            </a:r>
            <a:endParaRPr b="1" sz="18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2. Centralize Database Configuration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87"/>
          <p:cNvSpPr txBox="1"/>
          <p:nvPr/>
        </p:nvSpPr>
        <p:spPr>
          <a:xfrm>
            <a:off x="636875" y="2125250"/>
            <a:ext cx="7151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class DBConfig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public static final String URL = "jdbc:postgresql://localhost:5432/training_db";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public static final String USER = "postgres";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public static final String PASSWORD = "password";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87"/>
          <p:cNvSpPr txBox="1"/>
          <p:nvPr/>
        </p:nvSpPr>
        <p:spPr>
          <a:xfrm>
            <a:off x="678425" y="3392075"/>
            <a:ext cx="43611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Single place to update credentials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Cleaner and safer code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24" name="Google Shape;624;p8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25" name="Google Shape;625;p88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9211E"/>
                </a:solidFill>
              </a:rPr>
              <a:t>Best Practices with JDBC</a:t>
            </a:r>
            <a:endParaRPr b="1" sz="18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3</a:t>
            </a:r>
            <a:r>
              <a:rPr b="1" lang="en" sz="1600"/>
              <a:t>. Always use </a:t>
            </a:r>
            <a:r>
              <a:rPr b="1" lang="en" sz="1600">
                <a:solidFill>
                  <a:srgbClr val="C9211E"/>
                </a:solidFill>
              </a:rPr>
              <a:t>PreparedStatement</a:t>
            </a:r>
            <a:endParaRPr b="1" sz="16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88"/>
          <p:cNvSpPr txBox="1"/>
          <p:nvPr/>
        </p:nvSpPr>
        <p:spPr>
          <a:xfrm>
            <a:off x="484575" y="21252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❌ </a:t>
            </a:r>
            <a:r>
              <a:rPr b="1" lang="en" sz="1100">
                <a:solidFill>
                  <a:schemeClr val="dk1"/>
                </a:solidFill>
              </a:rPr>
              <a:t>Bad (SQL Injection risk)</a:t>
            </a:r>
            <a:endParaRPr/>
          </a:p>
        </p:txBody>
      </p:sp>
      <p:sp>
        <p:nvSpPr>
          <p:cNvPr id="627" name="Google Shape;627;p88"/>
          <p:cNvSpPr txBox="1"/>
          <p:nvPr/>
        </p:nvSpPr>
        <p:spPr>
          <a:xfrm>
            <a:off x="872250" y="2508450"/>
            <a:ext cx="62856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"SELECT * FROM users WHERE username = '"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username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"'"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Statement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stmt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createStatement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ResultSet rs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stmt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executeQuery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88"/>
          <p:cNvSpPr txBox="1"/>
          <p:nvPr/>
        </p:nvSpPr>
        <p:spPr>
          <a:xfrm>
            <a:off x="484575" y="32190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Good</a:t>
            </a:r>
            <a:endParaRPr/>
          </a:p>
        </p:txBody>
      </p:sp>
      <p:sp>
        <p:nvSpPr>
          <p:cNvPr id="629" name="Google Shape;629;p88"/>
          <p:cNvSpPr txBox="1"/>
          <p:nvPr/>
        </p:nvSpPr>
        <p:spPr>
          <a:xfrm>
            <a:off x="962225" y="3573000"/>
            <a:ext cx="63480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"SELECT * FROM users WHERE username = ?"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PreparedStatement ps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prepareStatement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setString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D3368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username);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ResultSet rs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executeQuery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36" name="Google Shape;636;p8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37" name="Google Shape;637;p89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9211E"/>
                </a:solidFill>
              </a:rPr>
              <a:t>Best Practices with JDBC</a:t>
            </a:r>
            <a:endParaRPr b="1" sz="18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4</a:t>
            </a:r>
            <a:r>
              <a:rPr b="1" lang="en" sz="1600"/>
              <a:t>. Handle Exceptions Properly</a:t>
            </a:r>
            <a:endParaRPr b="1" sz="16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89"/>
          <p:cNvSpPr txBox="1"/>
          <p:nvPr/>
        </p:nvSpPr>
        <p:spPr>
          <a:xfrm>
            <a:off x="484575" y="21252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❌ </a:t>
            </a:r>
            <a:r>
              <a:rPr b="1" lang="en" sz="1100">
                <a:solidFill>
                  <a:schemeClr val="dk1"/>
                </a:solidFill>
              </a:rPr>
              <a:t>Bad</a:t>
            </a:r>
            <a:endParaRPr/>
          </a:p>
        </p:txBody>
      </p:sp>
      <p:sp>
        <p:nvSpPr>
          <p:cNvPr id="639" name="Google Shape;639;p89"/>
          <p:cNvSpPr txBox="1"/>
          <p:nvPr/>
        </p:nvSpPr>
        <p:spPr>
          <a:xfrm>
            <a:off x="484575" y="32190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Good</a:t>
            </a:r>
            <a:endParaRPr/>
          </a:p>
        </p:txBody>
      </p:sp>
      <p:sp>
        <p:nvSpPr>
          <p:cNvPr id="640" name="Google Shape;640;p89"/>
          <p:cNvSpPr txBox="1"/>
          <p:nvPr/>
        </p:nvSpPr>
        <p:spPr>
          <a:xfrm>
            <a:off x="983025" y="247922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(Exception e)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"Error"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1" name="Google Shape;641;p89"/>
          <p:cNvSpPr txBox="1"/>
          <p:nvPr/>
        </p:nvSpPr>
        <p:spPr>
          <a:xfrm>
            <a:off x="1052250" y="3620075"/>
            <a:ext cx="490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(SQLException e)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err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"Database error: 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getMessage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48" name="Google Shape;648;p9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49" name="Google Shape;649;p90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9211E"/>
                </a:solidFill>
              </a:rPr>
              <a:t>Best Practices with JDBC</a:t>
            </a:r>
            <a:endParaRPr b="1" sz="18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5</a:t>
            </a:r>
            <a:r>
              <a:rPr b="1" lang="en" sz="1600"/>
              <a:t>. Do Not Hardcode SQL Everywhere</a:t>
            </a:r>
            <a:endParaRPr b="1" sz="16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90"/>
          <p:cNvSpPr txBox="1"/>
          <p:nvPr/>
        </p:nvSpPr>
        <p:spPr>
          <a:xfrm>
            <a:off x="484575" y="21252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❌ </a:t>
            </a:r>
            <a:r>
              <a:rPr b="1" lang="en" sz="1100">
                <a:solidFill>
                  <a:schemeClr val="dk1"/>
                </a:solidFill>
              </a:rPr>
              <a:t>Bad</a:t>
            </a:r>
            <a:endParaRPr/>
          </a:p>
        </p:txBody>
      </p:sp>
      <p:sp>
        <p:nvSpPr>
          <p:cNvPr id="651" name="Google Shape;651;p90"/>
          <p:cNvSpPr txBox="1"/>
          <p:nvPr/>
        </p:nvSpPr>
        <p:spPr>
          <a:xfrm>
            <a:off x="484575" y="31159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Good</a:t>
            </a:r>
            <a:endParaRPr/>
          </a:p>
        </p:txBody>
      </p:sp>
      <p:sp>
        <p:nvSpPr>
          <p:cNvPr id="652" name="Google Shape;652;p90"/>
          <p:cNvSpPr txBox="1"/>
          <p:nvPr/>
        </p:nvSpPr>
        <p:spPr>
          <a:xfrm>
            <a:off x="754550" y="2571750"/>
            <a:ext cx="58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"INSERT INTO students VALUES ("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id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",'"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"')"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3" name="Google Shape;653;p90"/>
          <p:cNvSpPr txBox="1"/>
          <p:nvPr/>
        </p:nvSpPr>
        <p:spPr>
          <a:xfrm>
            <a:off x="844525" y="3675475"/>
            <a:ext cx="5434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final String INSERT_STUDENT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000">
              <a:solidFill>
                <a:srgbClr val="8599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"INSERT INTO students (id, name) VALUES (?, ?)"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60" name="Google Shape;660;p9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61" name="Google Shape;661;p91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9211E"/>
                </a:solidFill>
              </a:rPr>
              <a:t>Best Practices with JDBC</a:t>
            </a:r>
            <a:endParaRPr b="1" sz="18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6</a:t>
            </a:r>
            <a:r>
              <a:rPr b="1" lang="en" sz="1600"/>
              <a:t>. Validate Inputs Before Database Calls</a:t>
            </a:r>
            <a:endParaRPr b="1" sz="16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91"/>
          <p:cNvSpPr txBox="1"/>
          <p:nvPr/>
        </p:nvSpPr>
        <p:spPr>
          <a:xfrm>
            <a:off x="623025" y="2194450"/>
            <a:ext cx="508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||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CB4B1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trim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().isEmpty())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new IllegalArgumentException(</a:t>
            </a:r>
            <a:r>
              <a:rPr lang="en" sz="1000">
                <a:solidFill>
                  <a:srgbClr val="2AA19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 is required"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91"/>
          <p:cNvSpPr txBox="1"/>
          <p:nvPr/>
        </p:nvSpPr>
        <p:spPr>
          <a:xfrm>
            <a:off x="623025" y="3579000"/>
            <a:ext cx="4665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Avoid unnecessary DB calls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Improves data integrity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Reduces SQL errors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sp>
        <p:nvSpPr>
          <p:cNvPr id="664" name="Google Shape;664;p91"/>
          <p:cNvSpPr txBox="1"/>
          <p:nvPr/>
        </p:nvSpPr>
        <p:spPr>
          <a:xfrm>
            <a:off x="138452" y="2887150"/>
            <a:ext cx="7054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.length() &gt; 100)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IllegalArgumentException(</a:t>
            </a:r>
            <a:r>
              <a:rPr lang="en" sz="1000">
                <a:solidFill>
                  <a:srgbClr val="2A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"Product name too long (max 100 chars)"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JDBC Overview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71" name="Google Shape;671;p9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72" name="Google Shape;672;p92"/>
          <p:cNvSpPr/>
          <p:nvPr/>
        </p:nvSpPr>
        <p:spPr>
          <a:xfrm>
            <a:off x="379350" y="120015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9211E"/>
                </a:solidFill>
              </a:rPr>
              <a:t>Best Practices with JDBC</a:t>
            </a:r>
            <a:endParaRPr b="1" sz="18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7</a:t>
            </a:r>
            <a:r>
              <a:rPr b="1" lang="en" sz="1600"/>
              <a:t>. Avoid SELECT *</a:t>
            </a:r>
            <a:endParaRPr b="1" sz="16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   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92"/>
          <p:cNvSpPr txBox="1"/>
          <p:nvPr/>
        </p:nvSpPr>
        <p:spPr>
          <a:xfrm>
            <a:off x="484575" y="21252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❌ </a:t>
            </a:r>
            <a:r>
              <a:rPr b="1" lang="en" sz="1100">
                <a:solidFill>
                  <a:schemeClr val="dk1"/>
                </a:solidFill>
              </a:rPr>
              <a:t>Bad</a:t>
            </a:r>
            <a:endParaRPr/>
          </a:p>
        </p:txBody>
      </p:sp>
      <p:sp>
        <p:nvSpPr>
          <p:cNvPr id="674" name="Google Shape;674;p92"/>
          <p:cNvSpPr txBox="1"/>
          <p:nvPr/>
        </p:nvSpPr>
        <p:spPr>
          <a:xfrm>
            <a:off x="484575" y="32190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Good</a:t>
            </a:r>
            <a:endParaRPr/>
          </a:p>
        </p:txBody>
      </p:sp>
      <p:sp>
        <p:nvSpPr>
          <p:cNvPr id="675" name="Google Shape;675;p92"/>
          <p:cNvSpPr txBox="1"/>
          <p:nvPr/>
        </p:nvSpPr>
        <p:spPr>
          <a:xfrm>
            <a:off x="692275" y="25717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6" name="Google Shape;676;p92"/>
          <p:cNvSpPr txBox="1"/>
          <p:nvPr/>
        </p:nvSpPr>
        <p:spPr>
          <a:xfrm>
            <a:off x="692275" y="3627025"/>
            <a:ext cx="43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8599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id,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email </a:t>
            </a:r>
            <a:r>
              <a:rPr lang="en" sz="1000">
                <a:solidFill>
                  <a:srgbClr val="8599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students;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7" name="Google Shape;677;p92"/>
          <p:cNvSpPr txBox="1"/>
          <p:nvPr/>
        </p:nvSpPr>
        <p:spPr>
          <a:xfrm>
            <a:off x="4485875" y="1756225"/>
            <a:ext cx="35583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Better performance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Clear intent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Prevents issues when table structure changes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9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M5 Project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84" name="Google Shape;684;p9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85" name="Google Shape;685;p93"/>
          <p:cNvSpPr/>
          <p:nvPr/>
        </p:nvSpPr>
        <p:spPr>
          <a:xfrm>
            <a:off x="379800" y="881700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Your Task: </a:t>
            </a:r>
            <a:r>
              <a:rPr lang="en">
                <a:solidFill>
                  <a:schemeClr val="dk1"/>
                </a:solidFill>
              </a:rPr>
              <a:t>Enhance your existing library system project using PostgreSQL database and JDBC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   </a:t>
            </a:r>
            <a:endParaRPr b="1"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          </a:t>
            </a:r>
            <a:endParaRPr i="0" sz="1500" u="none" cap="none" strike="noStrike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 cap="none" strike="noStrike"/>
          </a:p>
        </p:txBody>
      </p:sp>
      <p:sp>
        <p:nvSpPr>
          <p:cNvPr id="686" name="Google Shape;686;p93"/>
          <p:cNvSpPr txBox="1"/>
          <p:nvPr/>
        </p:nvSpPr>
        <p:spPr>
          <a:xfrm>
            <a:off x="443050" y="1219200"/>
            <a:ext cx="3000000" cy="4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Technical Requirements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Enhance existing system to use PostgreSQL database + JDBC.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DAO pattern</a:t>
            </a:r>
            <a:r>
              <a:rPr lang="en" sz="1100">
                <a:solidFill>
                  <a:schemeClr val="dk1"/>
                </a:solidFill>
              </a:rPr>
              <a:t> for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BookDAO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LoanDAO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UserDAO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b="1" lang="en" sz="1100">
                <a:solidFill>
                  <a:schemeClr val="dk1"/>
                </a:solidFill>
              </a:rPr>
              <a:t>PreparedStatement</a:t>
            </a:r>
            <a:r>
              <a:rPr lang="en" sz="1100">
                <a:solidFill>
                  <a:schemeClr val="dk1"/>
                </a:solidFill>
              </a:rPr>
              <a:t> for all SQL queries.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Validate Inputs before database calls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Keep </a:t>
            </a:r>
            <a:r>
              <a:rPr b="1" lang="en" sz="1100">
                <a:solidFill>
                  <a:schemeClr val="dk1"/>
                </a:solidFill>
              </a:rPr>
              <a:t>all application logic modular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Entities/Models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Book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DAO Layer</a:t>
            </a:r>
            <a:r>
              <a:rPr lang="en" sz="1100">
                <a:solidFill>
                  <a:schemeClr val="dk1"/>
                </a:solidFill>
              </a:rPr>
              <a:t>: database operations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Application Layer</a:t>
            </a:r>
            <a:r>
              <a:rPr lang="en" sz="1100">
                <a:solidFill>
                  <a:schemeClr val="dk1"/>
                </a:solidFill>
              </a:rPr>
              <a:t>: menu handling and input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6. 	Handle exceptions properly. Use exception handling and logging as needed.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sp>
        <p:nvSpPr>
          <p:cNvPr id="687" name="Google Shape;687;p93"/>
          <p:cNvSpPr txBox="1"/>
          <p:nvPr/>
        </p:nvSpPr>
        <p:spPr>
          <a:xfrm>
            <a:off x="3952800" y="1266850"/>
            <a:ext cx="3000000" cy="25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Additional Instructions: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your group’s Module 4 output as the </a:t>
            </a:r>
            <a:r>
              <a:rPr b="1" lang="en" sz="1100">
                <a:solidFill>
                  <a:schemeClr val="dk1"/>
                </a:solidFill>
              </a:rPr>
              <a:t>code baseline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Provide </a:t>
            </a:r>
            <a:r>
              <a:rPr b="1" lang="en" sz="1100">
                <a:solidFill>
                  <a:schemeClr val="dk1"/>
                </a:solidFill>
              </a:rPr>
              <a:t>SQL scripts</a:t>
            </a:r>
            <a:r>
              <a:rPr lang="en" sz="1100">
                <a:solidFill>
                  <a:schemeClr val="dk1"/>
                </a:solidFill>
              </a:rPr>
              <a:t> for: (push to Git)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Creating the database and tables.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Inserting initial sample data for books and users.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Collaborate effectively</a:t>
            </a:r>
            <a:r>
              <a:rPr lang="en" sz="1100">
                <a:solidFill>
                  <a:schemeClr val="dk1"/>
                </a:solidFill>
              </a:rPr>
              <a:t> by assigning specific tasks to each group member.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9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M5 Project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94" name="Google Shape;694;p9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95" name="Google Shape;695;p94"/>
          <p:cNvSpPr txBox="1"/>
          <p:nvPr/>
        </p:nvSpPr>
        <p:spPr>
          <a:xfrm>
            <a:off x="325350" y="899950"/>
            <a:ext cx="3821400" cy="2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[1] Display All Books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Show all books in the library (ID, Title, Author, Availability).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[2] Display Available Books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Show only books not currently borrowed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is_available = true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[3] Display All Borrowed Books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Show books currently on loan.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Display </a:t>
            </a:r>
            <a:r>
              <a:rPr b="1" lang="en" sz="1100">
                <a:solidFill>
                  <a:schemeClr val="dk1"/>
                </a:solidFill>
              </a:rPr>
              <a:t>Book Title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Borrower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Name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Loan ID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6" name="Google Shape;696;p94"/>
          <p:cNvSpPr txBox="1"/>
          <p:nvPr/>
        </p:nvSpPr>
        <p:spPr>
          <a:xfrm>
            <a:off x="4959086" y="775325"/>
            <a:ext cx="3000000" cy="4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[4] Borrow Book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Display all available books.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selects a book by ID.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Create a </a:t>
            </a:r>
            <a:r>
              <a:rPr b="1" lang="en" sz="1100">
                <a:solidFill>
                  <a:schemeClr val="dk1"/>
                </a:solidFill>
              </a:rPr>
              <a:t>Loan</a:t>
            </a:r>
            <a:r>
              <a:rPr lang="en" sz="1100">
                <a:solidFill>
                  <a:schemeClr val="dk1"/>
                </a:solidFill>
              </a:rPr>
              <a:t> record in the database.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Mark the book as unavailable (</a:t>
            </a:r>
            <a:r>
              <a:rPr lang="en" sz="1100">
                <a:solidFill>
                  <a:srgbClr val="188038"/>
                </a:solidFill>
              </a:rPr>
              <a:t>is_available = false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Validate: cannot borrow non-existent or already borrowed books.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[5] Return Book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Display all current loans.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selects a loan by </a:t>
            </a:r>
            <a:r>
              <a:rPr b="1" lang="en" sz="1100">
                <a:solidFill>
                  <a:schemeClr val="dk1"/>
                </a:solidFill>
              </a:rPr>
              <a:t>Loan ID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Delete the Loan record from the database.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Mark the book as available (</a:t>
            </a:r>
            <a:r>
              <a:rPr lang="en" sz="1100">
                <a:solidFill>
                  <a:srgbClr val="188038"/>
                </a:solidFill>
              </a:rPr>
              <a:t>is_available = true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Validate: cannot return non-existent loans.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M5 Project</a:t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03" name="Google Shape;703;p9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04" name="Google Shape;704;p95"/>
          <p:cNvSpPr txBox="1"/>
          <p:nvPr/>
        </p:nvSpPr>
        <p:spPr>
          <a:xfrm>
            <a:off x="4122575" y="1023650"/>
            <a:ext cx="30000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[8] Update Book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inputs </a:t>
            </a:r>
            <a:r>
              <a:rPr b="1" lang="en" sz="1100">
                <a:solidFill>
                  <a:schemeClr val="dk1"/>
                </a:solidFill>
              </a:rPr>
              <a:t>Book ID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Cannot update books currently borrowed (</a:t>
            </a:r>
            <a:r>
              <a:rPr lang="en" sz="1100">
                <a:solidFill>
                  <a:srgbClr val="188038"/>
                </a:solidFill>
              </a:rPr>
              <a:t>is_available = false</a:t>
            </a:r>
            <a:r>
              <a:rPr lang="en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Update </a:t>
            </a:r>
            <a:r>
              <a:rPr b="1" lang="en" sz="1100">
                <a:solidFill>
                  <a:schemeClr val="dk1"/>
                </a:solidFill>
              </a:rPr>
              <a:t>Title</a:t>
            </a:r>
            <a:r>
              <a:rPr lang="en" sz="1100">
                <a:solidFill>
                  <a:schemeClr val="dk1"/>
                </a:solidFill>
              </a:rPr>
              <a:t> and/or </a:t>
            </a:r>
            <a:r>
              <a:rPr b="1" lang="en" sz="1100">
                <a:solidFill>
                  <a:schemeClr val="dk1"/>
                </a:solidFill>
              </a:rPr>
              <a:t>Author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Blank input retains old values.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sp>
        <p:nvSpPr>
          <p:cNvPr id="705" name="Google Shape;705;p95"/>
          <p:cNvSpPr txBox="1"/>
          <p:nvPr/>
        </p:nvSpPr>
        <p:spPr>
          <a:xfrm>
            <a:off x="4215875" y="2674550"/>
            <a:ext cx="30000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</a:t>
            </a:r>
            <a:r>
              <a:rPr b="1" lang="en" sz="1100">
                <a:solidFill>
                  <a:schemeClr val="dk1"/>
                </a:solidFill>
              </a:rPr>
              <a:t>0] Exit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Close database connections.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Stop the program.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sp>
        <p:nvSpPr>
          <p:cNvPr id="706" name="Google Shape;706;p95"/>
          <p:cNvSpPr txBox="1"/>
          <p:nvPr/>
        </p:nvSpPr>
        <p:spPr>
          <a:xfrm>
            <a:off x="567670" y="1135300"/>
            <a:ext cx="30000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[6] Add Book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inputs </a:t>
            </a:r>
            <a:r>
              <a:rPr b="1" lang="en" sz="1100">
                <a:solidFill>
                  <a:schemeClr val="dk1"/>
                </a:solidFill>
              </a:rPr>
              <a:t>Book ID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Title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Author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Insert the book into the </a:t>
            </a:r>
            <a:r>
              <a:rPr lang="en" sz="1100">
                <a:solidFill>
                  <a:srgbClr val="188038"/>
                </a:solidFill>
              </a:rPr>
              <a:t>books</a:t>
            </a:r>
            <a:r>
              <a:rPr lang="en" sz="1100">
                <a:solidFill>
                  <a:schemeClr val="dk1"/>
                </a:solidFill>
              </a:rPr>
              <a:t> table.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Default </a:t>
            </a:r>
            <a:r>
              <a:rPr lang="en" sz="1100">
                <a:solidFill>
                  <a:srgbClr val="188038"/>
                </a:solidFill>
              </a:rPr>
              <a:t>is_available = true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Validate: cannot add duplicate IDs.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7" name="Google Shape;707;p95"/>
          <p:cNvSpPr txBox="1"/>
          <p:nvPr/>
        </p:nvSpPr>
        <p:spPr>
          <a:xfrm>
            <a:off x="616100" y="2478300"/>
            <a:ext cx="30000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[7] Remove Book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 inputs </a:t>
            </a:r>
            <a:r>
              <a:rPr b="1" lang="en" sz="1100">
                <a:solidFill>
                  <a:schemeClr val="dk1"/>
                </a:solidFill>
              </a:rPr>
              <a:t>Book ID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Delete the book from the </a:t>
            </a:r>
            <a:r>
              <a:rPr lang="en" sz="1100">
                <a:solidFill>
                  <a:srgbClr val="188038"/>
                </a:solidFill>
              </a:rPr>
              <a:t>books</a:t>
            </a:r>
            <a:r>
              <a:rPr lang="en" sz="1100">
                <a:solidFill>
                  <a:schemeClr val="dk1"/>
                </a:solidFill>
              </a:rPr>
              <a:t> table.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Delete any associated loan from the </a:t>
            </a:r>
            <a:r>
              <a:rPr lang="en" sz="1100">
                <a:solidFill>
                  <a:srgbClr val="188038"/>
                </a:solidFill>
              </a:rPr>
              <a:t>loans</a:t>
            </a:r>
            <a:r>
              <a:rPr lang="en" sz="1100">
                <a:solidFill>
                  <a:schemeClr val="dk1"/>
                </a:solidFill>
              </a:rPr>
              <a:t> table.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Validate: cannot remove a non-existent book.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6"/>
          <p:cNvSpPr txBox="1"/>
          <p:nvPr/>
        </p:nvSpPr>
        <p:spPr>
          <a:xfrm>
            <a:off x="2665175" y="2256150"/>
            <a:ext cx="398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9211E"/>
                </a:solidFill>
              </a:rPr>
              <a:t>THANK YOU!</a:t>
            </a:r>
            <a:endParaRPr b="1" sz="30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