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</p:sldIdLst>
  <p:sldSz cy="6858000" cx="12192000"/>
  <p:notesSz cx="7010400" cy="9296400"/>
  <p:embeddedFontLst>
    <p:embeddedFont>
      <p:font typeface="IBM Plex Sans"/>
      <p:regular r:id="rId100"/>
      <p:bold r:id="rId101"/>
      <p:italic r:id="rId102"/>
      <p:boldItalic r:id="rId103"/>
    </p:embeddedFont>
    <p:embeddedFont>
      <p:font typeface="Arial Black"/>
      <p:regular r:id="rId104"/>
    </p:embeddedFont>
    <p:embeddedFont>
      <p:font typeface="Roboto Mono"/>
      <p:regular r:id="rId105"/>
      <p:bold r:id="rId106"/>
      <p:italic r:id="rId107"/>
      <p:boldItalic r:id="rId10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9" roundtripDataSignature="AMtx7mjT9mZGrBscf6Nje6P9YvCfd88u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ED3544F-2B16-4A5E-8BA2-DB56DC928FEF}">
  <a:tblStyle styleId="{7ED3544F-2B16-4A5E-8BA2-DB56DC928FE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07" Type="http://schemas.openxmlformats.org/officeDocument/2006/relationships/font" Target="fonts/RobotoMono-italic.fntdata"/><Relationship Id="rId106" Type="http://schemas.openxmlformats.org/officeDocument/2006/relationships/font" Target="fonts/RobotoMono-bold.fntdata"/><Relationship Id="rId105" Type="http://schemas.openxmlformats.org/officeDocument/2006/relationships/font" Target="fonts/RobotoMono-regular.fntdata"/><Relationship Id="rId104" Type="http://schemas.openxmlformats.org/officeDocument/2006/relationships/font" Target="fonts/ArialBlack-regular.fntdata"/><Relationship Id="rId109" Type="http://customschemas.google.com/relationships/presentationmetadata" Target="metadata"/><Relationship Id="rId108" Type="http://schemas.openxmlformats.org/officeDocument/2006/relationships/font" Target="fonts/RobotoMono-boldItalic.fntdata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103" Type="http://schemas.openxmlformats.org/officeDocument/2006/relationships/font" Target="fonts/IBMPlexSans-boldItalic.fntdata"/><Relationship Id="rId102" Type="http://schemas.openxmlformats.org/officeDocument/2006/relationships/font" Target="fonts/IBMPlexSans-italic.fntdata"/><Relationship Id="rId101" Type="http://schemas.openxmlformats.org/officeDocument/2006/relationships/font" Target="fonts/IBMPlexSans-bold.fntdata"/><Relationship Id="rId100" Type="http://schemas.openxmlformats.org/officeDocument/2006/relationships/font" Target="fonts/IBMPlexSans-regular.fntdata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11" Type="http://schemas.openxmlformats.org/officeDocument/2006/relationships/slide" Target="slides/slide4.xml"/><Relationship Id="rId99" Type="http://schemas.openxmlformats.org/officeDocument/2006/relationships/slide" Target="slides/slide92.xml"/><Relationship Id="rId10" Type="http://schemas.openxmlformats.org/officeDocument/2006/relationships/slide" Target="slides/slide3.xml"/><Relationship Id="rId98" Type="http://schemas.openxmlformats.org/officeDocument/2006/relationships/slide" Target="slides/slide91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65" Type="http://schemas.openxmlformats.org/officeDocument/2006/relationships/slide" Target="slides/slide58.xml"/><Relationship Id="rId68" Type="http://schemas.openxmlformats.org/officeDocument/2006/relationships/slide" Target="slides/slide61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69" Type="http://schemas.openxmlformats.org/officeDocument/2006/relationships/slide" Target="slides/slide6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54" Type="http://schemas.openxmlformats.org/officeDocument/2006/relationships/slide" Target="slides/slide47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59" Type="http://schemas.openxmlformats.org/officeDocument/2006/relationships/slide" Target="slides/slide52.xml"/><Relationship Id="rId58" Type="http://schemas.openxmlformats.org/officeDocument/2006/relationships/slide" Target="slides/slide5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:notes"/>
          <p:cNvSpPr txBox="1"/>
          <p:nvPr>
            <p:ph idx="1"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:notes"/>
          <p:cNvSpPr/>
          <p:nvPr>
            <p:ph idx="2" type="sldImg"/>
          </p:nvPr>
        </p:nvSpPr>
        <p:spPr>
          <a:xfrm>
            <a:off x="533520" y="764280"/>
            <a:ext cx="6704640" cy="37713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" name="Google Shape;186;p2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55c61790e_0_333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g3a55c61790e_0_333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a55c61790e_0_333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" name="Google Shape;202;p3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" name="Google Shape;209;p4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5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9db70bedd_0_27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g399db70bedd_0_27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99db70bedd_0_27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55c61790e_0_342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g3a55c61790e_0_342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a55c61790e_0_342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6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" name="Google Shape;242;p6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6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1" name="Google Shape;251;p7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8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9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9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9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a55c61790e_0_4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5" name="Google Shape;275;g3a55c61790e_0_4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3a55c61790e_0_4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55c61790e_0_21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g3a55c61790e_0_21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g3a55c61790e_0_21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a4c6e25a2_0_4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g3aa4c6e25a2_0_4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3aa4c6e25a2_0_4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2" name="Google Shape;302;p11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56cecac73_0_0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0" name="Google Shape;310;g3a56cecac73_0_0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g3a56cecac73_0_0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55c61790e_0_32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9" name="Google Shape;319;g3a55c61790e_0_32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g3a55c61790e_0_32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a55c61790e_0_40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g3a55c61790e_0_40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g3a55c61790e_0_40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a4c6e25a2_0_25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6" name="Google Shape;336;g3aa4c6e25a2_0_25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aa4c6e25a2_0_25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919c3c80a_0_72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g3a919c3c80a_0_72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3a919c3c80a_0_72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64204d359_0_0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g3a64204d359_0_0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3a64204d359_0_0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55c61790e_0_351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g3a55c61790e_0_351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g3a55c61790e_0_351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a4c6e25a2_0_15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aa4c6e25a2_0_15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g3aa4c6e25a2_0_15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13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3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4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4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5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15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55c61790e_0_48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g3a55c61790e_0_48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a55c61790e_0_48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a55c61790e_0_55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g3a55c61790e_0_55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g3a55c61790e_0_55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16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4" name="Google Shape;424;p16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6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a55c61790e_0_68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g3a55c61790e_0_68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a55c61790e_0_68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a55c61790e_0_75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g3a55c61790e_0_75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g3a55c61790e_0_75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7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9" name="Google Shape;449;p17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7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55c61790e_0_83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7" name="Google Shape;457;g3a55c61790e_0_83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3a55c61790e_0_83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a55c61790e_0_90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g3a55c61790e_0_90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3a55c61790e_0_90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8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18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8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55c61790e_0_98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2" name="Google Shape;482;g3a55c61790e_0_98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a55c61790e_0_98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a55c61790e_0_105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0" name="Google Shape;490;g3a55c61790e_0_105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g3a55c61790e_0_105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aa4c6e25a2_0_38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9" name="Google Shape;499;g3aa4c6e25a2_0_38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3aa4c6e25a2_0_38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99db70bedd_0_0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8" name="Google Shape;508;g399db70bedd_0_0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g399db70bedd_0_0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99db70bedd_0_12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7" name="Google Shape;517;g399db70bedd_0_12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g399db70bedd_0_12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99db70bedd_0_20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g399db70bedd_0_20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g399db70bedd_0_20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aa4c6e25a2_1_0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aa4c6e25a2_1_0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g3aa4c6e25a2_1_0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9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19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9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20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6" name="Google Shape;556;p20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0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1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4" name="Google Shape;564;p21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1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a55c61790e_0_114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2" name="Google Shape;572;g3a55c61790e_0_114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a55c61790e_0_114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a55c61790e_0_121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g3a55c61790e_0_121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g3a55c61790e_0_121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9" name="Google Shape;589;p22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22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a55c61790e_0_136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g3a55c61790e_0_136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g3a55c61790e_0_136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a55c61790e_0_143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5" name="Google Shape;605;g3a55c61790e_0_143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g3a55c61790e_0_143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23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23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23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g3a55c61790e_0_151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g3a55c61790e_0_151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a55c61790e_0_151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g3a55c61790e_0_158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0" name="Google Shape;630;g3a55c61790e_0_158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g3a55c61790e_0_158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4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9" name="Google Shape;639;p24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4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a55c61790e_0_166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7" name="Google Shape;647;g3a55c61790e_0_166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g3a55c61790e_0_166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a55c61790e_0_173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5" name="Google Shape;655;g3a55c61790e_0_173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g3a55c61790e_0_173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3a919c3c80a_0_26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g3a919c3c80a_0_26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g3a919c3c80a_0_26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a919c3c80a_0_44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5" name="Google Shape;675;g3a919c3c80a_0_44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g3a919c3c80a_0_44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3a919c3c80a_0_0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4" name="Google Shape;684;g3a919c3c80a_0_0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g3a919c3c80a_0_0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a919c3c80a_0_14:notes"/>
          <p:cNvSpPr/>
          <p:nvPr>
            <p:ph idx="2" type="sldImg"/>
          </p:nvPr>
        </p:nvSpPr>
        <p:spPr>
          <a:xfrm>
            <a:off x="533520" y="764280"/>
            <a:ext cx="6704700" cy="377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3" name="Google Shape;693;g3a919c3c80a_0_14:notes"/>
          <p:cNvSpPr txBox="1"/>
          <p:nvPr>
            <p:ph idx="1" type="body"/>
          </p:nvPr>
        </p:nvSpPr>
        <p:spPr>
          <a:xfrm>
            <a:off x="777240" y="4777560"/>
            <a:ext cx="6217500" cy="45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a919c3c80a_0_14:notes"/>
          <p:cNvSpPr txBox="1"/>
          <p:nvPr>
            <p:ph idx="12" type="sldNum"/>
          </p:nvPr>
        </p:nvSpPr>
        <p:spPr>
          <a:xfrm>
            <a:off x="4399200" y="9555480"/>
            <a:ext cx="3372900" cy="5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PH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25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0" name="Google Shape;710;p25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1" name="Google Shape;711;p25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6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8" name="Google Shape;718;p26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26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27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6" name="Google Shape;726;p27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7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55c61790e_0_185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4" name="Google Shape;734;g3a55c61790e_0_185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g3a55c61790e_0_185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a55c61790e_0_192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2" name="Google Shape;742;g3a55c61790e_0_192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g3a55c61790e_0_192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28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1" name="Google Shape;751;p28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8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a55c61790e_0_201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9" name="Google Shape;759;g3a55c61790e_0_201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g3a55c61790e_0_201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a55c61790e_0_208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7" name="Google Shape;767;g3a55c61790e_0_208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a55c61790e_0_208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29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6" name="Google Shape;776;p29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29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3a55c61790e_0_216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4" name="Google Shape;784;g3a55c61790e_0_216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g3a55c61790e_0_216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3a55c61790e_0_227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2" name="Google Shape;792;g3a55c61790e_0_227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g3a55c61790e_0_227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0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1" name="Google Shape;801;p30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30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1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8" name="Google Shape;808;p31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1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32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6" name="Google Shape;816;p32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32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33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4" name="Google Shape;824;p33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5" name="Google Shape;825;p33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4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2" name="Google Shape;832;p34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34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5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0" name="Google Shape;840;p35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35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36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8" name="Google Shape;848;p36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36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37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6" name="Google Shape;856;p37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7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38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3" name="Google Shape;863;p38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38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39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1" name="Google Shape;871;p39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39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40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9" name="Google Shape;879;p40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40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1:notes"/>
          <p:cNvSpPr/>
          <p:nvPr>
            <p:ph idx="2" type="sldImg"/>
          </p:nvPr>
        </p:nvSpPr>
        <p:spPr>
          <a:xfrm>
            <a:off x="717480" y="1162080"/>
            <a:ext cx="5574240" cy="3135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7" name="Google Shape;887;p41:notes"/>
          <p:cNvSpPr txBox="1"/>
          <p:nvPr>
            <p:ph idx="1" type="body"/>
          </p:nvPr>
        </p:nvSpPr>
        <p:spPr>
          <a:xfrm>
            <a:off x="700920" y="4473720"/>
            <a:ext cx="560736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41:notes"/>
          <p:cNvSpPr/>
          <p:nvPr/>
        </p:nvSpPr>
        <p:spPr>
          <a:xfrm>
            <a:off x="3970800" y="8830080"/>
            <a:ext cx="3036600" cy="46548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a55c61790e_0_235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4" name="Google Shape;894;g3a55c61790e_0_235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g3a55c61790e_0_235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a55c61790e_0_246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2" name="Google Shape;902;g3a55c61790e_0_246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a55c61790e_0_246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3a55c61790e_0_257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0" name="Google Shape;910;g3a55c61790e_0_257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g3a55c61790e_0_257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3a55c61790e_0_266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9" name="Google Shape;919;g3a55c61790e_0_266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g3a55c61790e_0_266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3a55c61790e_0_299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7" name="Google Shape;927;g3a55c61790e_0_299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g3a55c61790e_0_299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a55c61790e_0_307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5" name="Google Shape;935;g3a55c61790e_0_307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g3a55c61790e_0_307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g3a55c61790e_0_316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3" name="Google Shape;943;g3a55c61790e_0_316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g3a55c61790e_0_316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a55c61790e_0_327:notes"/>
          <p:cNvSpPr/>
          <p:nvPr>
            <p:ph idx="2" type="sldImg"/>
          </p:nvPr>
        </p:nvSpPr>
        <p:spPr>
          <a:xfrm>
            <a:off x="717480" y="1162080"/>
            <a:ext cx="5574300" cy="3135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2" name="Google Shape;952;g3a55c61790e_0_327:notes"/>
          <p:cNvSpPr txBox="1"/>
          <p:nvPr>
            <p:ph idx="1" type="body"/>
          </p:nvPr>
        </p:nvSpPr>
        <p:spPr>
          <a:xfrm>
            <a:off x="700920" y="4473720"/>
            <a:ext cx="5607300" cy="3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425" lIns="93225" spcFirstLastPara="1" rIns="93225" wrap="square" tIns="46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g3a55c61790e_0_327:notes"/>
          <p:cNvSpPr/>
          <p:nvPr/>
        </p:nvSpPr>
        <p:spPr>
          <a:xfrm>
            <a:off x="3970800" y="8830080"/>
            <a:ext cx="3036600" cy="465600"/>
          </a:xfrm>
          <a:prstGeom prst="rect">
            <a:avLst/>
          </a:prstGeom>
          <a:noFill/>
          <a:ln>
            <a:noFill/>
          </a:ln>
        </p:spPr>
        <p:txBody>
          <a:bodyPr anchorCtr="0" anchor="b" bIns="46425" lIns="93225" spcFirstLastPara="1" rIns="93225" wrap="square" tIns="46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9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0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2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3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4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4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4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7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7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58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8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8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8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58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58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9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3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6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6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6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6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6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6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0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1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2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4"/>
          <p:cNvSpPr txBox="1"/>
          <p:nvPr>
            <p:ph idx="1"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7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6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7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76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7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7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7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77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8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78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78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9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7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7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7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79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0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80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80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80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80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80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80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jpg"/><Relationship Id="rId2" Type="http://schemas.openxmlformats.org/officeDocument/2006/relationships/image" Target="../media/image4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67880" y="0"/>
            <a:ext cx="1273680" cy="98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42"/>
          <p:cNvSpPr/>
          <p:nvPr/>
        </p:nvSpPr>
        <p:spPr>
          <a:xfrm>
            <a:off x="5175000" y="6591240"/>
            <a:ext cx="703188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2025" spcFirstLastPara="1" rIns="122025" wrap="square" tIns="608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939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939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2"/>
          <p:cNvSpPr/>
          <p:nvPr/>
        </p:nvSpPr>
        <p:spPr>
          <a:xfrm>
            <a:off x="5757840" y="63360"/>
            <a:ext cx="70056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2"/>
          <p:cNvSpPr/>
          <p:nvPr/>
        </p:nvSpPr>
        <p:spPr>
          <a:xfrm>
            <a:off x="1515240" y="6642000"/>
            <a:ext cx="918576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" name="Google Shape;14;p42"/>
          <p:cNvCxnSpPr/>
          <p:nvPr/>
        </p:nvCxnSpPr>
        <p:spPr>
          <a:xfrm>
            <a:off x="3610800" y="976680"/>
            <a:ext cx="0" cy="4572000"/>
          </a:xfrm>
          <a:prstGeom prst="straightConnector1">
            <a:avLst/>
          </a:prstGeom>
          <a:noFill/>
          <a:ln cap="flat" cmpd="sng" w="28425">
            <a:solidFill>
              <a:srgbClr val="9B1D23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5" name="Google Shape;15;p42"/>
          <p:cNvSpPr/>
          <p:nvPr/>
        </p:nvSpPr>
        <p:spPr>
          <a:xfrm>
            <a:off x="10667880" y="0"/>
            <a:ext cx="1421280" cy="78624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" name="Google Shape;16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1880" y="2088000"/>
            <a:ext cx="3478680" cy="2681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2"/>
          <p:cNvSpPr txBox="1"/>
          <p:nvPr>
            <p:ph type="title"/>
          </p:nvPr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p42"/>
          <p:cNvSpPr txBox="1"/>
          <p:nvPr>
            <p:ph idx="1" type="body"/>
          </p:nvPr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67880" y="0"/>
            <a:ext cx="1273680" cy="98316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4"/>
          <p:cNvSpPr/>
          <p:nvPr/>
        </p:nvSpPr>
        <p:spPr>
          <a:xfrm>
            <a:off x="5175000" y="6591240"/>
            <a:ext cx="703188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2025" spcFirstLastPara="1" rIns="122025" wrap="square" tIns="608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939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939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4"/>
          <p:cNvSpPr/>
          <p:nvPr/>
        </p:nvSpPr>
        <p:spPr>
          <a:xfrm>
            <a:off x="5757840" y="63360"/>
            <a:ext cx="70056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4"/>
          <p:cNvSpPr/>
          <p:nvPr/>
        </p:nvSpPr>
        <p:spPr>
          <a:xfrm>
            <a:off x="1515240" y="6642000"/>
            <a:ext cx="918576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44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44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46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67880" y="0"/>
            <a:ext cx="1273680" cy="9831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46"/>
          <p:cNvSpPr/>
          <p:nvPr/>
        </p:nvSpPr>
        <p:spPr>
          <a:xfrm>
            <a:off x="5175000" y="6591240"/>
            <a:ext cx="7031880" cy="2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825" lIns="122025" spcFirstLastPara="1" rIns="122025" wrap="square" tIns="608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939" u="none" cap="none" strike="noStrike">
                <a:solidFill>
                  <a:srgbClr val="9B1D23"/>
                </a:solidFill>
                <a:latin typeface="Arial"/>
                <a:ea typeface="Arial"/>
                <a:cs typeface="Arial"/>
                <a:sym typeface="Arial"/>
              </a:rPr>
              <a:t>THIS DOCUMENT IS THE PROPERTY OF BANK OF THE PHILIPPINE ISLANDS.  STRICTLY CONFIDENTIAL.</a:t>
            </a:r>
            <a:endParaRPr b="0" i="0" sz="939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6"/>
          <p:cNvSpPr/>
          <p:nvPr/>
        </p:nvSpPr>
        <p:spPr>
          <a:xfrm>
            <a:off x="5757840" y="63360"/>
            <a:ext cx="70056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Confidential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6"/>
          <p:cNvSpPr/>
          <p:nvPr/>
        </p:nvSpPr>
        <p:spPr>
          <a:xfrm>
            <a:off x="1515240" y="6642000"/>
            <a:ext cx="9185760" cy="3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document contains confidential data. It is intended solely for  the use of authorized recipient(s). Unauthorized use, disclosure, or reproduction  is strictly prohibited.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6"/>
          <p:cNvSpPr txBox="1"/>
          <p:nvPr>
            <p:ph type="title"/>
          </p:nvPr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8" name="Google Shape;128;p46"/>
          <p:cNvSpPr txBox="1"/>
          <p:nvPr>
            <p:ph idx="1" type="body"/>
          </p:nvPr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5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7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0.png"/><Relationship Id="rId7" Type="http://schemas.openxmlformats.org/officeDocument/2006/relationships/image" Target="../media/image28.png"/><Relationship Id="rId8" Type="http://schemas.openxmlformats.org/officeDocument/2006/relationships/image" Target="../media/image34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2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6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2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"/>
          <p:cNvSpPr/>
          <p:nvPr/>
        </p:nvSpPr>
        <p:spPr>
          <a:xfrm>
            <a:off x="3848040" y="983520"/>
            <a:ext cx="6818760" cy="2816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5340" u="none" cap="none" strike="noStrike">
                <a:solidFill>
                  <a:srgbClr val="9B1D23"/>
                </a:solidFill>
                <a:latin typeface="Arial Black"/>
                <a:ea typeface="Arial Black"/>
                <a:cs typeface="Arial Black"/>
                <a:sym typeface="Arial Black"/>
              </a:rPr>
              <a:t>Module 3: Collections &amp; Generics / Data Structure</a:t>
            </a:r>
            <a:endParaRPr b="0" i="0" sz="534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"/>
          <p:cNvSpPr/>
          <p:nvPr/>
        </p:nvSpPr>
        <p:spPr>
          <a:xfrm>
            <a:off x="3848040" y="3893040"/>
            <a:ext cx="6818760" cy="165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PH" sz="1800">
                <a:latin typeface="Calibri"/>
                <a:ea typeface="Calibri"/>
                <a:cs typeface="Calibri"/>
                <a:sym typeface="Calibri"/>
              </a:rPr>
              <a:t>A BPI Training Program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"/>
          <p:cNvSpPr/>
          <p:nvPr/>
        </p:nvSpPr>
        <p:spPr>
          <a:xfrm>
            <a:off x="0" y="6455520"/>
            <a:ext cx="1014840" cy="40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PH" sz="16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Topics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0" name="Google Shape;190;p2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1" name="Google Shape;191;p2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PH" sz="2900" u="none" cap="none" strike="noStrike">
                <a:solidFill>
                  <a:srgbClr val="000000"/>
                </a:solidFill>
              </a:rPr>
              <a:t>• Collections Overview</a:t>
            </a:r>
            <a:endParaRPr i="0" sz="29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PH" sz="2900" u="none" cap="none" strike="noStrike">
                <a:solidFill>
                  <a:srgbClr val="000000"/>
                </a:solidFill>
              </a:rPr>
              <a:t>• List, Set, Map, Queue Interfaces</a:t>
            </a:r>
            <a:endParaRPr i="0" sz="29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PH" sz="2900" u="none" cap="none" strike="noStrike">
                <a:solidFill>
                  <a:srgbClr val="000000"/>
                </a:solidFill>
              </a:rPr>
              <a:t>• Iteration and Enhanced For</a:t>
            </a:r>
            <a:r>
              <a:rPr lang="en-PH" sz="2900"/>
              <a:t>-</a:t>
            </a:r>
            <a:r>
              <a:rPr i="0" lang="en-PH" sz="2900" u="none" cap="none" strike="noStrike">
                <a:solidFill>
                  <a:srgbClr val="000000"/>
                </a:solidFill>
              </a:rPr>
              <a:t>Loop</a:t>
            </a:r>
            <a:endParaRPr i="0" sz="29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PH" sz="2900" u="none" cap="none" strike="noStrike">
                <a:solidFill>
                  <a:srgbClr val="000000"/>
                </a:solidFill>
              </a:rPr>
              <a:t>• Generics: Type Safety and Flexibility</a:t>
            </a:r>
            <a:endParaRPr i="0" sz="29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PH" sz="2900" u="none" cap="none" strike="noStrike">
                <a:solidFill>
                  <a:srgbClr val="000000"/>
                </a:solidFill>
              </a:rPr>
              <a:t>• Functional Interfaces and Lambda Expressions</a:t>
            </a:r>
            <a:endParaRPr i="0" sz="29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PH" sz="2900" u="none" cap="none" strike="noStrike">
                <a:solidFill>
                  <a:srgbClr val="000000"/>
                </a:solidFill>
              </a:rPr>
              <a:t>• Summary &amp; Q&amp;A</a:t>
            </a:r>
            <a:endParaRPr i="0" sz="29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55c61790e_0_333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Objectives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g3a55c61790e_0_333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99" name="Google Shape;199;g3a55c61790e_0_333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Arial"/>
              <a:buAutoNum type="arabicPeriod"/>
            </a:pPr>
            <a:r>
              <a:rPr lang="en-PH" sz="2900"/>
              <a:t>Understand </a:t>
            </a:r>
            <a:r>
              <a:rPr lang="en-PH" sz="2900"/>
              <a:t>the concept of Collections</a:t>
            </a:r>
            <a:endParaRPr sz="2900"/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AutoNum type="arabicPeriod"/>
            </a:pPr>
            <a:r>
              <a:rPr lang="en-PH" sz="2900"/>
              <a:t>Learn the hierarchy and core interfaces of Collections</a:t>
            </a:r>
            <a:endParaRPr sz="2900"/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AutoNum type="arabicPeriod"/>
            </a:pPr>
            <a:r>
              <a:rPr lang="en-PH" sz="2900"/>
              <a:t>Explore common implementations of Collections</a:t>
            </a:r>
            <a:endParaRPr sz="2900"/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AutoNum type="arabicPeriod"/>
            </a:pPr>
            <a:r>
              <a:rPr lang="en-PH" sz="2900"/>
              <a:t>Practical usage of each implementations of Collections</a:t>
            </a:r>
            <a:endParaRPr sz="2900"/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AutoNum type="arabicPeriod"/>
            </a:pPr>
            <a:r>
              <a:rPr lang="en-PH" sz="2900">
                <a:solidFill>
                  <a:schemeClr val="dk1"/>
                </a:solidFill>
              </a:rPr>
              <a:t>Learn about Generics and Type Safety</a:t>
            </a:r>
            <a:endParaRPr sz="2900"/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AutoNum type="arabicPeriod"/>
            </a:pPr>
            <a:r>
              <a:rPr lang="en-PH" sz="2900"/>
              <a:t>Learn basic knowledge about Functional Interfaces and Lambda Expressions</a:t>
            </a:r>
            <a:endParaRPr sz="2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5" name="Google Shape;205;p3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6" name="Google Shape;206;p3"/>
          <p:cNvSpPr/>
          <p:nvPr/>
        </p:nvSpPr>
        <p:spPr>
          <a:xfrm>
            <a:off x="340200" y="136332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6000" u="none" cap="none" strike="noStrike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Collections Overview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Collections Overview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3" name="Google Shape;213;p4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14" name="Google Shape;214;p4"/>
          <p:cNvSpPr/>
          <p:nvPr/>
        </p:nvSpPr>
        <p:spPr>
          <a:xfrm>
            <a:off x="505800" y="1600200"/>
            <a:ext cx="11179080" cy="517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What is Collection in Java?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Collection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Java is a group of objects, like a container that holds multiple items together.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It helps in storing, retrieving, and manipulating data easily.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Collections Overview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5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22" name="Google Shape;222;p5"/>
          <p:cNvSpPr/>
          <p:nvPr/>
        </p:nvSpPr>
        <p:spPr>
          <a:xfrm>
            <a:off x="505800" y="1600200"/>
            <a:ext cx="11179080" cy="64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Why Use Collection?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Organizing and grouping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in size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Built-in methods ( add(), remove(), contains(), size(), sort() etc. 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 Safety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Variety of Data Structures (List, Set, Map</a:t>
            </a:r>
            <a:r>
              <a:rPr lang="en-PH" sz="2800"/>
              <a:t>, Queue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Easy Iteration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Ready for Advanced Operations (Streams, Sorting and Searching)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99db70bedd_0_27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Collections Overview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g399db70bedd_0_27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0" name="Google Shape;230;g399db70bedd_0_27"/>
          <p:cNvSpPr/>
          <p:nvPr/>
        </p:nvSpPr>
        <p:spPr>
          <a:xfrm>
            <a:off x="505800" y="1600200"/>
            <a:ext cx="11179200" cy="6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Limitation of Collections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2800" u="none" cap="none" strike="noStrike"/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PH" sz="2800">
                <a:solidFill>
                  <a:schemeClr val="dk1"/>
                </a:solidFill>
              </a:rPr>
              <a:t>No Support for Primitive Data Types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PH" sz="2800">
                <a:solidFill>
                  <a:schemeClr val="dk1"/>
                </a:solidFill>
              </a:rPr>
              <a:t>Not Thread-Safe by Default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PH" sz="2800">
                <a:solidFill>
                  <a:schemeClr val="dk1"/>
                </a:solidFill>
              </a:rPr>
              <a:t>Performance Limitations and </a:t>
            </a:r>
            <a:r>
              <a:rPr lang="en-PH" sz="2800">
                <a:solidFill>
                  <a:schemeClr val="dk1"/>
                </a:solidFill>
              </a:rPr>
              <a:t>Higher Memory Usage</a:t>
            </a:r>
            <a:endParaRPr sz="28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PH" sz="2800">
                <a:solidFill>
                  <a:schemeClr val="dk1"/>
                </a:solidFill>
              </a:rPr>
              <a:t>Limited Index Access</a:t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55c61790e_0_342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Collections Overview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7" name="Google Shape;237;g3a55c61790e_0_342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38" name="Google Shape;238;g3a55c61790e_0_342"/>
          <p:cNvSpPr/>
          <p:nvPr/>
        </p:nvSpPr>
        <p:spPr>
          <a:xfrm>
            <a:off x="505800" y="1600200"/>
            <a:ext cx="11179200" cy="64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Common Methods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9" name="Google Shape;239;g3a55c61790e_0_342"/>
          <p:cNvGraphicFramePr/>
          <p:nvPr/>
        </p:nvGraphicFramePr>
        <p:xfrm>
          <a:off x="639825" y="220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{7ED3544F-2B16-4A5E-8BA2-DB56DC928FEF}</a:tableStyleId>
              </a:tblPr>
              <a:tblGrid>
                <a:gridCol w="3703275"/>
                <a:gridCol w="7762050"/>
              </a:tblGrid>
              <a:tr h="4350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Method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What it Does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add(element)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Add an element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remove(element)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Remove an element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01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get(index)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Get element by index (List only)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12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contains(element)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Check if element exists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size()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Number of elements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clear()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Remove all elements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57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isEmpty()</a:t>
                      </a:r>
                      <a:endParaRPr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Check if collection is empty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6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Java Collections Framework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6" name="Google Shape;246;p6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47" name="Google Shape;247;p6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Collections Framework</a:t>
            </a:r>
            <a:r>
              <a:rPr b="0" i="0" lang="en-PH" sz="28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Java is a group of interfaces and classes that make handling data simple and powerful.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4720" y="2952000"/>
            <a:ext cx="8458560" cy="2490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4" name="Google Shape;254;p7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55" name="Google Shape;255;p7"/>
          <p:cNvSpPr/>
          <p:nvPr/>
        </p:nvSpPr>
        <p:spPr>
          <a:xfrm>
            <a:off x="340200" y="136332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6000" u="none" cap="none" strike="noStrike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List, Set, Map, Queue Interfaces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8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p8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63" name="Google Shape;263;p8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List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 is an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ordered collection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allows duplicate elements.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 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can be accessed by their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position (index).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40000" y="3888000"/>
            <a:ext cx="6208920" cy="1583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ArrayList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1" name="Google Shape;271;p9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72" name="Google Shape;272;p9"/>
          <p:cNvSpPr/>
          <p:nvPr/>
        </p:nvSpPr>
        <p:spPr>
          <a:xfrm>
            <a:off x="505800" y="1600200"/>
            <a:ext cx="11179080" cy="7094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ArrayList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is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data structure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stores a collection of data elements in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contiguous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memory location.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Elements are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stored sequentially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can be accessed using their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Internally, it uses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resizable array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store elements, allowing dynamic resizing when the capacity is exceeded.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The first element is at index 0, and the last element is at index size - 1.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55c61790e_0_4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ArrayList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9" name="Google Shape;279;g3a55c61790e_0_4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0" name="Google Shape;280;g3a55c61790e_0_4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ArrayList?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fast random access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mostly add elements at the </a:t>
            </a:r>
            <a:r>
              <a:rPr i="1" lang="en-PH" sz="2800"/>
              <a:t>end</a:t>
            </a:r>
            <a:endParaRPr i="1" sz="2800" u="none" cap="none" strike="noStrike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do not frequently insert/delete in the middle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a resizable array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a55c61790e_0_21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ArrayList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7" name="Google Shape;287;g3a55c61790e_0_21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88" name="Google Shape;288;g3a55c61790e_0_21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ArrayList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Music/Songs Playlist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g3a55c61790e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0801" y="2356209"/>
            <a:ext cx="5475876" cy="410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a4c6e25a2_0_4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ArrayList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6" name="Google Shape;296;g3aa4c6e25a2_0_4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97" name="Google Shape;297;g3aa4c6e25a2_0_4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How to Instantiate an ArrayList?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aa4c6e25a2_0_4"/>
          <p:cNvSpPr txBox="1"/>
          <p:nvPr/>
        </p:nvSpPr>
        <p:spPr>
          <a:xfrm>
            <a:off x="1707575" y="2925980"/>
            <a:ext cx="851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List&lt;String&gt; </a:t>
            </a:r>
            <a:r>
              <a:rPr lang="en-PH" sz="2200">
                <a:solidFill>
                  <a:srgbClr val="6A3E3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studentList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-PH" sz="2200">
                <a:solidFill>
                  <a:srgbClr val="7F00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ArrayList&lt;&gt;();</a:t>
            </a:r>
            <a:endParaRPr sz="2600">
              <a:highlight>
                <a:schemeClr val="lt1"/>
              </a:highlight>
            </a:endParaRPr>
          </a:p>
        </p:txBody>
      </p:sp>
      <p:sp>
        <p:nvSpPr>
          <p:cNvPr id="299" name="Google Shape;299;g3aa4c6e25a2_0_4"/>
          <p:cNvSpPr txBox="1"/>
          <p:nvPr/>
        </p:nvSpPr>
        <p:spPr>
          <a:xfrm>
            <a:off x="1707575" y="3586030"/>
            <a:ext cx="85194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List&lt;String&gt; </a:t>
            </a:r>
            <a:r>
              <a:rPr lang="en-PH" sz="2200">
                <a:solidFill>
                  <a:srgbClr val="6A3E3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studentList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Arrays.asList(“Alice”, </a:t>
            </a:r>
            <a:b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“Bob”, “Charlie”);</a:t>
            </a:r>
            <a:endParaRPr sz="26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LinkedList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11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07" name="Google Shape;307;p11"/>
          <p:cNvSpPr/>
          <p:nvPr/>
        </p:nvSpPr>
        <p:spPr>
          <a:xfrm>
            <a:off x="505800" y="1600200"/>
            <a:ext cx="11179080" cy="4375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LinkedList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is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linear data structure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stores a collection of data elements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dynamically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PH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 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Nodes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represent those data elements and </a:t>
            </a:r>
            <a:r>
              <a:rPr lang="en-PH" sz="2800"/>
              <a:t>references that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connect each node.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56cecac73_0_0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LinkedList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g3a56cecac73_0_0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15" name="Google Shape;315;g3a56cecac73_0_0"/>
          <p:cNvSpPr/>
          <p:nvPr/>
        </p:nvSpPr>
        <p:spPr>
          <a:xfrm>
            <a:off x="505800" y="1600200"/>
            <a:ext cx="11179200" cy="43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6" name="Google Shape;316;g3a56cecac7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7776" y="1700776"/>
            <a:ext cx="5861299" cy="416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a55c61790e_0_32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LinkedList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3" name="Google Shape;323;g3a55c61790e_0_32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24" name="Google Shape;324;g3a55c61790e_0_32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LinkedList?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frequent insertions/deletions in the middle of the list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care about stable references to elements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mostly move through the list from start to end and you don’t need to access the elements by their index.</a:t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55c61790e_0_40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LinkedList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1" name="Google Shape;331;g3a55c61790e_0_40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32" name="Google Shape;332;g3a55c61790e_0_40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LinkedList (Example)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Undo / Redo functionality in text editors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g3a55c61790e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825" y="339842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aa4c6e25a2_0_25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ArrayList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g3aa4c6e25a2_0_25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41" name="Google Shape;341;g3aa4c6e25a2_0_25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How to Instantiate a LinkedList?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3aa4c6e25a2_0_25"/>
          <p:cNvSpPr txBox="1"/>
          <p:nvPr/>
        </p:nvSpPr>
        <p:spPr>
          <a:xfrm>
            <a:off x="1707575" y="2925980"/>
            <a:ext cx="851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List&lt;String&gt; </a:t>
            </a:r>
            <a:r>
              <a:rPr lang="en-PH" sz="2200">
                <a:solidFill>
                  <a:srgbClr val="6A3E3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studentList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-PH" sz="2200">
                <a:solidFill>
                  <a:srgbClr val="7F00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LinkedList&lt;&gt;();</a:t>
            </a:r>
            <a:endParaRPr sz="2600">
              <a:highlight>
                <a:schemeClr val="lt1"/>
              </a:highlight>
            </a:endParaRPr>
          </a:p>
        </p:txBody>
      </p:sp>
      <p:sp>
        <p:nvSpPr>
          <p:cNvPr id="343" name="Google Shape;343;g3aa4c6e25a2_0_25"/>
          <p:cNvSpPr txBox="1"/>
          <p:nvPr/>
        </p:nvSpPr>
        <p:spPr>
          <a:xfrm>
            <a:off x="1707575" y="3733700"/>
            <a:ext cx="9653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List&lt;String&gt; </a:t>
            </a:r>
            <a:r>
              <a:rPr lang="en-PH" sz="2200">
                <a:solidFill>
                  <a:srgbClr val="6A3E3E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studentList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= </a:t>
            </a:r>
            <a:r>
              <a:rPr b="1" lang="en-PH" sz="2200">
                <a:solidFill>
                  <a:srgbClr val="7F0055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2200">
              <a:solidFill>
                <a:schemeClr val="dk1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200">
                <a:solidFill>
                  <a:schemeClr val="dk1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LinkedList&lt;&gt;(Arrays.asList(“Alice”, ”Charlie”,“Bob”));</a:t>
            </a:r>
            <a:endParaRPr sz="2600"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919c3c80a_0_72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LinkedList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g3a919c3c80a_0_72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51" name="Google Shape;351;g3a919c3c80a_0_72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ArrayList vs LinkedList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2" name="Google Shape;352;g3a919c3c80a_0_72"/>
          <p:cNvGraphicFramePr/>
          <p:nvPr/>
        </p:nvGraphicFramePr>
        <p:xfrm>
          <a:off x="682575" y="238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{7ED3544F-2B16-4A5E-8BA2-DB56DC928FEF}</a:tableStyleId>
              </a:tblPr>
              <a:tblGrid>
                <a:gridCol w="2515250"/>
                <a:gridCol w="1119350"/>
                <a:gridCol w="3318575"/>
              </a:tblGrid>
              <a:tr h="429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Operation (Java)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ArrayList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LinkedList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get(i)</a:t>
                      </a:r>
                      <a:r>
                        <a:rPr lang="en-PH" sz="1200"/>
                        <a:t> (random access)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 O(1)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O(n)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set(i)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 O(1)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O(n)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add(E)</a:t>
                      </a:r>
                      <a:r>
                        <a:rPr lang="en-PH" sz="1200"/>
                        <a:t> at end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 O(1)*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 O(1)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add(i, E)</a:t>
                      </a:r>
                      <a:r>
                        <a:rPr lang="en-PH" sz="1200"/>
                        <a:t> in middle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O(n)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/</a:t>
                      </a: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O(n) traversal, O(1) insert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remove(i)</a:t>
                      </a:r>
                      <a:r>
                        <a:rPr lang="en-PH" sz="1200"/>
                        <a:t> in middle</a:t>
                      </a:r>
                      <a:endParaRPr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O(n)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/</a:t>
                      </a: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O(n) traversal, O(1) delete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add/remove at start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O(n)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 O(1)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iteration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 fast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slower</a:t>
                      </a:r>
                      <a:endParaRPr sz="1500"/>
                    </a:p>
                  </a:txBody>
                  <a:tcPr marT="91425" marB="91425" marR="91425" marL="91425"/>
                </a:tc>
              </a:tr>
              <a:tr h="450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200"/>
                        <a:t>memory usage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00FF00"/>
                          </a:solidFill>
                        </a:rPr>
                        <a:t>✔</a:t>
                      </a:r>
                      <a:r>
                        <a:rPr lang="en-PH" sz="1500"/>
                        <a:t> low</a:t>
                      </a:r>
                      <a:endParaRPr sz="15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500">
                          <a:solidFill>
                            <a:srgbClr val="FF0000"/>
                          </a:solidFill>
                        </a:rPr>
                        <a:t>✘</a:t>
                      </a:r>
                      <a:r>
                        <a:rPr lang="en-PH" sz="1500"/>
                        <a:t> high (node overhead)</a:t>
                      </a:r>
                      <a:endParaRPr sz="15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a64204d359_0_0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LinkedList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9" name="Google Shape;359;g3a64204d359_0_0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0" name="Google Shape;360;g3a64204d359_0_0"/>
          <p:cNvSpPr/>
          <p:nvPr/>
        </p:nvSpPr>
        <p:spPr>
          <a:xfrm>
            <a:off x="505800" y="1600200"/>
            <a:ext cx="109614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How To Go Through The List?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PH" sz="2300">
                <a:solidFill>
                  <a:schemeClr val="dk1"/>
                </a:solidFill>
              </a:rPr>
              <a:t>While &amp; do while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PH" sz="2300">
                <a:solidFill>
                  <a:schemeClr val="dk1"/>
                </a:solidFill>
              </a:rPr>
              <a:t>Traditional For-Loop using index</a:t>
            </a:r>
            <a:endParaRPr b="1" sz="2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-374650" lvl="0" marL="45720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PH" sz="2300">
                <a:solidFill>
                  <a:schemeClr val="dk1"/>
                </a:solidFill>
              </a:rPr>
              <a:t>Enhanced For-loop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PH" sz="2300">
                <a:solidFill>
                  <a:schemeClr val="dk1"/>
                </a:solidFill>
              </a:rPr>
              <a:t>Iterator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PH" sz="2300">
                <a:solidFill>
                  <a:schemeClr val="dk1"/>
                </a:solidFill>
              </a:rPr>
              <a:t>For-each (Java 8)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g3a64204d359_0_0"/>
          <p:cNvSpPr txBox="1"/>
          <p:nvPr/>
        </p:nvSpPr>
        <p:spPr>
          <a:xfrm>
            <a:off x="1530625" y="4155850"/>
            <a:ext cx="590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a64204d359_0_0"/>
          <p:cNvSpPr txBox="1"/>
          <p:nvPr/>
        </p:nvSpPr>
        <p:spPr>
          <a:xfrm>
            <a:off x="1299625" y="3280800"/>
            <a:ext cx="7552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List&lt;String&gt; fruits = Arrays</a:t>
            </a:r>
            <a:r>
              <a:rPr lang="en-PH" sz="1800"/>
              <a:t>.asList("apple", "banana", "cherry");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for (int i = 0; i &lt; fruits.size(); i++) {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	System.out.println(fruits.get(i));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}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a55c61790e_0_351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9" name="Google Shape;369;g3a55c61790e_0_351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0" name="Google Shape;370;g3a55c61790e_0_351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Activity #1: Product List (M3_ACTIVITY1)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-2025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Noto Sans Symbols"/>
              <a:buChar char="●"/>
            </a:pPr>
            <a:r>
              <a:rPr b="1" lang="en-PH" sz="2600">
                <a:solidFill>
                  <a:schemeClr val="dk1"/>
                </a:solidFill>
              </a:rPr>
              <a:t>Goal: </a:t>
            </a:r>
            <a:r>
              <a:rPr lang="en-PH" sz="2600">
                <a:solidFill>
                  <a:schemeClr val="dk1"/>
                </a:solidFill>
              </a:rPr>
              <a:t>Practice</a:t>
            </a:r>
            <a:r>
              <a:rPr b="1" lang="en-PH" sz="2600">
                <a:solidFill>
                  <a:schemeClr val="dk1"/>
                </a:solidFill>
              </a:rPr>
              <a:t> List </a:t>
            </a:r>
            <a:r>
              <a:rPr lang="en-PH" sz="2600">
                <a:solidFill>
                  <a:schemeClr val="dk1"/>
                </a:solidFill>
              </a:rPr>
              <a:t>Operations</a:t>
            </a:r>
            <a:endParaRPr sz="2600">
              <a:solidFill>
                <a:schemeClr val="dk1"/>
              </a:solidFill>
            </a:endParaRPr>
          </a:p>
          <a:p>
            <a:pPr indent="-2025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Noto Sans Symbols"/>
              <a:buChar char="●"/>
            </a:pPr>
            <a:r>
              <a:rPr b="1" lang="en-PH" sz="2600">
                <a:solidFill>
                  <a:schemeClr val="dk1"/>
                </a:solidFill>
              </a:rPr>
              <a:t>Task: 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600">
                <a:solidFill>
                  <a:schemeClr val="dk1"/>
                </a:solidFill>
              </a:rPr>
              <a:t>1.	Create a List of Products with 5 records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600">
                <a:solidFill>
                  <a:schemeClr val="dk1"/>
                </a:solidFill>
              </a:rPr>
              <a:t>       - Laptop, Mouse, Keyboard, Monitor, Printer</a:t>
            </a:r>
            <a:endParaRPr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600">
                <a:solidFill>
                  <a:schemeClr val="dk1"/>
                </a:solidFill>
              </a:rPr>
              <a:t>2.  Print all products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600">
                <a:solidFill>
                  <a:schemeClr val="dk1"/>
                </a:solidFill>
              </a:rPr>
              <a:t>3.  Add a new product (</a:t>
            </a:r>
            <a:r>
              <a:rPr b="1" lang="en-PH" sz="2600">
                <a:solidFill>
                  <a:srgbClr val="188038"/>
                </a:solidFill>
              </a:rPr>
              <a:t>Webcam</a:t>
            </a:r>
            <a:r>
              <a:rPr b="1" lang="en-PH" sz="2600">
                <a:solidFill>
                  <a:schemeClr val="dk1"/>
                </a:solidFill>
              </a:rPr>
              <a:t>) and remove one product (</a:t>
            </a:r>
            <a:r>
              <a:rPr b="1" lang="en-PH" sz="2600">
                <a:solidFill>
                  <a:srgbClr val="C9211E"/>
                </a:solidFill>
              </a:rPr>
              <a:t>Mouse</a:t>
            </a:r>
            <a:r>
              <a:rPr b="1" lang="en-PH" sz="2600">
                <a:solidFill>
                  <a:schemeClr val="dk1"/>
                </a:solidFill>
              </a:rPr>
              <a:t>) and print the updated list.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600">
                <a:solidFill>
                  <a:schemeClr val="dk1"/>
                </a:solidFill>
              </a:rPr>
              <a:t>4.  Find a product by name using two ways. You can use either</a:t>
            </a:r>
            <a:endParaRPr b="1"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600">
                <a:solidFill>
                  <a:schemeClr val="dk1"/>
                </a:solidFill>
              </a:rPr>
              <a:t>     4.1. Traditional for-loop</a:t>
            </a:r>
            <a:endParaRPr sz="26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600">
                <a:solidFill>
                  <a:schemeClr val="dk1"/>
                </a:solidFill>
              </a:rPr>
              <a:t>     4.2. contains() method</a:t>
            </a:r>
            <a:endParaRPr sz="26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aa4c6e25a2_0_15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7" name="Google Shape;377;g3aa4c6e25a2_0_15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78" name="Google Shape;378;g3aa4c6e25a2_0_15"/>
          <p:cNvSpPr/>
          <p:nvPr/>
        </p:nvSpPr>
        <p:spPr>
          <a:xfrm>
            <a:off x="505800" y="1600200"/>
            <a:ext cx="11179200" cy="55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Activity</a:t>
            </a:r>
            <a:r>
              <a:rPr b="1" lang="en-PH" sz="3200">
                <a:solidFill>
                  <a:srgbClr val="C9211E"/>
                </a:solidFill>
              </a:rPr>
              <a:t> #1: Product List (Expected Result)</a:t>
            </a:r>
            <a:endParaRPr b="1" sz="3200">
              <a:solidFill>
                <a:srgbClr val="C9211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9" name="Google Shape;379;g3aa4c6e25a2_0_15" title="Screenshot from 2025-12-12 12-50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427" y="2298027"/>
            <a:ext cx="4716900" cy="356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aa4c6e25a2_0_15" title="Screenshot from 2025-12-12 12-51-2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61325" y="2226828"/>
            <a:ext cx="4081075" cy="346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3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13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88" name="Google Shape;388;p13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unordered collection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allow duplicate elements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Elements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be accessed by index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because there is no  guaranteed order.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4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14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96" name="Google Shape;3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4000" y="1584000"/>
            <a:ext cx="6263280" cy="417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5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3" name="Google Shape;403;p15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04" name="Google Shape;404;p15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HashSet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collection that stores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elements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guaranteed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index access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 add, remove, and lookup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operations.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a55c61790e_0_48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1" name="Google Shape;411;g3a55c61790e_0_48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12" name="Google Shape;412;g3a55c61790e_0_48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HashSet?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to prevent duplicates automatically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fast checking if a record exists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are not concerned with the order of the elements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a55c61790e_0_55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9" name="Google Shape;419;g3a55c61790e_0_55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0" name="Google Shape;420;g3a55c61790e_0_55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HashSet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rPr lang="en-PH" sz="2800"/>
              <a:t>  User Registration 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421" name="Google Shape;421;g3a55c61790e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4975" y="2154875"/>
            <a:ext cx="4239826" cy="423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6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8" name="Google Shape;428;p16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29" name="Google Shape;429;p16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LinkedHashSet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elements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a hash table with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linkedList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maintain insertion order.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be accessed by index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Slightly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slower than HashSet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due to ordering.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a55c61790e_0_68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6" name="Google Shape;436;g3a55c61790e_0_68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37" name="Google Shape;437;g3a55c61790e_0_68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LinkedHashSet?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Duplicates are not allowed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Order matters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Fast lookups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Iteration in order</a:t>
            </a:r>
            <a:endParaRPr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a55c61790e_0_75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g3a55c61790e_0_75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45" name="Google Shape;445;g3a55c61790e_0_75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LinkedHashSet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rPr lang="en-PH" sz="2800"/>
              <a:t>Event Logs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446" name="Google Shape;446;g3a55c61790e_0_75"/>
          <p:cNvPicPr preferRelativeResize="0"/>
          <p:nvPr/>
        </p:nvPicPr>
        <p:blipFill rotWithShape="1">
          <a:blip r:embed="rId3">
            <a:alphaModFix/>
          </a:blip>
          <a:srcRect b="1320" l="-1100" r="1100" t="-1319"/>
          <a:stretch/>
        </p:blipFill>
        <p:spPr>
          <a:xfrm>
            <a:off x="3974000" y="2552275"/>
            <a:ext cx="3515825" cy="351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7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3" name="Google Shape;453;p17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4" name="Google Shape;454;p17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TreeSet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unique elements in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sorted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Slower than HashSet and LinkedHashSet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keeps things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sorted</a:t>
            </a:r>
            <a:endParaRPr b="1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55c61790e_0_83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1" name="Google Shape;461;g3a55c61790e_0_83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62" name="Google Shape;462;g3a55c61790e_0_83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TreeSet?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Unique Items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items in sorted order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Range queries</a:t>
            </a:r>
            <a:endParaRPr sz="2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a55c61790e_0_90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g3a55c61790e_0_90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70" name="Google Shape;470;g3a55c61790e_0_90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TreeSet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rPr lang="en-PH" sz="2800"/>
              <a:t>Scheduling events or appointments</a:t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471" name="Google Shape;471;g3a55c61790e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9600" y="2200825"/>
            <a:ext cx="3593650" cy="359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18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8" name="Google Shape;478;p18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79" name="Google Shape;479;p18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EnumSet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 Set for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enum types only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fast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memory-efficient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3a55c61790e_0_98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g3a55c61790e_0_98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87" name="Google Shape;487;g3a55c61790e_0_98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EnumSet?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have a fixed set of constants and unique enum values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Fast set operations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Compact memory usage</a:t>
            </a:r>
            <a:endParaRPr sz="2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55c61790e_0_105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g3a55c61790e_0_105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95" name="Google Shape;495;g3a55c61790e_0_105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EnumSet?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3200"/>
              <a:t>User Roles or Permissions</a:t>
            </a:r>
            <a:endParaRPr sz="3200"/>
          </a:p>
        </p:txBody>
      </p:sp>
      <p:pic>
        <p:nvPicPr>
          <p:cNvPr id="496" name="Google Shape;496;g3a55c61790e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138" y="33719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a4c6e25a2_0_38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3" name="Google Shape;503;g3aa4c6e25a2_0_38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4" name="Google Shape;504;g3aa4c6e25a2_0_38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chemeClr val="dk1"/>
                </a:solidFill>
              </a:rPr>
              <a:t>HashSet</a:t>
            </a:r>
            <a:r>
              <a:rPr b="1" lang="en-PH" sz="3200">
                <a:solidFill>
                  <a:srgbClr val="C9211E"/>
                </a:solidFill>
              </a:rPr>
              <a:t> vs </a:t>
            </a:r>
            <a:r>
              <a:rPr b="1" lang="en-PH" sz="3200">
                <a:solidFill>
                  <a:schemeClr val="dk1"/>
                </a:solidFill>
              </a:rPr>
              <a:t>LinkedHashSet</a:t>
            </a:r>
            <a:r>
              <a:rPr b="1" lang="en-PH" sz="3200">
                <a:solidFill>
                  <a:srgbClr val="C9211E"/>
                </a:solidFill>
              </a:rPr>
              <a:t> vs </a:t>
            </a:r>
            <a:r>
              <a:rPr b="1" lang="en-PH" sz="3200">
                <a:solidFill>
                  <a:schemeClr val="dk1"/>
                </a:solidFill>
              </a:rPr>
              <a:t>TreeSet</a:t>
            </a:r>
            <a:r>
              <a:rPr b="1" lang="en-PH" sz="3200">
                <a:solidFill>
                  <a:srgbClr val="C9211E"/>
                </a:solidFill>
              </a:rPr>
              <a:t> vs </a:t>
            </a:r>
            <a:r>
              <a:rPr b="1" lang="en-PH" sz="3200">
                <a:solidFill>
                  <a:schemeClr val="dk1"/>
                </a:solidFill>
              </a:rPr>
              <a:t>EnumSet</a:t>
            </a:r>
            <a:endParaRPr sz="3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</p:txBody>
      </p:sp>
      <p:graphicFrame>
        <p:nvGraphicFramePr>
          <p:cNvPr id="505" name="Google Shape;505;g3aa4c6e25a2_0_38"/>
          <p:cNvGraphicFramePr/>
          <p:nvPr/>
        </p:nvGraphicFramePr>
        <p:xfrm>
          <a:off x="447750" y="2386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{7ED3544F-2B16-4A5E-8BA2-DB56DC928FEF}</a:tableStyleId>
              </a:tblPr>
              <a:tblGrid>
                <a:gridCol w="1380750"/>
                <a:gridCol w="1259525"/>
                <a:gridCol w="1748400"/>
                <a:gridCol w="1033150"/>
                <a:gridCol w="2172250"/>
                <a:gridCol w="3585125"/>
              </a:tblGrid>
              <a:tr h="617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Set 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Order Maintained?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Speed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Null Allowed?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Special Feature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When To Use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575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HashSet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❌ No order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⭐ Fastest (O(1))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✔ 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Uses hashing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Use when you want fastest performance and don’t care about order.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88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LinkedHashSet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✔ Insertion order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⭐ Fast (slightly slower than HashSet)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✔ 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Keeps elements in the order they were added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Use when you need fast performance AND want to preserve insertion order.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658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TreeSet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✔ Sorted order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⚠ Slower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❌ No (by default)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Automatically sorts elements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Use when you need sorted elements (A–Z, 1–100, etc.).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88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EnumSet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✔ Natural order of enum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⭐⭐⭐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Fastest of all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❌ No null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Only for enums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Use when filtering, grouping, or storing enum values efficiently.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99db70bedd_0_0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g399db70bedd_0_0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13" name="Google Shape;513;g399db70bedd_0_0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How to go through the Set?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PH" sz="2800"/>
              <a:t>Using an Enhanced For-Loop</a:t>
            </a:r>
            <a:endParaRPr sz="2800"/>
          </a:p>
        </p:txBody>
      </p:sp>
      <p:sp>
        <p:nvSpPr>
          <p:cNvPr id="514" name="Google Shape;514;g399db70bedd_0_0"/>
          <p:cNvSpPr txBox="1"/>
          <p:nvPr/>
        </p:nvSpPr>
        <p:spPr>
          <a:xfrm>
            <a:off x="1145850" y="3078400"/>
            <a:ext cx="7396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    	Set&lt;String&gt; fruitSet = new HashSet&lt;&gt;();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    	set.add("Apple");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    	set.add("Banana");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    	set.add("Cherry");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 </a:t>
            </a:r>
            <a:r>
              <a:rPr lang="en-PH"/>
              <a:t>   	for (String fruit : </a:t>
            </a:r>
            <a:r>
              <a:rPr lang="en-PH">
                <a:solidFill>
                  <a:schemeClr val="dk1"/>
                </a:solidFill>
              </a:rPr>
              <a:t>fruitSet</a:t>
            </a:r>
            <a:r>
              <a:rPr lang="en-PH"/>
              <a:t>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        		System.out.println(</a:t>
            </a:r>
            <a:r>
              <a:rPr lang="en-PH">
                <a:solidFill>
                  <a:schemeClr val="dk1"/>
                </a:solidFill>
              </a:rPr>
              <a:t>fruit</a:t>
            </a:r>
            <a:r>
              <a:rPr lang="en-PH"/>
              <a:t>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    	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	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99db70bedd_0_12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1" name="Google Shape;521;g399db70bedd_0_12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22" name="Google Shape;522;g399db70bedd_0_12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How to go through the Set?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PH" sz="2800"/>
              <a:t>Iterator</a:t>
            </a:r>
            <a:endParaRPr sz="2800"/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PH" sz="2800"/>
              <a:t>For-each with Lambda (Java 8+)</a:t>
            </a:r>
            <a:endParaRPr sz="2800"/>
          </a:p>
          <a:p>
            <a:pPr indent="-4064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PH" sz="2800"/>
              <a:t>Java Streams </a:t>
            </a:r>
            <a:r>
              <a:rPr lang="en-PH" sz="2800">
                <a:solidFill>
                  <a:schemeClr val="dk1"/>
                </a:solidFill>
              </a:rPr>
              <a:t>(Java 8+)</a:t>
            </a:r>
            <a:endParaRPr sz="28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9db70bedd_0_20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Set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g399db70bedd_0_20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30" name="Google Shape;530;g399db70bedd_0_20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Activity</a:t>
            </a:r>
            <a:r>
              <a:rPr b="1" lang="en-PH" sz="3200">
                <a:solidFill>
                  <a:srgbClr val="C9211E"/>
                </a:solidFill>
              </a:rPr>
              <a:t> #2: Practice Set Operations (M3_ACTIVITY2)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/>
          </a:p>
          <a:p>
            <a:pPr indent="-17083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"/>
              <a:buFont typeface="Noto Sans Symbols"/>
              <a:buChar char="●"/>
            </a:pPr>
            <a:r>
              <a:rPr b="1" lang="en-PH" sz="2100">
                <a:solidFill>
                  <a:schemeClr val="dk1"/>
                </a:solidFill>
              </a:rPr>
              <a:t>Goal: </a:t>
            </a:r>
            <a:r>
              <a:rPr lang="en-PH" sz="2100">
                <a:solidFill>
                  <a:schemeClr val="dk1"/>
                </a:solidFill>
              </a:rPr>
              <a:t>Practice</a:t>
            </a:r>
            <a:r>
              <a:rPr b="1" lang="en-PH" sz="2100">
                <a:solidFill>
                  <a:schemeClr val="dk1"/>
                </a:solidFill>
              </a:rPr>
              <a:t> Set </a:t>
            </a:r>
            <a:r>
              <a:rPr lang="en-PH" sz="2100">
                <a:solidFill>
                  <a:schemeClr val="dk1"/>
                </a:solidFill>
              </a:rPr>
              <a:t>Operations</a:t>
            </a:r>
            <a:endParaRPr sz="2100">
              <a:solidFill>
                <a:schemeClr val="dk1"/>
              </a:solidFill>
            </a:endParaRPr>
          </a:p>
          <a:p>
            <a:pPr indent="-17083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"/>
              <a:buFont typeface="Noto Sans Symbols"/>
              <a:buChar char="●"/>
            </a:pPr>
            <a:r>
              <a:rPr lang="en-PH" sz="2100">
                <a:solidFill>
                  <a:schemeClr val="dk1"/>
                </a:solidFill>
              </a:rPr>
              <a:t>Task: 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100">
                <a:solidFill>
                  <a:schemeClr val="dk1"/>
                </a:solidFill>
              </a:rPr>
              <a:t>1. Create a HashSet of Products with </a:t>
            </a:r>
            <a:r>
              <a:rPr b="1" lang="en-PH" sz="2100">
                <a:solidFill>
                  <a:schemeClr val="dk1"/>
                </a:solidFill>
              </a:rPr>
              <a:t>5 initial data</a:t>
            </a:r>
            <a:endParaRPr b="1"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100">
                <a:solidFill>
                  <a:schemeClr val="dk1"/>
                </a:solidFill>
              </a:rPr>
              <a:t>2. Display the menu repeatedly until the user choose to exit.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100">
                <a:solidFill>
                  <a:schemeClr val="dk1"/>
                </a:solidFill>
              </a:rPr>
              <a:t>3. Provide implementation for each options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PH" sz="2100">
                <a:solidFill>
                  <a:schemeClr val="dk1"/>
                </a:solidFill>
              </a:rPr>
              <a:t> </a:t>
            </a:r>
            <a:endParaRPr sz="2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531" name="Google Shape;531;g399db70bedd_0_20"/>
          <p:cNvSpPr txBox="1"/>
          <p:nvPr/>
        </p:nvSpPr>
        <p:spPr>
          <a:xfrm>
            <a:off x="1633750" y="3885900"/>
            <a:ext cx="3332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Select an option: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1. Search a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2. Add a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3. Print all products and count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4. Exit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aa4c6e25a2_1_0"/>
          <p:cNvSpPr txBox="1"/>
          <p:nvPr/>
        </p:nvSpPr>
        <p:spPr>
          <a:xfrm>
            <a:off x="665025" y="493725"/>
            <a:ext cx="8262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Activity</a:t>
            </a:r>
            <a:r>
              <a:rPr b="1" lang="en-PH" sz="3200">
                <a:solidFill>
                  <a:srgbClr val="C9211E"/>
                </a:solidFill>
              </a:rPr>
              <a:t> #2: Example Output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538" name="Google Shape;538;g3aa4c6e25a2_1_0" title="Screenshot from 2025-12-12 13-03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350" y="1912275"/>
            <a:ext cx="4222700" cy="29161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3aa4c6e25a2_1_0"/>
          <p:cNvSpPr txBox="1"/>
          <p:nvPr/>
        </p:nvSpPr>
        <p:spPr>
          <a:xfrm>
            <a:off x="665025" y="1310700"/>
            <a:ext cx="531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PH" sz="1800"/>
              <a:t>Search a product</a:t>
            </a:r>
            <a:endParaRPr sz="1800"/>
          </a:p>
        </p:txBody>
      </p:sp>
      <p:sp>
        <p:nvSpPr>
          <p:cNvPr id="540" name="Google Shape;540;g3aa4c6e25a2_1_0"/>
          <p:cNvSpPr txBox="1"/>
          <p:nvPr/>
        </p:nvSpPr>
        <p:spPr>
          <a:xfrm>
            <a:off x="3848975" y="1310700"/>
            <a:ext cx="531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2. Add a product</a:t>
            </a:r>
            <a:endParaRPr sz="1800"/>
          </a:p>
        </p:txBody>
      </p:sp>
      <p:pic>
        <p:nvPicPr>
          <p:cNvPr id="541" name="Google Shape;541;g3aa4c6e25a2_1_0" title="Screenshot from 2025-12-12 13-05-1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89450" y="1912275"/>
            <a:ext cx="3509875" cy="19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g3aa4c6e25a2_1_0"/>
          <p:cNvSpPr txBox="1"/>
          <p:nvPr/>
        </p:nvSpPr>
        <p:spPr>
          <a:xfrm>
            <a:off x="6825800" y="1352350"/>
            <a:ext cx="531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3</a:t>
            </a:r>
            <a:r>
              <a:rPr lang="en-PH" sz="1800"/>
              <a:t>. Print all products and count</a:t>
            </a:r>
            <a:endParaRPr sz="1800"/>
          </a:p>
        </p:txBody>
      </p:sp>
      <p:pic>
        <p:nvPicPr>
          <p:cNvPr id="543" name="Google Shape;543;g3aa4c6e25a2_1_0" title="Screenshot from 2025-12-12 13-06-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1350" y="1814050"/>
            <a:ext cx="3622343" cy="3332050"/>
          </a:xfrm>
          <a:prstGeom prst="rect">
            <a:avLst/>
          </a:prstGeom>
          <a:noFill/>
          <a:ln>
            <a:noFill/>
          </a:ln>
        </p:spPr>
      </p:pic>
      <p:sp>
        <p:nvSpPr>
          <p:cNvPr id="544" name="Google Shape;544;g3aa4c6e25a2_1_0"/>
          <p:cNvSpPr txBox="1"/>
          <p:nvPr/>
        </p:nvSpPr>
        <p:spPr>
          <a:xfrm>
            <a:off x="3539865" y="4642775"/>
            <a:ext cx="531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4</a:t>
            </a:r>
            <a:r>
              <a:rPr lang="en-PH" sz="1800"/>
              <a:t>. Exit</a:t>
            </a:r>
            <a:endParaRPr sz="1800"/>
          </a:p>
        </p:txBody>
      </p:sp>
      <p:pic>
        <p:nvPicPr>
          <p:cNvPr id="545" name="Google Shape;545;g3aa4c6e25a2_1_0" title="Screenshot from 2025-12-12 13-07-2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8975" y="5146100"/>
            <a:ext cx="2733675" cy="134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9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9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53" name="Google Shape;553;p19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collection that stores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key-value pairs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Keys are unique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can be duplicated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are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accessed by key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by index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guaranteed order in some implementations.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20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0" name="Google Shape;560;p20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561" name="Google Shape;56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08000" y="1710000"/>
            <a:ext cx="6182640" cy="4121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21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8" name="Google Shape;568;p21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9" name="Google Shape;569;p21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HashMap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key-value pairs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Keys are unique;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can be duplicated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keys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add, remove, or lookup by key.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a55c61790e_0_114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6" name="Google Shape;576;g3a55c61790e_0_114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77" name="Google Shape;577;g3a55c61790e_0_114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HashMap?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fast lookups by key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to associate values with unique keys</a:t>
            </a:r>
            <a:endParaRPr i="0" sz="2800" u="none" cap="none" strike="noStrike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to update/remove values efficiently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key-value structure without caring about the order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3a55c61790e_0_121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g3a55c61790e_0_121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85" name="Google Shape;585;g3a55c61790e_0_121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HashMap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 </a:t>
            </a:r>
            <a:r>
              <a:rPr b="1" lang="en-PH" sz="2800"/>
              <a:t>Phone Contacts</a:t>
            </a:r>
            <a:endParaRPr b="1"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    Key = Contact Name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    Value = Contact Number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586" name="Google Shape;586;g3a55c61790e_0_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1251" y="2309750"/>
            <a:ext cx="3633275" cy="36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2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22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94" name="Google Shape;594;p22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LinkedHashMap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key-value pairs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Keys are unique;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can be duplicated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Keeps insertion of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keys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Slightly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slower than HashMap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due to ordering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a55c61790e_0_136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1" name="Google Shape;601;g3a55c61790e_0_136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02" name="Google Shape;602;g3a55c61790e_0_136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</a:t>
            </a: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LinkedHashMap?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key-value pairs with insertion order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fast lookups by key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predictable iteration order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a55c61790e_0_143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9" name="Google Shape;609;g3a55c61790e_0_143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0" name="Google Shape;610;g3a55c61790e_0_143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LinkedHashMap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Configuration Settings or Preferences</a:t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1" name="Google Shape;611;g3a55c61790e_0_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625" y="3259100"/>
            <a:ext cx="8176752" cy="2453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23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8" name="Google Shape;618;p23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19" name="Google Shape;619;p23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TreeMap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key-value pairs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sorted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keys.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Slower than HashMap/LinkedHashMap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because it keeps keys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sorted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a55c61790e_0_151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g3a55c61790e_0_151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27" name="Google Shape;627;g3a55c61790e_0_151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TreeMap?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sorted keys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range queries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first/last key access [ firstKey() and lastKey() ]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a naturally ordered map</a:t>
            </a:r>
            <a:endParaRPr sz="2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a55c61790e_0_158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4" name="Google Shape;634;g3a55c61790e_0_158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35" name="Google Shape;635;g3a55c61790e_0_158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TreeMap?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    Dictionary</a:t>
            </a:r>
            <a:endParaRPr sz="2800"/>
          </a:p>
        </p:txBody>
      </p:sp>
      <p:pic>
        <p:nvPicPr>
          <p:cNvPr id="636" name="Google Shape;636;g3a55c61790e_0_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204" y="2351550"/>
            <a:ext cx="2865875" cy="3634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24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24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44" name="Google Shape;644;p24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EnumMap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Special Map for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enum keys only.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Very fast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memory-efficient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Keys must be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enum constants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3a55c61790e_0_166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g3a55c61790e_0_166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52" name="Google Shape;652;g3a55c61790e_0_166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</a:t>
            </a: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EnumMap?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Keys are from a fixed set of constants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fast and efficient maps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type-safety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predictable iteration orde</a:t>
            </a:r>
            <a:r>
              <a:rPr lang="en-PH" sz="2800"/>
              <a:t>r</a:t>
            </a:r>
            <a:endParaRPr sz="28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a55c61790e_0_173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9" name="Google Shape;659;g3a55c61790e_0_173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60" name="Google Shape;660;g3a55c61790e_0_173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EnumMap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  </a:t>
            </a:r>
            <a:r>
              <a:rPr b="1" lang="en-PH" sz="2800"/>
              <a:t>Traffic Lights</a:t>
            </a:r>
            <a:endParaRPr b="1"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Enum (RED, YELLOW, GREEN)</a:t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800"/>
              <a:t>Value (Duration in seconds)</a:t>
            </a:r>
            <a:endParaRPr sz="2800"/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pic>
        <p:nvPicPr>
          <p:cNvPr id="661" name="Google Shape;661;g3a55c61790e_0_1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7659" y="2377225"/>
            <a:ext cx="3617125" cy="36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a919c3c80a_0_26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8" name="Google Shape;668;g3a919c3c80a_0_26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69" name="Google Shape;669;g3a919c3c80a_0_26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How To Iterate Through A Map?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b="1" lang="en-PH" sz="2600"/>
              <a:t>Iterate through </a:t>
            </a:r>
            <a:r>
              <a:rPr b="1" lang="en-PH" sz="2600"/>
              <a:t>keys</a:t>
            </a:r>
            <a:r>
              <a:rPr b="1" lang="en-PH" sz="2600"/>
              <a:t> only (keySet)</a:t>
            </a:r>
            <a:endParaRPr b="1" sz="2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b="1" lang="en-PH" sz="2600"/>
              <a:t>Iterate through values only (values)</a:t>
            </a:r>
            <a:endParaRPr b="1" sz="2600"/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670" name="Google Shape;670;g3a919c3c80a_0_26"/>
          <p:cNvSpPr txBox="1"/>
          <p:nvPr/>
        </p:nvSpPr>
        <p:spPr>
          <a:xfrm>
            <a:off x="1795750" y="4309775"/>
            <a:ext cx="573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g3a919c3c80a_0_26"/>
          <p:cNvSpPr txBox="1"/>
          <p:nvPr/>
        </p:nvSpPr>
        <p:spPr>
          <a:xfrm>
            <a:off x="2009500" y="2582450"/>
            <a:ext cx="5661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for (Integer key : products.keySet()) {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	System.out.println("Key: " + key);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}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672" name="Google Shape;672;g3a919c3c80a_0_26"/>
          <p:cNvSpPr txBox="1"/>
          <p:nvPr/>
        </p:nvSpPr>
        <p:spPr>
          <a:xfrm>
            <a:off x="2009500" y="4643275"/>
            <a:ext cx="5737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for (String value : products.values()) {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	System.out.println("Value: " + value);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}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a919c3c80a_0_44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9" name="Google Shape;679;g3a919c3c80a_0_44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0" name="Google Shape;680;g3a919c3c80a_0_44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PH" sz="2600">
                <a:solidFill>
                  <a:schemeClr val="dk1"/>
                </a:solidFill>
              </a:rPr>
              <a:t>Iterate through key + value (entrySet)</a:t>
            </a:r>
            <a:endParaRPr b="1" sz="26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200">
              <a:solidFill>
                <a:schemeClr val="dk1"/>
              </a:solidFill>
            </a:endParaRPr>
          </a:p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PH" sz="2600">
                <a:solidFill>
                  <a:schemeClr val="dk1"/>
                </a:solidFill>
              </a:rPr>
              <a:t>Using forEach (Java 8+)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681" name="Google Shape;681;g3a919c3c80a_0_44"/>
          <p:cNvSpPr txBox="1"/>
          <p:nvPr/>
        </p:nvSpPr>
        <p:spPr>
          <a:xfrm>
            <a:off x="1898350" y="2189125"/>
            <a:ext cx="87393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for (Map.Entry&lt;Integer, String&gt; entry : products.entrySet()) {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	System.out.println(entry.getKey() + " = " + entry.getValue());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100"/>
              <a:t>}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a919c3c80a_0_0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Map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8" name="Google Shape;688;g3a919c3c80a_0_0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689" name="Google Shape;689;g3a919c3c80a_0_0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Activity</a:t>
            </a:r>
            <a:r>
              <a:rPr b="1" lang="en-PH" sz="3200">
                <a:solidFill>
                  <a:srgbClr val="C9211E"/>
                </a:solidFill>
              </a:rPr>
              <a:t> #3: Practice Map Operations (M3_ACTIVITY3)</a:t>
            </a:r>
            <a:endParaRPr sz="3200">
              <a:solidFill>
                <a:schemeClr val="dk1"/>
              </a:solidFill>
            </a:endParaRPr>
          </a:p>
          <a:p>
            <a:pPr indent="-1771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Noto Sans Symbols"/>
              <a:buChar char="●"/>
            </a:pPr>
            <a:r>
              <a:rPr b="1" lang="en-PH" sz="2200">
                <a:solidFill>
                  <a:schemeClr val="dk1"/>
                </a:solidFill>
              </a:rPr>
              <a:t>Goal: </a:t>
            </a:r>
            <a:r>
              <a:rPr lang="en-PH" sz="2200">
                <a:solidFill>
                  <a:schemeClr val="dk1"/>
                </a:solidFill>
              </a:rPr>
              <a:t>Practice</a:t>
            </a:r>
            <a:r>
              <a:rPr b="1" lang="en-PH" sz="2200">
                <a:solidFill>
                  <a:schemeClr val="dk1"/>
                </a:solidFill>
              </a:rPr>
              <a:t> Map </a:t>
            </a:r>
            <a:r>
              <a:rPr lang="en-PH" sz="2200">
                <a:solidFill>
                  <a:schemeClr val="dk1"/>
                </a:solidFill>
              </a:rPr>
              <a:t>Operations</a:t>
            </a:r>
            <a:endParaRPr sz="2200">
              <a:solidFill>
                <a:schemeClr val="dk1"/>
              </a:solidFill>
            </a:endParaRPr>
          </a:p>
          <a:p>
            <a:pPr indent="-1771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"/>
              <a:buFont typeface="Noto Sans Symbols"/>
              <a:buChar char="●"/>
            </a:pPr>
            <a:r>
              <a:rPr b="1" lang="en-PH" sz="2200">
                <a:solidFill>
                  <a:schemeClr val="dk1"/>
                </a:solidFill>
              </a:rPr>
              <a:t>Task: 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200">
                <a:solidFill>
                  <a:schemeClr val="dk1"/>
                </a:solidFill>
              </a:rPr>
              <a:t>1.</a:t>
            </a:r>
            <a:r>
              <a:rPr lang="en-PH" sz="2200">
                <a:solidFill>
                  <a:schemeClr val="dk1"/>
                </a:solidFill>
              </a:rPr>
              <a:t>	</a:t>
            </a:r>
            <a:r>
              <a:rPr b="1" lang="en-PH" sz="2200">
                <a:solidFill>
                  <a:schemeClr val="dk1"/>
                </a:solidFill>
              </a:rPr>
              <a:t>Create a Map of products</a:t>
            </a:r>
            <a:r>
              <a:rPr lang="en-PH" sz="2200">
                <a:solidFill>
                  <a:schemeClr val="dk1"/>
                </a:solidFill>
              </a:rPr>
              <a:t> with 5 initial records</a:t>
            </a:r>
            <a:endParaRPr sz="2200">
              <a:solidFill>
                <a:schemeClr val="dk1"/>
              </a:solidFill>
            </a:endParaRPr>
          </a:p>
          <a:p>
            <a:pPr indent="-36830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PH" sz="2200">
                <a:solidFill>
                  <a:schemeClr val="dk1"/>
                </a:solidFill>
              </a:rPr>
              <a:t>(Key = product name, Value = product price)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200">
                <a:solidFill>
                  <a:schemeClr val="dk1"/>
                </a:solidFill>
              </a:rPr>
              <a:t>2.  Display a menu repeatedly </a:t>
            </a:r>
            <a:r>
              <a:rPr lang="en-PH" sz="2200">
                <a:solidFill>
                  <a:schemeClr val="dk1"/>
                </a:solidFill>
              </a:rPr>
              <a:t>until user chooses to exit.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2200">
                <a:solidFill>
                  <a:schemeClr val="dk1"/>
                </a:solidFill>
              </a:rPr>
              <a:t>3. </a:t>
            </a:r>
            <a:r>
              <a:rPr lang="en-PH" sz="2200">
                <a:solidFill>
                  <a:schemeClr val="dk1"/>
                </a:solidFill>
              </a:rPr>
              <a:t>Create implementation for each options.</a:t>
            </a:r>
            <a:endParaRPr sz="2200">
              <a:solidFill>
                <a:schemeClr val="dk1"/>
              </a:solidFill>
            </a:endParaRPr>
          </a:p>
        </p:txBody>
      </p:sp>
      <p:sp>
        <p:nvSpPr>
          <p:cNvPr id="690" name="Google Shape;690;g3a919c3c80a_0_0"/>
          <p:cNvSpPr txBox="1"/>
          <p:nvPr/>
        </p:nvSpPr>
        <p:spPr>
          <a:xfrm>
            <a:off x="1892175" y="3904350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Select an option: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1. Search a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2. Add a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3. Print all products and prices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4. Find the cheapest product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/>
              <a:t>5. Exit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a919c3c80a_0_14"/>
          <p:cNvSpPr txBox="1"/>
          <p:nvPr/>
        </p:nvSpPr>
        <p:spPr>
          <a:xfrm>
            <a:off x="59875" y="367700"/>
            <a:ext cx="5849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Activity</a:t>
            </a:r>
            <a:r>
              <a:rPr b="1" lang="en-PH" sz="3200">
                <a:solidFill>
                  <a:srgbClr val="C9211E"/>
                </a:solidFill>
              </a:rPr>
              <a:t> #3: </a:t>
            </a:r>
            <a:r>
              <a:rPr b="1" lang="en-PH" sz="3200">
                <a:solidFill>
                  <a:srgbClr val="C9211E"/>
                </a:solidFill>
              </a:rPr>
              <a:t>Sample Output</a:t>
            </a:r>
            <a:endParaRPr sz="3200">
              <a:solidFill>
                <a:schemeClr val="dk1"/>
              </a:solidFill>
            </a:endParaRPr>
          </a:p>
        </p:txBody>
      </p:sp>
      <p:pic>
        <p:nvPicPr>
          <p:cNvPr id="697" name="Google Shape;697;g3a919c3c80a_0_14" title="Screenshot from 2025-12-12 13-24-2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600" y="1538710"/>
            <a:ext cx="3038475" cy="159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g3a919c3c80a_0_14" title="Screenshot from 2025-12-12 13-24-5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4250" y="3147845"/>
            <a:ext cx="2838450" cy="1590675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g3a919c3c80a_0_14"/>
          <p:cNvSpPr txBox="1"/>
          <p:nvPr/>
        </p:nvSpPr>
        <p:spPr>
          <a:xfrm>
            <a:off x="521600" y="932260"/>
            <a:ext cx="2635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PH" sz="1800"/>
              <a:t>Search a product</a:t>
            </a:r>
            <a:endParaRPr sz="1800"/>
          </a:p>
        </p:txBody>
      </p:sp>
      <p:sp>
        <p:nvSpPr>
          <p:cNvPr id="700" name="Google Shape;700;g3a919c3c80a_0_14"/>
          <p:cNvSpPr txBox="1"/>
          <p:nvPr/>
        </p:nvSpPr>
        <p:spPr>
          <a:xfrm>
            <a:off x="3258446" y="927724"/>
            <a:ext cx="256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2. Add</a:t>
            </a:r>
            <a:r>
              <a:rPr lang="en-PH" sz="1800"/>
              <a:t> a product</a:t>
            </a:r>
            <a:endParaRPr sz="1800"/>
          </a:p>
        </p:txBody>
      </p:sp>
      <p:pic>
        <p:nvPicPr>
          <p:cNvPr id="701" name="Google Shape;701;g3a919c3c80a_0_14" title="Screenshot from 2025-12-12 13-26-1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0075" y="1440299"/>
            <a:ext cx="276225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g3a919c3c80a_0_14"/>
          <p:cNvSpPr txBox="1"/>
          <p:nvPr/>
        </p:nvSpPr>
        <p:spPr>
          <a:xfrm>
            <a:off x="6004551" y="927725"/>
            <a:ext cx="3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3</a:t>
            </a:r>
            <a:r>
              <a:rPr lang="en-PH" sz="1800"/>
              <a:t>. Print all products and prices</a:t>
            </a:r>
            <a:endParaRPr sz="1800"/>
          </a:p>
        </p:txBody>
      </p:sp>
      <p:pic>
        <p:nvPicPr>
          <p:cNvPr id="703" name="Google Shape;703;g3a919c3c80a_0_14" title="Screenshot from 2025-12-12 13-28-4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4725" y="1504904"/>
            <a:ext cx="2876550" cy="2466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g3a919c3c80a_0_14"/>
          <p:cNvSpPr txBox="1"/>
          <p:nvPr/>
        </p:nvSpPr>
        <p:spPr>
          <a:xfrm>
            <a:off x="3489428" y="4439900"/>
            <a:ext cx="3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4</a:t>
            </a:r>
            <a:r>
              <a:rPr lang="en-PH" sz="1800"/>
              <a:t>. Find the cheapest product</a:t>
            </a:r>
            <a:endParaRPr sz="1800"/>
          </a:p>
        </p:txBody>
      </p:sp>
      <p:pic>
        <p:nvPicPr>
          <p:cNvPr id="705" name="Google Shape;705;g3a919c3c80a_0_14" title="Screenshot from 2025-12-12 13-29-3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35250" y="4961700"/>
            <a:ext cx="2686050" cy="1419225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g3a919c3c80a_0_14"/>
          <p:cNvSpPr txBox="1"/>
          <p:nvPr/>
        </p:nvSpPr>
        <p:spPr>
          <a:xfrm>
            <a:off x="6911751" y="4439900"/>
            <a:ext cx="334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1800"/>
              <a:t>5</a:t>
            </a:r>
            <a:r>
              <a:rPr lang="en-PH" sz="1800"/>
              <a:t>. Exit</a:t>
            </a:r>
            <a:endParaRPr sz="1800"/>
          </a:p>
        </p:txBody>
      </p:sp>
      <p:pic>
        <p:nvPicPr>
          <p:cNvPr id="707" name="Google Shape;707;g3a919c3c80a_0_14" title="Screenshot from 2025-12-12 13-30-37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242300" y="4901600"/>
            <a:ext cx="2535925" cy="1309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5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4" name="Google Shape;714;p25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15" name="Google Shape;715;p25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Queue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collection that stores elements in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FIFO (First-In-First-Out)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are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added at the end (rear)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 from the front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Duplicates are allowed.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operations: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add()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offer()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(add),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remove()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poll()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(remove),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peek()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(view front element).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Implementations include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LinkedList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PriorityQueue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ArrayDeque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etc.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26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2" name="Google Shape;722;p26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723" name="Google Shape;72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2000" y="2127600"/>
            <a:ext cx="9123840" cy="255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7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0" name="Google Shape;730;p27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31" name="Google Shape;731;p27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LinkedListQueue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queue implementation using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linkedList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elements in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FIFO (First-In-First-Out)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are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added at the end (rear)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 from the front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Duplicates are allowed.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elements are allowed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g3a55c61790e_0_185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8" name="Google Shape;738;g3a55c61790e_0_185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39" name="Google Shape;739;g3a55c61790e_0_185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</a:t>
            </a: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LinkedListQueue?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First-In First-Out (FIFO) behavior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Frequent addition and removals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don’t need random access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Dynamic Size</a:t>
            </a:r>
            <a:endParaRPr i="0" sz="2800" u="none" cap="none" strike="noStrike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3a55c61790e_0_192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46" name="Google Shape;746;g3a55c61790e_0_192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47" name="Google Shape;747;g3a55c61790e_0_192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LinkedListQueue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rPr lang="en-PH" sz="2800"/>
              <a:t>   </a:t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rPr lang="en-PH" sz="2800"/>
              <a:t>    Print Job Management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None/>
            </a:pPr>
            <a:r>
              <a:t/>
            </a:r>
            <a:endParaRPr i="0" sz="2800" u="none" cap="none" strike="noStrike"/>
          </a:p>
        </p:txBody>
      </p:sp>
      <p:pic>
        <p:nvPicPr>
          <p:cNvPr id="748" name="Google Shape;748;g3a55c61790e_0_1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1200" y="2548225"/>
            <a:ext cx="2992900" cy="29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5" name="Google Shape;755;p28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56" name="Google Shape;756;p28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PriorityQueue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elements according to their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natural order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a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comparator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with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priority are removed first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necessarily in insertion order.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Duplicates are allowed.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elements are </a:t>
            </a:r>
            <a:r>
              <a:rPr b="1" i="0" lang="en-PH" sz="28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not allowed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for priority-based scheduling or task management.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55c61790e_0_201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g3a55c61790e_0_201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64" name="Google Shape;764;g3a55c61790e_0_201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PriorityQueue?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to process elements by priority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Tasks scheduling based on priority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Dynamic ordering</a:t>
            </a:r>
            <a:endParaRPr i="0" sz="2800" u="none" cap="none" strike="noStrike"/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fast </a:t>
            </a:r>
            <a:r>
              <a:rPr lang="en-PH" sz="2800"/>
              <a:t>access</a:t>
            </a:r>
            <a:r>
              <a:rPr lang="en-PH" sz="2800"/>
              <a:t> to the highest or least priority items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3a55c61790e_0_208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1" name="Google Shape;771;g3a55c61790e_0_208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72" name="Google Shape;772;g3a55c61790e_0_208"/>
          <p:cNvSpPr/>
          <p:nvPr/>
        </p:nvSpPr>
        <p:spPr>
          <a:xfrm>
            <a:off x="505800" y="160020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 Application of PriorityQueue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Hospital Emergency Room (ER)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3" name="Google Shape;773;g3a55c61790e_0_2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9854" y="3180269"/>
            <a:ext cx="5178550" cy="2942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9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0" name="Google Shape;780;p29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81" name="Google Shape;781;p29"/>
          <p:cNvSpPr/>
          <p:nvPr/>
        </p:nvSpPr>
        <p:spPr>
          <a:xfrm>
            <a:off x="505800" y="1600200"/>
            <a:ext cx="11179080" cy="4586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ArrayDequeQueue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Implements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resizable double-ended queue (Deque) 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used as a queue.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Stores elements in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FIFO (First-In-First-Out)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order.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Elements are added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tail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removed from the head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Duplicates are allowed 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preserves insertion order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Null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elements are </a:t>
            </a:r>
            <a:r>
              <a:rPr b="1" i="0" lang="en-PH" sz="28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not allowed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than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LinkedList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queue operations; preferred for high-performance queues.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55c61790e_0_216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8" name="Google Shape;788;g3a55c61790e_0_216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89" name="Google Shape;789;g3a55c61790e_0_216"/>
          <p:cNvSpPr/>
          <p:nvPr/>
        </p:nvSpPr>
        <p:spPr>
          <a:xfrm>
            <a:off x="505800" y="1600200"/>
            <a:ext cx="11179200" cy="45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When To Use </a:t>
            </a: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ArrayDequeQueue?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need a simple FIFO queue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a double-ended queue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You want better performance than LinkedList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3a55c61790e_0_227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Queue Interface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6" name="Google Shape;796;g3a55c61790e_0_227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97" name="Google Shape;797;g3a55c61790e_0_227"/>
          <p:cNvSpPr/>
          <p:nvPr/>
        </p:nvSpPr>
        <p:spPr>
          <a:xfrm>
            <a:off x="505800" y="1600200"/>
            <a:ext cx="11179200" cy="45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Practical</a:t>
            </a:r>
            <a:r>
              <a:rPr b="1" lang="en-PH" sz="3200">
                <a:solidFill>
                  <a:srgbClr val="C9211E"/>
                </a:solidFill>
              </a:rPr>
              <a:t> Application of </a:t>
            </a: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ArrayDequeQueue</a:t>
            </a:r>
            <a:r>
              <a:rPr b="1" lang="en-PH" sz="3200">
                <a:solidFill>
                  <a:srgbClr val="C9211E"/>
                </a:solidFill>
              </a:rPr>
              <a:t> (Example)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Undo / Redo functionality in Text Editors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8" name="Google Shape;798;g3a55c61790e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825" y="339842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4" name="Google Shape;804;p30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05" name="Google Shape;805;p30"/>
          <p:cNvSpPr/>
          <p:nvPr/>
        </p:nvSpPr>
        <p:spPr>
          <a:xfrm>
            <a:off x="340560" y="136368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6000" u="none" cap="none" strike="noStrike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Iteration and Enhanced For-Loop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1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Iterating Collections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p31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13" name="Google Shape;813;p31"/>
          <p:cNvSpPr/>
          <p:nvPr/>
        </p:nvSpPr>
        <p:spPr>
          <a:xfrm>
            <a:off x="505800" y="1600200"/>
            <a:ext cx="11179080" cy="453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PH" sz="28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Iteration: 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process of visiting each element in a collection sequentially.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Collections can be iterated using: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2" marL="64800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AutoNum type="arabicParenR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for-loop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(only works with List using index)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2" marL="648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AutoNum type="arabicParenR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2" marL="648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AutoNum type="arabicParenR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for-loop (simplest way)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7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2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Iterating Collections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0" name="Google Shape;820;p32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21" name="Google Shape;821;p32"/>
          <p:cNvSpPr/>
          <p:nvPr/>
        </p:nvSpPr>
        <p:spPr>
          <a:xfrm>
            <a:off x="505800" y="160020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Traditional For-Loop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None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for (int i = 0; i &lt; collection.size(); i++) {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	// access element at index i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}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Works well with List because it supports index-based access.</a:t>
            </a:r>
            <a:endParaRPr b="0" i="0" sz="2800" u="none" cap="none" strike="noStrike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Cannot be used directly for Set or Queue (no index)</a:t>
            </a:r>
            <a:endParaRPr b="0" i="0" sz="2800" u="none" cap="none" strike="noStrike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33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Iterating Collections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8" name="Google Shape;828;p33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29" name="Google Shape;829;p33"/>
          <p:cNvSpPr/>
          <p:nvPr/>
        </p:nvSpPr>
        <p:spPr>
          <a:xfrm>
            <a:off x="484200" y="1447920"/>
            <a:ext cx="11179080" cy="5535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is an object that allows traversal of a collection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regardless of type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Iterator&lt;Type&gt; it = collection.iterator();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while (it.hasNext()) {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	Type element = it.next();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	// process element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}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Works well with all collections (List, Set, Queue)</a:t>
            </a:r>
            <a:endParaRPr b="0" i="0" sz="2800" u="none" cap="none" strike="noStrike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Safe removal</a:t>
            </a:r>
            <a:r>
              <a:rPr b="0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of elements during iteration (it.remove()).</a:t>
            </a:r>
            <a:endParaRPr b="0" i="0" sz="2800" u="none" cap="none" strike="noStrike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34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Iterating Collections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6" name="Google Shape;836;p34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37" name="Google Shape;837;p34"/>
          <p:cNvSpPr/>
          <p:nvPr/>
        </p:nvSpPr>
        <p:spPr>
          <a:xfrm>
            <a:off x="484200" y="1447920"/>
            <a:ext cx="11179080" cy="50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Enhanced For-Loop (For-Each Loop)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Introduced in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 5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simpler, cleaner iteration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Automatically traverses all elements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without needing index or iterator object.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Syntax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for (Type element : collection) {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	// process element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		}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Works well with all collections (List, Set, Queue)</a:t>
            </a:r>
            <a:endParaRPr b="0" i="0" sz="2800" u="none" cap="none" strike="noStrike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15279" lvl="1" marL="432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Safe removal</a:t>
            </a:r>
            <a:r>
              <a:rPr b="0" i="0" lang="en-PH" sz="2800" u="none" cap="none" strike="noStrike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of elements during iteration (it.remove()).</a:t>
            </a:r>
            <a:endParaRPr b="0" i="0" sz="2800" u="none" cap="none" strike="noStrike">
              <a:highlight>
                <a:schemeClr val="lt1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5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Iterating Collections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4" name="Google Shape;844;p35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45" name="Google Shape;845;p35"/>
          <p:cNvSpPr/>
          <p:nvPr/>
        </p:nvSpPr>
        <p:spPr>
          <a:xfrm>
            <a:off x="484200" y="144792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Limitations of Enhanced For-Loop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access elements by index. Use a traditional for-loop instead.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Cannot remove elements during iteration. Use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iterator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instead.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36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Iterating Collections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2" name="Google Shape;852;p36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53" name="Google Shape;853;p36"/>
          <p:cNvSpPr/>
          <p:nvPr/>
        </p:nvSpPr>
        <p:spPr>
          <a:xfrm>
            <a:off x="484200" y="144792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Iterating Maps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Maps are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directly iterable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Use </a:t>
            </a:r>
            <a:r>
              <a:rPr b="1" i="1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entrySet()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enhanced for-loop or iterator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9" name="Google Shape;859;p37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60" name="Google Shape;860;p37"/>
          <p:cNvSpPr/>
          <p:nvPr/>
        </p:nvSpPr>
        <p:spPr>
          <a:xfrm>
            <a:off x="340560" y="136368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6000" u="none" cap="none" strike="noStrike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Generics: Type Safety and Flexibility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38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Generics: Type Safety and Flexibility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38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68" name="Google Shape;868;p38"/>
          <p:cNvSpPr/>
          <p:nvPr/>
        </p:nvSpPr>
        <p:spPr>
          <a:xfrm>
            <a:off x="506160" y="160056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What are Generics?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Generics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let you create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classes, interfaces, and methods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that can work with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data type.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They help you write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reusable, flexible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type-safe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code.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Example: Instead of creating separate classes like </a:t>
            </a:r>
            <a:r>
              <a:rPr b="0" i="1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BookBox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ToyBox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0" i="1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FruitBox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you can make one generic class —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Box&lt;T&gt;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that works for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any type of item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39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Generics: Type Safety and Flexibility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5" name="Google Shape;875;p39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76" name="Google Shape;876;p39"/>
          <p:cNvSpPr/>
          <p:nvPr/>
        </p:nvSpPr>
        <p:spPr>
          <a:xfrm>
            <a:off x="506160" y="160056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Why Do We Need Generics?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Before generics, we used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types to store any data.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this caused problems — you had to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cast types manually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risked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runtime errors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566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Generics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 types at compile-time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preventing errors before the program runs.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0"/>
          <p:cNvSpPr/>
          <p:nvPr/>
        </p:nvSpPr>
        <p:spPr>
          <a:xfrm>
            <a:off x="501480" y="644040"/>
            <a:ext cx="11174760" cy="659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1200" u="none" cap="none" strike="noStrike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Generics: Type Safety and Flexibility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83" name="Google Shape;883;p40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84" name="Google Shape;884;p40"/>
          <p:cNvSpPr/>
          <p:nvPr/>
        </p:nvSpPr>
        <p:spPr>
          <a:xfrm>
            <a:off x="506160" y="160056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3200" u="none" cap="none" strike="noStrike">
                <a:solidFill>
                  <a:srgbClr val="C9211E"/>
                </a:solidFill>
                <a:latin typeface="Arial"/>
                <a:ea typeface="Arial"/>
                <a:cs typeface="Arial"/>
                <a:sym typeface="Arial"/>
              </a:rPr>
              <a:t>How Generics Fix This?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List&lt;String&gt; list = new ArrayList&lt;&gt;();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list.add("Hello");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String str = list.get(0); // Safe and no casting needed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79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compiler knows the list holds </a:t>
            </a:r>
            <a:r>
              <a:rPr b="1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Strings only</a:t>
            </a:r>
            <a:r>
              <a:rPr b="0" i="0" lang="en-PH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so it prevents type mistakes early.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0" name="Google Shape;890;p41"/>
          <p:cNvCxnSpPr/>
          <p:nvPr/>
        </p:nvCxnSpPr>
        <p:spPr>
          <a:xfrm>
            <a:off x="96840" y="746280"/>
            <a:ext cx="1020024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91" name="Google Shape;891;p41"/>
          <p:cNvSpPr/>
          <p:nvPr/>
        </p:nvSpPr>
        <p:spPr>
          <a:xfrm>
            <a:off x="340560" y="1363680"/>
            <a:ext cx="11179080" cy="4467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PH" sz="6000" u="none" cap="none" strike="noStrike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Functional Interfaces and Lambda Expressions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3a55c61790e_0_235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Interfaces and Lambda Expressions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8" name="Google Shape;898;g3a55c61790e_0_235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99" name="Google Shape;899;g3a55c61790e_0_235"/>
          <p:cNvSpPr/>
          <p:nvPr/>
        </p:nvSpPr>
        <p:spPr>
          <a:xfrm>
            <a:off x="506160" y="160056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What is a Functional Interface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An </a:t>
            </a:r>
            <a:r>
              <a:rPr b="1" lang="en-PH" sz="2800"/>
              <a:t>interface with only one method</a:t>
            </a:r>
            <a:endParaRPr b="1"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Can have </a:t>
            </a:r>
            <a:r>
              <a:rPr b="1" lang="en-PH" sz="2800"/>
              <a:t>default and static methods,</a:t>
            </a:r>
            <a:r>
              <a:rPr lang="en-PH" sz="2800"/>
              <a:t> but </a:t>
            </a:r>
            <a:r>
              <a:rPr b="1" lang="en-PH" sz="2800"/>
              <a:t>only one abstract method</a:t>
            </a:r>
            <a:r>
              <a:rPr lang="en-PH" sz="2800"/>
              <a:t> 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Used as a target type for lambda expressions</a:t>
            </a:r>
            <a:endParaRPr sz="280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3a55c61790e_0_246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Interfaces and Lambda Expressions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6" name="Google Shape;906;g3a55c61790e_0_246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07" name="Google Shape;907;g3a55c61790e_0_246"/>
          <p:cNvSpPr/>
          <p:nvPr/>
        </p:nvSpPr>
        <p:spPr>
          <a:xfrm>
            <a:off x="506160" y="160056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Why Functional Interfaces?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Helps in </a:t>
            </a:r>
            <a:r>
              <a:rPr b="1" lang="en-PH" sz="2800"/>
              <a:t>writing </a:t>
            </a:r>
            <a:r>
              <a:rPr b="1" lang="en-PH" sz="2800"/>
              <a:t>concise code</a:t>
            </a:r>
            <a:endParaRPr b="1"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Enables </a:t>
            </a:r>
            <a:r>
              <a:rPr b="1" lang="en-PH" sz="2800"/>
              <a:t>functional programming</a:t>
            </a:r>
            <a:r>
              <a:rPr lang="en-PH" sz="2800"/>
              <a:t> in Java</a:t>
            </a:r>
            <a:endParaRPr sz="2800"/>
          </a:p>
          <a:p>
            <a:pPr indent="-215280" lvl="0" marL="21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lang="en-PH" sz="2800"/>
              <a:t>Used as a target type for lambda expressions</a:t>
            </a:r>
            <a:endParaRPr sz="280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g3a55c61790e_0_257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Interfaces and Lambda Expressions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4" name="Google Shape;914;g3a55c61790e_0_257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15" name="Google Shape;915;g3a55c61790e_0_257"/>
          <p:cNvSpPr/>
          <p:nvPr/>
        </p:nvSpPr>
        <p:spPr>
          <a:xfrm>
            <a:off x="506160" y="160056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Common Built-in Functional Interface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graphicFrame>
        <p:nvGraphicFramePr>
          <p:cNvPr id="916" name="Google Shape;916;g3a55c61790e_0_257"/>
          <p:cNvGraphicFramePr/>
          <p:nvPr/>
        </p:nvGraphicFramePr>
        <p:xfrm>
          <a:off x="981875" y="2362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{7ED3544F-2B16-4A5E-8BA2-DB56DC928FEF}</a:tableStyleId>
              </a:tblPr>
              <a:tblGrid>
                <a:gridCol w="1881050"/>
                <a:gridCol w="2449275"/>
                <a:gridCol w="4389075"/>
              </a:tblGrid>
              <a:tr h="4015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Interface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Method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Description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22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Runnable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void run()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No input, no output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Supplier&lt;T&gt;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 get()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Returns a value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Consumer&lt;T&gt;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void accept(T t)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Takes input, no output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4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Function&lt;T,R&gt;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 apply(T t)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Takes input, returns output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65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Predicate&lt;T&gt;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boolean test(T t)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Returns boolean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3a55c61790e_0_266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Interfaces and Lambda Expressions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3" name="Google Shape;923;g3a55c61790e_0_266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24" name="Google Shape;924;g3a55c61790e_0_266"/>
          <p:cNvSpPr/>
          <p:nvPr/>
        </p:nvSpPr>
        <p:spPr>
          <a:xfrm>
            <a:off x="506160" y="160056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What is Lambda Expressions?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152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en-PH" sz="2800">
                <a:solidFill>
                  <a:schemeClr val="dk1"/>
                </a:solidFill>
              </a:rPr>
              <a:t>A short block of code representing a functional interface instance</a:t>
            </a:r>
            <a:endParaRPr sz="2800">
              <a:solidFill>
                <a:schemeClr val="dk1"/>
              </a:solidFill>
            </a:endParaRPr>
          </a:p>
          <a:p>
            <a:pPr indent="-2152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en-PH" sz="2800">
                <a:solidFill>
                  <a:schemeClr val="dk1"/>
                </a:solidFill>
              </a:rPr>
              <a:t>Syntax:</a:t>
            </a:r>
            <a:endParaRPr sz="2800">
              <a:solidFill>
                <a:schemeClr val="dk1"/>
              </a:solidFill>
            </a:endParaRPr>
          </a:p>
          <a:p>
            <a:pPr indent="-4064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-"/>
            </a:pPr>
            <a:r>
              <a:rPr b="1" lang="en-PH" sz="2800">
                <a:solidFill>
                  <a:schemeClr val="dk1"/>
                </a:solidFill>
                <a:highlight>
                  <a:srgbClr val="FFFF00"/>
                </a:highlight>
              </a:rPr>
              <a:t>(parameters) -&gt; expression_or_block</a:t>
            </a:r>
            <a:endParaRPr b="1" sz="28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a55c61790e_0_299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Interfaces and Lambda Expressions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1" name="Google Shape;931;g3a55c61790e_0_299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32" name="Google Shape;932;g3a55c61790e_0_299"/>
          <p:cNvSpPr/>
          <p:nvPr/>
        </p:nvSpPr>
        <p:spPr>
          <a:xfrm>
            <a:off x="506160" y="160056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Lambda Expression Syntax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b="1" lang="en-PH" sz="2300">
                <a:solidFill>
                  <a:schemeClr val="dk1"/>
                </a:solidFill>
              </a:rPr>
              <a:t>No parameters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300">
                <a:solidFill>
                  <a:schemeClr val="dk1"/>
                </a:solidFill>
                <a:highlight>
                  <a:srgbClr val="FFFF00"/>
                </a:highlight>
              </a:rPr>
              <a:t>() -&gt; System.out.println("Hello!");</a:t>
            </a:r>
            <a:endParaRPr sz="2300">
              <a:solidFill>
                <a:schemeClr val="dk1"/>
              </a:solidFill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b="1" lang="en-PH" sz="2300">
                <a:solidFill>
                  <a:schemeClr val="dk1"/>
                </a:solidFill>
              </a:rPr>
              <a:t>One parameter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300">
                <a:solidFill>
                  <a:schemeClr val="dk1"/>
                </a:solidFill>
                <a:highlight>
                  <a:srgbClr val="FFFF00"/>
                </a:highlight>
              </a:rPr>
              <a:t>x -&gt; x * x</a:t>
            </a:r>
            <a:endParaRPr sz="23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b="1" lang="en-PH" sz="2300">
                <a:solidFill>
                  <a:schemeClr val="dk1"/>
                </a:solidFill>
              </a:rPr>
              <a:t>Multiple parameters</a:t>
            </a:r>
            <a:endParaRPr b="1" sz="23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300">
                <a:solidFill>
                  <a:schemeClr val="dk1"/>
                </a:solidFill>
                <a:highlight>
                  <a:srgbClr val="FFFF00"/>
                </a:highlight>
              </a:rPr>
              <a:t>(a,b) -&gt; a + b</a:t>
            </a:r>
            <a:endParaRPr sz="23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AutoNum type="arabicPeriod"/>
            </a:pPr>
            <a:r>
              <a:rPr b="1" lang="en-PH" sz="2300">
                <a:solidFill>
                  <a:schemeClr val="dk1"/>
                </a:solidFill>
                <a:highlight>
                  <a:schemeClr val="lt1"/>
                </a:highlight>
              </a:rPr>
              <a:t>Multiple statements</a:t>
            </a:r>
            <a:endParaRPr b="1" sz="2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600">
                <a:solidFill>
                  <a:schemeClr val="dk1"/>
                </a:solidFill>
                <a:highlight>
                  <a:srgbClr val="FFFF00"/>
                </a:highlight>
              </a:rPr>
              <a:t>(a, b) -&gt; {</a:t>
            </a:r>
            <a:endParaRPr sz="2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600">
                <a:solidFill>
                  <a:schemeClr val="dk1"/>
                </a:solidFill>
                <a:highlight>
                  <a:srgbClr val="FFFF00"/>
                </a:highlight>
              </a:rPr>
              <a:t>	int sum = a + b;</a:t>
            </a:r>
            <a:endParaRPr sz="2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600">
                <a:solidFill>
                  <a:schemeClr val="dk1"/>
                </a:solidFill>
                <a:highlight>
                  <a:srgbClr val="FFFF00"/>
                </a:highlight>
              </a:rPr>
              <a:t>	return sum;</a:t>
            </a:r>
            <a:endParaRPr sz="2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PH" sz="2600">
                <a:solidFill>
                  <a:schemeClr val="dk1"/>
                </a:solidFill>
                <a:highlight>
                  <a:srgbClr val="FFFF00"/>
                </a:highlight>
              </a:rPr>
              <a:t>}</a:t>
            </a:r>
            <a:endParaRPr sz="26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3a55c61790e_0_307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Interfaces and Lambda Expressions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9" name="Google Shape;939;g3a55c61790e_0_307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40" name="Google Shape;940;g3a55c61790e_0_307"/>
          <p:cNvSpPr/>
          <p:nvPr/>
        </p:nvSpPr>
        <p:spPr>
          <a:xfrm>
            <a:off x="506160" y="160056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Why Use Functional Interfaces &amp; Lambda Expressions with Collections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-2152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en-PH" sz="2800">
                <a:solidFill>
                  <a:schemeClr val="dk1"/>
                </a:solidFill>
              </a:rPr>
              <a:t>Collections often store </a:t>
            </a:r>
            <a:r>
              <a:rPr b="1" lang="en-PH" sz="2800">
                <a:solidFill>
                  <a:schemeClr val="dk1"/>
                </a:solidFill>
              </a:rPr>
              <a:t>multiple elements</a:t>
            </a:r>
            <a:endParaRPr b="1" sz="2800">
              <a:solidFill>
                <a:schemeClr val="dk1"/>
              </a:solidFill>
            </a:endParaRPr>
          </a:p>
          <a:p>
            <a:pPr indent="-2152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en-PH" sz="2800">
                <a:solidFill>
                  <a:schemeClr val="dk1"/>
                </a:solidFill>
              </a:rPr>
              <a:t>We frequently want to </a:t>
            </a:r>
            <a:r>
              <a:rPr b="1" lang="en-PH" sz="2800">
                <a:solidFill>
                  <a:schemeClr val="dk1"/>
                </a:solidFill>
              </a:rPr>
              <a:t>iterate</a:t>
            </a:r>
            <a:r>
              <a:rPr lang="en-PH" sz="2800">
                <a:solidFill>
                  <a:schemeClr val="dk1"/>
                </a:solidFill>
              </a:rPr>
              <a:t>, </a:t>
            </a:r>
            <a:r>
              <a:rPr b="1" lang="en-PH" sz="2800">
                <a:solidFill>
                  <a:schemeClr val="dk1"/>
                </a:solidFill>
              </a:rPr>
              <a:t>filter</a:t>
            </a:r>
            <a:r>
              <a:rPr lang="en-PH" sz="2800">
                <a:solidFill>
                  <a:schemeClr val="dk1"/>
                </a:solidFill>
              </a:rPr>
              <a:t>, </a:t>
            </a:r>
            <a:r>
              <a:rPr b="1" lang="en-PH" sz="2800">
                <a:solidFill>
                  <a:schemeClr val="dk1"/>
                </a:solidFill>
              </a:rPr>
              <a:t>transform</a:t>
            </a:r>
            <a:r>
              <a:rPr lang="en-PH" sz="2800">
                <a:solidFill>
                  <a:schemeClr val="dk1"/>
                </a:solidFill>
              </a:rPr>
              <a:t> or </a:t>
            </a:r>
            <a:r>
              <a:rPr b="1" lang="en-PH" sz="2800">
                <a:solidFill>
                  <a:schemeClr val="dk1"/>
                </a:solidFill>
              </a:rPr>
              <a:t>aggregate</a:t>
            </a:r>
            <a:r>
              <a:rPr lang="en-PH" sz="2800">
                <a:solidFill>
                  <a:schemeClr val="dk1"/>
                </a:solidFill>
              </a:rPr>
              <a:t> elements</a:t>
            </a:r>
            <a:endParaRPr sz="2800">
              <a:solidFill>
                <a:schemeClr val="dk1"/>
              </a:solidFill>
            </a:endParaRPr>
          </a:p>
          <a:p>
            <a:pPr indent="-21528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Noto Sans Symbols"/>
              <a:buChar char="●"/>
            </a:pPr>
            <a:r>
              <a:rPr lang="en-PH" sz="2800">
                <a:solidFill>
                  <a:schemeClr val="dk1"/>
                </a:solidFill>
              </a:rPr>
              <a:t>Java 8+ Streams and lambda expressions make this </a:t>
            </a:r>
            <a:r>
              <a:rPr b="1" lang="en-PH" sz="2800">
                <a:solidFill>
                  <a:schemeClr val="dk1"/>
                </a:solidFill>
              </a:rPr>
              <a:t>easy</a:t>
            </a:r>
            <a:r>
              <a:rPr lang="en-PH" sz="2800">
                <a:solidFill>
                  <a:schemeClr val="dk1"/>
                </a:solidFill>
              </a:rPr>
              <a:t> and </a:t>
            </a:r>
            <a:r>
              <a:rPr b="1" lang="en-PH" sz="2800">
                <a:solidFill>
                  <a:schemeClr val="dk1"/>
                </a:solidFill>
              </a:rPr>
              <a:t>readable</a:t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3a55c61790e_0_316"/>
          <p:cNvSpPr/>
          <p:nvPr/>
        </p:nvSpPr>
        <p:spPr>
          <a:xfrm>
            <a:off x="501480" y="644040"/>
            <a:ext cx="111747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1200">
                <a:solidFill>
                  <a:srgbClr val="9B1D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Functional Interfaces and Lambda Expressions</a:t>
            </a:r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7" name="Google Shape;947;g3a55c61790e_0_316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48" name="Google Shape;948;g3a55c61790e_0_316"/>
          <p:cNvSpPr/>
          <p:nvPr/>
        </p:nvSpPr>
        <p:spPr>
          <a:xfrm>
            <a:off x="506160" y="160056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3200">
                <a:solidFill>
                  <a:srgbClr val="C9211E"/>
                </a:solidFill>
              </a:rPr>
              <a:t>Functional Interfaces Commonly Used with Streams</a:t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rgbClr val="C9211E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graphicFrame>
        <p:nvGraphicFramePr>
          <p:cNvPr id="949" name="Google Shape;949;g3a55c61790e_0_316"/>
          <p:cNvGraphicFramePr/>
          <p:nvPr/>
        </p:nvGraphicFramePr>
        <p:xfrm>
          <a:off x="776625" y="242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{7ED3544F-2B16-4A5E-8BA2-DB56DC928FEF}</a:tableStyleId>
              </a:tblPr>
              <a:tblGrid>
                <a:gridCol w="3072300"/>
                <a:gridCol w="2725400"/>
                <a:gridCol w="4261550"/>
              </a:tblGrid>
              <a:tr h="506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Functional Interface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Method Signature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PH" sz="1100"/>
                        <a:t>Use Case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48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Consumer&lt;T&gt;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void accept(T t)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forEach()</a:t>
                      </a:r>
                      <a:r>
                        <a:rPr lang="en-PH" sz="1100"/>
                        <a:t> – iterate and process elements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71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Predicate&lt;T&gt;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boolean test(T t)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filter()</a:t>
                      </a:r>
                      <a:r>
                        <a:rPr lang="en-PH" sz="1100"/>
                        <a:t> – keep certain elements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480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Function&lt;T,R&gt;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R apply(T t)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map()</a:t>
                      </a:r>
                      <a:r>
                        <a:rPr lang="en-PH" sz="1100"/>
                        <a:t> – transform elements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531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Supplier&lt;T&gt;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T get()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Provide data lazily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1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Comparator&lt;T&gt;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int compare(T a, T b)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PH"/>
                        <a:t>Sorting streams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5" name="Google Shape;955;g3a55c61790e_0_327"/>
          <p:cNvCxnSpPr/>
          <p:nvPr/>
        </p:nvCxnSpPr>
        <p:spPr>
          <a:xfrm>
            <a:off x="96840" y="746280"/>
            <a:ext cx="10200300" cy="0"/>
          </a:xfrm>
          <a:prstGeom prst="straightConnector1">
            <a:avLst/>
          </a:prstGeom>
          <a:noFill/>
          <a:ln cap="flat" cmpd="sng" w="9525">
            <a:solidFill>
              <a:srgbClr val="AE1E27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956" name="Google Shape;956;g3a55c61790e_0_327"/>
          <p:cNvSpPr/>
          <p:nvPr/>
        </p:nvSpPr>
        <p:spPr>
          <a:xfrm>
            <a:off x="340200" y="1363320"/>
            <a:ext cx="11179200" cy="44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6000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b="1" sz="6000">
              <a:solidFill>
                <a:srgbClr val="C921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PH" sz="6000">
                <a:solidFill>
                  <a:srgbClr val="C9211E"/>
                </a:solidFill>
                <a:latin typeface="Calibri"/>
                <a:ea typeface="Calibri"/>
                <a:cs typeface="Calibri"/>
                <a:sym typeface="Calibri"/>
              </a:rPr>
              <a:t>Any Questions / Clarifications?</a:t>
            </a:r>
            <a:endParaRPr b="1" sz="6000">
              <a:solidFill>
                <a:srgbClr val="C921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84191D"/>
      </a:dk2>
      <a:lt2>
        <a:srgbClr val="F3E8EB"/>
      </a:lt2>
      <a:accent1>
        <a:srgbClr val="AF222B"/>
      </a:accent1>
      <a:accent2>
        <a:srgbClr val="DAA22B"/>
      </a:accent2>
      <a:accent3>
        <a:srgbClr val="1C43C9"/>
      </a:accent3>
      <a:accent4>
        <a:srgbClr val="1C9A0E"/>
      </a:accent4>
      <a:accent5>
        <a:srgbClr val="28B0F5"/>
      </a:accent5>
      <a:accent6>
        <a:srgbClr val="8A15F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2020-03-05T06:49:37Z</dcterms:created>
  <dc:creator>CHEESAMAE B. MANEJA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lassificationContentMarkingFooterLocations">
    <vt:lpwstr>BPI2019:10\1_BPI Powerpoint Template 2019 - Internal Use:10\152_BPI2019:10\146_BPI2019:10\BPI PPT Theme:10\2_BPI2019:10\5_BPI2019:10\BPI Powerpoint Template 2019 - Internal Use:5</vt:lpwstr>
  </property>
  <property fmtid="{D5CDD505-2E9C-101B-9397-08002B2CF9AE}" pid="4" name="ClassificationContentMarkingFooterText">
    <vt:lpwstr>This document contains confidential data. It is intended solely for  the use of authorized recipient(s). Unauthorized use, disclosure, or reproduction  is strictly prohibited.</vt:lpwstr>
  </property>
  <property fmtid="{D5CDD505-2E9C-101B-9397-08002B2CF9AE}" pid="5" name="ClassificationContentMarkingHeaderLocations">
    <vt:lpwstr>BPI2019:9\1_BPI Powerpoint Template 2019 - Internal Use:9\152_BPI2019:9\146_BPI2019:9\BPI PPT Theme:9\2_BPI2019:9\5_BPI2019:9\BPI Powerpoint Template 2019 - Internal Use:4</vt:lpwstr>
  </property>
  <property fmtid="{D5CDD505-2E9C-101B-9397-08002B2CF9AE}" pid="6" name="ClassificationContentMarkingHeaderText">
    <vt:lpwstr>Confidential</vt:lpwstr>
  </property>
  <property fmtid="{D5CDD505-2E9C-101B-9397-08002B2CF9AE}" pid="7" name="Company">
    <vt:lpwstr>Bank of the Philippine Islands</vt:lpwstr>
  </property>
  <property fmtid="{D5CDD505-2E9C-101B-9397-08002B2CF9AE}" pid="8" name="ContentTypeId">
    <vt:lpwstr>0x010100C45ABA40644FCC4CAE4C6F68CADFC236</vt:lpwstr>
  </property>
  <property fmtid="{D5CDD505-2E9C-101B-9397-08002B2CF9AE}" pid="9" name="HiddenSlides">
    <vt:i4>0</vt:i4>
  </property>
  <property fmtid="{D5CDD505-2E9C-101B-9397-08002B2CF9AE}" pid="10" name="HyperlinksChanged">
    <vt:bool>false</vt:bool>
  </property>
  <property fmtid="{D5CDD505-2E9C-101B-9397-08002B2CF9AE}" pid="11" name="LinksUpToDate">
    <vt:bool>false</vt:bool>
  </property>
  <property fmtid="{D5CDD505-2E9C-101B-9397-08002B2CF9AE}" pid="12" name="MMClips">
    <vt:i4>0</vt:i4>
  </property>
  <property fmtid="{D5CDD505-2E9C-101B-9397-08002B2CF9AE}" pid="13" name="MSIP_Label_4d6ac669-a8bf-47f5-a0d2-faaa744f7ecd_ActionId">
    <vt:lpwstr>469dbbbe-193a-48e7-a21a-e50eaa0fc1cb</vt:lpwstr>
  </property>
  <property fmtid="{D5CDD505-2E9C-101B-9397-08002B2CF9AE}" pid="14" name="MSIP_Label_4d6ac669-a8bf-47f5-a0d2-faaa744f7ecd_ContentBits">
    <vt:lpwstr>3</vt:lpwstr>
  </property>
  <property fmtid="{D5CDD505-2E9C-101B-9397-08002B2CF9AE}" pid="15" name="MSIP_Label_4d6ac669-a8bf-47f5-a0d2-faaa744f7ecd_Enabled">
    <vt:lpwstr>true</vt:lpwstr>
  </property>
  <property fmtid="{D5CDD505-2E9C-101B-9397-08002B2CF9AE}" pid="16" name="MSIP_Label_4d6ac669-a8bf-47f5-a0d2-faaa744f7ecd_Method">
    <vt:lpwstr>Standard</vt:lpwstr>
  </property>
  <property fmtid="{D5CDD505-2E9C-101B-9397-08002B2CF9AE}" pid="17" name="MSIP_Label_4d6ac669-a8bf-47f5-a0d2-faaa744f7ecd_Name">
    <vt:lpwstr>Confidential</vt:lpwstr>
  </property>
  <property fmtid="{D5CDD505-2E9C-101B-9397-08002B2CF9AE}" pid="18" name="MSIP_Label_4d6ac669-a8bf-47f5-a0d2-faaa744f7ecd_SetDate">
    <vt:lpwstr>2025-10-07T04:38:31Z</vt:lpwstr>
  </property>
  <property fmtid="{D5CDD505-2E9C-101B-9397-08002B2CF9AE}" pid="19" name="MSIP_Label_4d6ac669-a8bf-47f5-a0d2-faaa744f7ecd_SiteId">
    <vt:lpwstr>24cf8460-6751-428a-ab19-a8eb04dfe447</vt:lpwstr>
  </property>
  <property fmtid="{D5CDD505-2E9C-101B-9397-08002B2CF9AE}" pid="20" name="MSIP_Label_4d6ac669-a8bf-47f5-a0d2-faaa744f7ecd_Tag">
    <vt:lpwstr>50, 3, 0, 1</vt:lpwstr>
  </property>
  <property fmtid="{D5CDD505-2E9C-101B-9397-08002B2CF9AE}" pid="21" name="Notes">
    <vt:i4>1</vt:i4>
  </property>
  <property fmtid="{D5CDD505-2E9C-101B-9397-08002B2CF9AE}" pid="22" name="PresentationFormat">
    <vt:lpwstr>Widescreen</vt:lpwstr>
  </property>
  <property fmtid="{D5CDD505-2E9C-101B-9397-08002B2CF9AE}" pid="23" name="ScaleCrop">
    <vt:bool>false</vt:bool>
  </property>
  <property fmtid="{D5CDD505-2E9C-101B-9397-08002B2CF9AE}" pid="24" name="ShareDoc">
    <vt:bool>false</vt:bool>
  </property>
  <property fmtid="{D5CDD505-2E9C-101B-9397-08002B2CF9AE}" pid="25" name="Slides">
    <vt:i4>2</vt:i4>
  </property>
</Properties>
</file>