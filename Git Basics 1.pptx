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7010400" cy="92964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Arial Black"/>
      <p:regular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k9OhBrhtu2l73iomT49LNBsF7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exend-regular.fntdata"/><Relationship Id="rId25" Type="http://schemas.openxmlformats.org/officeDocument/2006/relationships/font" Target="fonts/ArialBlack-regular.fntdata"/><Relationship Id="rId28" Type="http://customschemas.google.com/relationships/presentationmetadata" Target="metadata"/><Relationship Id="rId27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1362b7ee_0_87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9a1362b7ee_0_87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a1362b7ee_0_87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fe8fe9e1_0_34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acfe8fe9e1_0_34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acfe8fe9e1_0_34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1362b7ee_0_95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9a1362b7ee_0_95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9a1362b7ee_0_95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cfe8fe9e1_0_9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cfe8fe9e1_0_9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acfe8fe9e1_0_9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cfe8fe9e1_0_45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cfe8fe9e1_0_45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acfe8fe9e1_0_45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cfe8fe9e1_0_56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cfe8fe9e1_0_56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acfe8fe9e1_0_56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cfe8fe9e1_0_81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acfe8fe9e1_0_81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acfe8fe9e1_0_81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cfe8fe9e1_0_93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acfe8fe9e1_0_93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acfe8fe9e1_0_93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cfe8fe9e1_0_101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acfe8fe9e1_0_101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acfe8fe9e1_0_101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cfe8fe9e1_0_64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acfe8fe9e1_0_64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acfe8fe9e1_0_64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cfe8fe9e1_0_111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acfe8fe9e1_0_111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acfe8fe9e1_0_111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cfe8fe9e1_0_72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acfe8fe9e1_0_72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acfe8fe9e1_0_72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cfe8fe9e1_0_129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acfe8fe9e1_0_129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acfe8fe9e1_0_129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cfe8fe9e1_0_121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acfe8fe9e1_0_121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acfe8fe9e1_0_121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cfe8fe9e1_0_141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acfe8fe9e1_0_141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acfe8fe9e1_0_141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3848103" y="983674"/>
            <a:ext cx="6819900" cy="28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5333"/>
              <a:buFont typeface="Arial Black"/>
              <a:buNone/>
              <a:defRPr sz="53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3848103" y="3892984"/>
            <a:ext cx="68199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667"/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3610897" y="976745"/>
            <a:ext cx="0" cy="4572000"/>
          </a:xfrm>
          <a:prstGeom prst="straightConnector1">
            <a:avLst/>
          </a:prstGeom>
          <a:noFill/>
          <a:ln cap="flat" cmpd="sng" w="28575">
            <a:solidFill>
              <a:srgbClr val="9B1D2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4"/>
          <p:cNvSpPr/>
          <p:nvPr/>
        </p:nvSpPr>
        <p:spPr>
          <a:xfrm>
            <a:off x="10668000" y="0"/>
            <a:ext cx="1422300" cy="78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738" y="2087880"/>
            <a:ext cx="3479663" cy="268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505968" y="1600201"/>
            <a:ext cx="11180100" cy="44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56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4108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6931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36931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Content">
  <p:cSld name="Title, Sub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95300" y="1905001"/>
            <a:ext cx="11180100" cy="4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560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64108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36931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4pPr>
            <a:lvl5pPr indent="-336931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 flipH="1">
            <a:off x="495264" y="1315720"/>
            <a:ext cx="11180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Font typeface="Calibri"/>
              <a:buNone/>
              <a:defRPr i="1" sz="2667"/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Font typeface="Calibri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Calibri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Calibri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12800" y="2218267"/>
            <a:ext cx="10515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4800"/>
              <a:buFont typeface="Arial Black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12800" y="3530600"/>
            <a:ext cx="10515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4"/>
              <a:buNone/>
              <a:defRPr sz="2667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706"/>
              <a:buNone/>
              <a:defRPr sz="213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706"/>
              <a:buNone/>
              <a:defRPr sz="213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519273" y="1603104"/>
            <a:ext cx="5486400" cy="4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109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>
                <a:latin typeface="Calibri"/>
                <a:ea typeface="Calibri"/>
                <a:cs typeface="Calibri"/>
                <a:sym typeface="Calibri"/>
              </a:defRPr>
            </a:lvl1pPr>
            <a:lvl2pPr indent="-350519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6931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3pPr>
            <a:lvl4pPr indent="-32346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4pPr>
            <a:lvl5pPr indent="-32346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6196173" y="1603104"/>
            <a:ext cx="5486400" cy="4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109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>
                <a:latin typeface="Calibri"/>
                <a:ea typeface="Calibri"/>
                <a:cs typeface="Calibri"/>
                <a:sym typeface="Calibri"/>
              </a:defRPr>
            </a:lvl1pPr>
            <a:lvl2pPr indent="-350519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6931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3pPr>
            <a:lvl4pPr indent="-32346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4pPr>
            <a:lvl5pPr indent="-32346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and Two Content">
  <p:cSld name="Subtitle and 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508401" y="1916384"/>
            <a:ext cx="5486400" cy="4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109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>
                <a:latin typeface="Calibri"/>
                <a:ea typeface="Calibri"/>
                <a:cs typeface="Calibri"/>
                <a:sym typeface="Calibri"/>
              </a:defRPr>
            </a:lvl1pPr>
            <a:lvl2pPr indent="-350519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6931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3pPr>
            <a:lvl4pPr indent="-32346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4pPr>
            <a:lvl5pPr indent="-32346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6190365" y="1916384"/>
            <a:ext cx="5486400" cy="4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109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>
                <a:latin typeface="Calibri"/>
                <a:ea typeface="Calibri"/>
                <a:cs typeface="Calibri"/>
                <a:sym typeface="Calibri"/>
              </a:defRPr>
            </a:lvl1pPr>
            <a:lvl2pPr indent="-350519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6931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3pPr>
            <a:lvl4pPr indent="-32346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4pPr>
            <a:lvl5pPr indent="-32346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idx="3" type="body"/>
          </p:nvPr>
        </p:nvSpPr>
        <p:spPr>
          <a:xfrm flipH="1">
            <a:off x="498731" y="1315720"/>
            <a:ext cx="11180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Font typeface="Calibri"/>
              <a:buNone/>
              <a:defRPr i="1" sz="2667"/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Font typeface="Calibri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Calibri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Calibri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508000" y="139700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560"/>
              <a:buNone/>
              <a:defRPr b="1" sz="32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b="1" sz="2667"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None/>
              <a:defRPr b="1" sz="2133"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None/>
              <a:defRPr b="1" sz="2133"/>
            </a:lvl5pPr>
            <a:lvl6pPr indent="-2286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515816" y="2216140"/>
            <a:ext cx="5486400" cy="3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109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>
                <a:latin typeface="Calibri"/>
                <a:ea typeface="Calibri"/>
                <a:cs typeface="Calibri"/>
                <a:sym typeface="Calibri"/>
              </a:defRPr>
            </a:lvl1pPr>
            <a:lvl2pPr indent="-350519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6931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3pPr>
            <a:lvl4pPr indent="-32346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4pPr>
            <a:lvl5pPr indent="-32346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3" type="body"/>
          </p:nvPr>
        </p:nvSpPr>
        <p:spPr>
          <a:xfrm>
            <a:off x="6184924" y="139700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560"/>
              <a:buNone/>
              <a:defRPr b="1" sz="32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b="1" sz="2667"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None/>
              <a:defRPr b="1" sz="2133"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None/>
              <a:defRPr b="1" sz="2133"/>
            </a:lvl5pPr>
            <a:lvl6pPr indent="-2286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52" name="Google Shape;52;p10"/>
          <p:cNvSpPr txBox="1"/>
          <p:nvPr>
            <p:ph idx="4" type="body"/>
          </p:nvPr>
        </p:nvSpPr>
        <p:spPr>
          <a:xfrm>
            <a:off x="6192740" y="2216140"/>
            <a:ext cx="5486400" cy="3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109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>
                <a:latin typeface="Calibri"/>
                <a:ea typeface="Calibri"/>
                <a:cs typeface="Calibri"/>
                <a:sym typeface="Calibri"/>
              </a:defRPr>
            </a:lvl1pPr>
            <a:lvl2pPr indent="-350519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6931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Char char="•"/>
              <a:defRPr sz="2133">
                <a:latin typeface="Calibri"/>
                <a:ea typeface="Calibri"/>
                <a:cs typeface="Calibri"/>
                <a:sym typeface="Calibri"/>
              </a:defRPr>
            </a:lvl3pPr>
            <a:lvl4pPr indent="-32346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4pPr>
            <a:lvl5pPr indent="-32346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Char char="•"/>
              <a:defRPr sz="1867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Only">
  <p:cSld name="Title and Subtitle 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 flipH="1">
            <a:off x="498135" y="1307957"/>
            <a:ext cx="11180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Font typeface="Calibri"/>
              <a:buNone/>
              <a:defRPr i="1" sz="2667"/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Font typeface="Calibri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alibri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Calibri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Calibri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840318" y="457200"/>
            <a:ext cx="39327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3733"/>
              <a:buFont typeface="Arial Black"/>
              <a:buNone/>
              <a:defRPr sz="37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5183717" y="988485"/>
            <a:ext cx="6172200" cy="48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8211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986"/>
              <a:buChar char="•"/>
              <a:defRPr sz="3733"/>
            </a:lvl1pPr>
            <a:lvl2pPr indent="-39116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560"/>
              <a:buChar char="•"/>
              <a:defRPr sz="3200"/>
            </a:lvl2pPr>
            <a:lvl3pPr indent="-364108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Char char="•"/>
              <a:defRPr sz="2667"/>
            </a:lvl3pPr>
            <a:lvl4pPr indent="-35051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/>
            </a:lvl4pPr>
            <a:lvl5pPr indent="-35052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2400"/>
            </a:lvl5pPr>
            <a:lvl6pPr indent="-397954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840318" y="2057400"/>
            <a:ext cx="3932700" cy="3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706"/>
              <a:buNone/>
              <a:defRPr sz="2133"/>
            </a:lvl1pPr>
            <a:lvl2pPr indent="-2286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94"/>
              <a:buNone/>
              <a:defRPr sz="1867"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66"/>
              <a:buNone/>
              <a:defRPr sz="1333"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066"/>
              <a:buNone/>
              <a:defRPr sz="1333"/>
            </a:lvl5pPr>
            <a:lvl6pPr indent="-2286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6pPr>
            <a:lvl7pPr indent="-2286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7pPr>
            <a:lvl8pPr indent="-2286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8pPr>
            <a:lvl9pPr indent="-2286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 rot="5400000">
            <a:off x="3894950" y="-1787975"/>
            <a:ext cx="4389000" cy="111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 rot="5400000">
            <a:off x="7134301" y="1956785"/>
            <a:ext cx="5810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 rot="5400000">
            <a:off x="1774851" y="-570565"/>
            <a:ext cx="5810100" cy="76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962400" y="2057400"/>
            <a:ext cx="7924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4267"/>
              <a:buFont typeface="Arial Black"/>
              <a:buNone/>
              <a:defRPr sz="42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962400" y="3566160"/>
            <a:ext cx="792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494"/>
              <a:buNone/>
              <a:def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4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706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1706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3962400" y="29718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667"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2" name="Google Shape;82;p17"/>
          <p:cNvCxnSpPr/>
          <p:nvPr/>
        </p:nvCxnSpPr>
        <p:spPr>
          <a:xfrm>
            <a:off x="3610897" y="976745"/>
            <a:ext cx="0" cy="4572000"/>
          </a:xfrm>
          <a:prstGeom prst="straightConnector1">
            <a:avLst/>
          </a:prstGeom>
          <a:noFill/>
          <a:ln cap="flat" cmpd="sng" w="28575">
            <a:solidFill>
              <a:srgbClr val="9B1D2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738" y="2087880"/>
            <a:ext cx="3479663" cy="268224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10383520" y="55880"/>
            <a:ext cx="1707000" cy="731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68000" y="3"/>
            <a:ext cx="1274928" cy="98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"/>
          <p:cNvSpPr txBox="1"/>
          <p:nvPr>
            <p:ph type="title"/>
          </p:nvPr>
        </p:nvSpPr>
        <p:spPr>
          <a:xfrm>
            <a:off x="501400" y="643909"/>
            <a:ext cx="111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4267"/>
              <a:buFont typeface="Arial Black"/>
              <a:buNone/>
              <a:defRPr b="1" i="0" sz="4267" u="none" cap="none" strike="noStrike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501400" y="1605475"/>
            <a:ext cx="11175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56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4108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4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6931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6931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706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5174913" y="6591263"/>
            <a:ext cx="703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b="1" i="0" lang="en-US" sz="933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5757863" y="63500"/>
            <a:ext cx="701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1515237" y="6642100"/>
            <a:ext cx="9186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github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github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848103" y="983674"/>
            <a:ext cx="6819900" cy="28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5300"/>
              <a:buFont typeface="Arial Black"/>
              <a:buNone/>
            </a:pPr>
            <a:r>
              <a:rPr lang="en-US"/>
              <a:t>Git Basics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3848103" y="3892984"/>
            <a:ext cx="68199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i="1" lang="en-US" sz="1800"/>
              <a:t>A BPI Training Program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0" y="6455664"/>
            <a:ext cx="1016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1362b7ee_0_87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8" name="Google Shape;98;g39a1362b7ee_0_87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g39a1362b7ee_0_87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What is Git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0" name="Google Shape;100;g39a1362b7ee_0_87"/>
          <p:cNvSpPr txBox="1"/>
          <p:nvPr/>
        </p:nvSpPr>
        <p:spPr>
          <a:xfrm>
            <a:off x="595975" y="1764525"/>
            <a:ext cx="101505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a distributed Version Control System used for tracking file changes and allowing for collaboration between different developers.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allows developers to have their own copy of the repository including the change history of the project.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Branching allows developers to create another copy of the code (at a certain point) and develop new features on that branch until it merges back to the master branch.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fe8fe9e1_0_34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7" name="Google Shape;107;g3acfe8fe9e1_0_34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g3acfe8fe9e1_0_34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-472459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I want to create a repository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9" name="Google Shape;109;g3acfe8fe9e1_0_34"/>
          <p:cNvSpPr txBox="1"/>
          <p:nvPr/>
        </p:nvSpPr>
        <p:spPr>
          <a:xfrm>
            <a:off x="517400" y="1764525"/>
            <a:ext cx="10150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Char char="●"/>
            </a:pPr>
            <a:r>
              <a:rPr lang="en-US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create a repository, go to </a:t>
            </a:r>
            <a:r>
              <a:rPr b="1" lang="en-US" sz="3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github.com</a:t>
            </a:r>
            <a:r>
              <a:rPr lang="en-US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sign in, and look for buttons labelled “new” and create a new repository</a:t>
            </a:r>
            <a:endParaRPr sz="3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Char char="●"/>
            </a:pPr>
            <a:r>
              <a:rPr lang="en-US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Provide a repository name, set it to public, add .gitignore (Java)</a:t>
            </a:r>
            <a:endParaRPr sz="3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1362b7ee_0_95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6" name="Google Shape;116;g39a1362b7ee_0_95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g39a1362b7ee_0_95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-472459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I want to create a repository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8" name="Google Shape;118;g39a1362b7ee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718551"/>
            <a:ext cx="11887202" cy="1482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9a1362b7ee_0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050" y="1584876"/>
            <a:ext cx="5759675" cy="484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cfe8fe9e1_0_9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26" name="Google Shape;126;g3acfe8fe9e1_0_9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g3acfe8fe9e1_0_9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2. </a:t>
            </a:r>
            <a:r>
              <a:rPr lang="en-US"/>
              <a:t>I want to clone a repository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8" name="Google Shape;128;g3acfe8fe9e1_0_9"/>
          <p:cNvSpPr txBox="1"/>
          <p:nvPr/>
        </p:nvSpPr>
        <p:spPr>
          <a:xfrm>
            <a:off x="517400" y="1764525"/>
            <a:ext cx="101505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Navigate to your repository via </a:t>
            </a:r>
            <a:r>
              <a:rPr b="1" lang="en-US" sz="22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github.com</a:t>
            </a: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selecting the repository name from your list of repositories.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Once you’re in the repository, look for a green button “Code” and copy the HTTP Address you’ll see. It should end with “.git”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Once copied, on your Desktop Computer, open a Command Prompt / Power Shell / Terminal in a folder of your choice and then type the command: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git clone &lt;the copied https&gt;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Upon cloning, use the command “cd &lt;folder name of the cloned repository&gt;” to let your terminal go into that folder.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	</a:t>
            </a:r>
            <a:r>
              <a:rPr b="1" lang="en-US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*Note: It may ask you to sign in / provide a token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cfe8fe9e1_0_45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35" name="Google Shape;135;g3acfe8fe9e1_0_45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g3acfe8fe9e1_0_45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2. I want to clone a repository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7" name="Google Shape;137;g3acfe8fe9e1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00" y="1584875"/>
            <a:ext cx="5790250" cy="29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acfe8fe9e1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013" y="3710950"/>
            <a:ext cx="89439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acfe8fe9e1_0_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4025" y="4139575"/>
            <a:ext cx="601027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cfe8fe9e1_0_56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46" name="Google Shape;146;g3acfe8fe9e1_0_56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g3acfe8fe9e1_0_56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3. </a:t>
            </a:r>
            <a:r>
              <a:rPr lang="en-US"/>
              <a:t>I need to create a branch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8" name="Google Shape;148;g3acfe8fe9e1_0_56"/>
          <p:cNvSpPr txBox="1"/>
          <p:nvPr/>
        </p:nvSpPr>
        <p:spPr>
          <a:xfrm>
            <a:off x="517400" y="1764525"/>
            <a:ext cx="62862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●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Create and Switch to a branch: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○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switch -c &lt;branch_name_i_want_to_create&gt;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●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Switch to an existing branch: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○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switch &lt;my_existing_branch&gt;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●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Create a branch only: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○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branch &lt;branch_name_i_want_you_create&gt;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●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Display all existing local branches: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○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branch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cfe8fe9e1_0_81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55" name="Google Shape;155;g3acfe8fe9e1_0_81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g3acfe8fe9e1_0_81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3. I need to create a branch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7" name="Google Shape;157;g3acfe8fe9e1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700" y="1718551"/>
            <a:ext cx="77152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acfe8fe9e1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700" y="2785676"/>
            <a:ext cx="73437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cfe8fe9e1_0_93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65" name="Google Shape;165;g3acfe8fe9e1_0_93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g3acfe8fe9e1_0_93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4. I need to switch to a branch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7" name="Google Shape;167;g3acfe8fe9e1_0_93"/>
          <p:cNvSpPr txBox="1"/>
          <p:nvPr/>
        </p:nvSpPr>
        <p:spPr>
          <a:xfrm>
            <a:off x="517400" y="1764525"/>
            <a:ext cx="81597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●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Switch to an existing branch: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○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switch &lt;my_existing_branch&gt;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○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○"/>
            </a:pPr>
            <a:r>
              <a:rPr lang="en-US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checkout &lt;my_existing_branch&gt;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cfe8fe9e1_0_101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4" name="Google Shape;174;g3acfe8fe9e1_0_101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g3acfe8fe9e1_0_101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4. I need to switch to a branch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6" name="Google Shape;176;g3acfe8fe9e1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1822099"/>
            <a:ext cx="11345075" cy="14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cfe8fe9e1_0_64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3" name="Google Shape;183;g3acfe8fe9e1_0_64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g3acfe8fe9e1_0_64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240"/>
              <a:t>5. </a:t>
            </a:r>
            <a:r>
              <a:rPr lang="en-US" sz="3240"/>
              <a:t>I want to add/change a file and push it</a:t>
            </a:r>
            <a:endParaRPr sz="324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4770"/>
              <a:buFont typeface="Arial Black"/>
              <a:buNone/>
            </a:pPr>
            <a:r>
              <a:t/>
            </a:r>
            <a:endParaRPr sz="3240"/>
          </a:p>
        </p:txBody>
      </p:sp>
      <p:sp>
        <p:nvSpPr>
          <p:cNvPr id="185" name="Google Shape;185;g3acfe8fe9e1_0_64"/>
          <p:cNvSpPr txBox="1"/>
          <p:nvPr/>
        </p:nvSpPr>
        <p:spPr>
          <a:xfrm>
            <a:off x="517400" y="1764525"/>
            <a:ext cx="10150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Add/Change the files you need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○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optional: git switch &lt;your_branch_of_choice&gt;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○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add 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○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commit -m “&lt;Enter a short description on what you changed&gt;”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○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push origin &lt;your_branch_of_choice&gt;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cfe8fe9e1_0_111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2" name="Google Shape;192;g3acfe8fe9e1_0_111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g3acfe8fe9e1_0_111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240"/>
              <a:t>5. I want to add/change a file and push it</a:t>
            </a:r>
            <a:endParaRPr sz="324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4770"/>
              <a:buFont typeface="Arial Black"/>
              <a:buNone/>
            </a:pPr>
            <a:r>
              <a:t/>
            </a:r>
            <a:endParaRPr sz="3240"/>
          </a:p>
        </p:txBody>
      </p:sp>
      <p:pic>
        <p:nvPicPr>
          <p:cNvPr id="194" name="Google Shape;194;g3acfe8fe9e1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375" y="1494675"/>
            <a:ext cx="10042551" cy="4648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cfe8fe9e1_0_72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1" name="Google Shape;201;g3acfe8fe9e1_0_72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g3acfe8fe9e1_0_72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6. </a:t>
            </a:r>
            <a:r>
              <a:rPr lang="en-US"/>
              <a:t>I need to pull my code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3" name="Google Shape;203;g3acfe8fe9e1_0_72"/>
          <p:cNvSpPr txBox="1"/>
          <p:nvPr/>
        </p:nvSpPr>
        <p:spPr>
          <a:xfrm>
            <a:off x="517400" y="1764525"/>
            <a:ext cx="10150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US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pull a code from the remote to your local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US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(also known as pulling/merging)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○"/>
            </a:pPr>
            <a:r>
              <a:rPr lang="en-US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git pull origin &lt;the_remote_branch_you_want_to_pull_from&gt;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cfe8fe9e1_0_129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10" name="Google Shape;210;g3acfe8fe9e1_0_129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g3acfe8fe9e1_0_129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6. I need to pull my code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12" name="Google Shape;212;g3acfe8fe9e1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125" y="1718550"/>
            <a:ext cx="9489025" cy="217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cfe8fe9e1_0_121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19" name="Google Shape;219;g3acfe8fe9e1_0_121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g3acfe8fe9e1_0_121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Summary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1" name="Google Shape;221;g3acfe8fe9e1_0_121"/>
          <p:cNvSpPr txBox="1"/>
          <p:nvPr/>
        </p:nvSpPr>
        <p:spPr>
          <a:xfrm>
            <a:off x="517400" y="1764525"/>
            <a:ext cx="43032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-"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add/change file and push: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add 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commit -m “Commit message”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push origin main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g3acfe8fe9e1_0_121"/>
          <p:cNvSpPr txBox="1"/>
          <p:nvPr/>
        </p:nvSpPr>
        <p:spPr>
          <a:xfrm>
            <a:off x="439650" y="3299450"/>
            <a:ext cx="4303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-"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pull/merge/sync changes 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pull origin main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g3acfe8fe9e1_0_121"/>
          <p:cNvSpPr txBox="1"/>
          <p:nvPr/>
        </p:nvSpPr>
        <p:spPr>
          <a:xfrm>
            <a:off x="4820600" y="1718550"/>
            <a:ext cx="43032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-"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create a branch</a:t>
            </a: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branch &lt;branch_name&gt;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-"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display branches: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branch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-"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switch to an existing branch: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	&gt; git checkout &lt;branch_name&gt;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-"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create and switch in one command: 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switch -c &lt;branch_name&gt;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g3acfe8fe9e1_0_121"/>
          <p:cNvSpPr txBox="1"/>
          <p:nvPr/>
        </p:nvSpPr>
        <p:spPr>
          <a:xfrm>
            <a:off x="439650" y="4343200"/>
            <a:ext cx="43032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-"/>
            </a:pPr>
            <a:r>
              <a:rPr b="1"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status of current git repo / check what actions you can do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 git status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cfe8fe9e1_0_141"/>
          <p:cNvSpPr txBox="1"/>
          <p:nvPr>
            <p:ph type="title"/>
          </p:nvPr>
        </p:nvSpPr>
        <p:spPr>
          <a:xfrm>
            <a:off x="439648" y="189700"/>
            <a:ext cx="5510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ts val="1200"/>
              <a:buFont typeface="IBM Plex Sans"/>
              <a:buNone/>
            </a:pPr>
            <a:r>
              <a:rPr lang="en-US" sz="1200">
                <a:latin typeface="IBM Plex Sans"/>
                <a:ea typeface="IBM Plex Sans"/>
                <a:cs typeface="IBM Plex Sans"/>
                <a:sym typeface="IBM Plex Sans"/>
              </a:rPr>
              <a:t>Git Basics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1" name="Google Shape;231;g3acfe8fe9e1_0_141"/>
          <p:cNvCxnSpPr/>
          <p:nvPr/>
        </p:nvCxnSpPr>
        <p:spPr>
          <a:xfrm>
            <a:off x="97082" y="746462"/>
            <a:ext cx="1020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g3acfe8fe9e1_0_141"/>
          <p:cNvSpPr txBox="1"/>
          <p:nvPr>
            <p:ph idx="4294967295" type="ctrTitle"/>
          </p:nvPr>
        </p:nvSpPr>
        <p:spPr>
          <a:xfrm>
            <a:off x="517400" y="983676"/>
            <a:ext cx="101505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B1D23"/>
              </a:buClr>
              <a:buSzPct val="124209"/>
              <a:buFont typeface="Arial Black"/>
              <a:buNone/>
            </a:pPr>
            <a:r>
              <a:rPr lang="en-US"/>
              <a:t>Glossary</a:t>
            </a:r>
            <a:endParaRPr b="1" i="0" sz="4267" u="none" cap="none" strike="noStrike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3" name="Google Shape;233;g3acfe8fe9e1_0_141"/>
          <p:cNvSpPr txBox="1"/>
          <p:nvPr/>
        </p:nvSpPr>
        <p:spPr>
          <a:xfrm>
            <a:off x="517400" y="1764525"/>
            <a:ext cx="107247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-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Branch: A snapshot / copy of a specific state of your repository separate from other branches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-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Commit: A specific point in time marking a specific set of changes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-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Local (Repository): Your local copy of the </a:t>
            </a: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repository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-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Pull: To merge the online repository into your local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-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Push: To Upload your files to the remote repository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-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Remote (Repository): The copy of the repository online and visible to other developers.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-"/>
            </a:pPr>
            <a:r>
              <a:rPr lang="en-US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Repository: Your codebase / code directory / project  / folder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_BPI2019">
  <a:themeElements>
    <a:clrScheme name="BPI Color Palette - Monitoring Competition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2020-03-05T06:49:37Z</dcterms:created>
  <dc:creator>CHEESAMAE B. MANEJA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d6ac669-a8bf-47f5-a0d2-faaa744f7ecd_Enabled">
    <vt:lpwstr>true</vt:lpwstr>
  </property>
  <property fmtid="{D5CDD505-2E9C-101B-9397-08002B2CF9AE}" pid="3" name="MSIP_Label_4d6ac669-a8bf-47f5-a0d2-faaa744f7ecd_SetDate">
    <vt:lpwstr>2025-10-07T04:38:31Z</vt:lpwstr>
  </property>
  <property fmtid="{D5CDD505-2E9C-101B-9397-08002B2CF9AE}" pid="4" name="MSIP_Label_4d6ac669-a8bf-47f5-a0d2-faaa744f7ecd_Method">
    <vt:lpwstr>Standard</vt:lpwstr>
  </property>
  <property fmtid="{D5CDD505-2E9C-101B-9397-08002B2CF9AE}" pid="5" name="MSIP_Label_4d6ac669-a8bf-47f5-a0d2-faaa744f7ecd_Name">
    <vt:lpwstr>Confidential</vt:lpwstr>
  </property>
  <property fmtid="{D5CDD505-2E9C-101B-9397-08002B2CF9AE}" pid="6" name="MSIP_Label_4d6ac669-a8bf-47f5-a0d2-faaa744f7ecd_SiteId">
    <vt:lpwstr>24cf8460-6751-428a-ab19-a8eb04dfe447</vt:lpwstr>
  </property>
  <property fmtid="{D5CDD505-2E9C-101B-9397-08002B2CF9AE}" pid="7" name="MSIP_Label_4d6ac669-a8bf-47f5-a0d2-faaa744f7ecd_ActionId">
    <vt:lpwstr>469dbbbe-193a-48e7-a21a-e50eaa0fc1cb</vt:lpwstr>
  </property>
  <property fmtid="{D5CDD505-2E9C-101B-9397-08002B2CF9AE}" pid="8" name="MSIP_Label_4d6ac669-a8bf-47f5-a0d2-faaa744f7ecd_ContentBits">
    <vt:lpwstr>3</vt:lpwstr>
  </property>
  <property fmtid="{D5CDD505-2E9C-101B-9397-08002B2CF9AE}" pid="9" name="MSIP_Label_4d6ac669-a8bf-47f5-a0d2-faaa744f7ecd_Tag">
    <vt:lpwstr>50, 3, 0, 1</vt:lpwstr>
  </property>
  <property fmtid="{D5CDD505-2E9C-101B-9397-08002B2CF9AE}" pid="10" name="ClassificationContentMarkingFooterLocations">
    <vt:lpwstr>BPI2019:10\1_BPI Powerpoint Template 2019 - Internal Use:10\152_BPI2019:10\146_BPI2019:10\BPI PPT Theme:10\2_BPI2019:10\5_BPI2019:10\BPI Powerpoint Template 2019 - Internal Use:5</vt:lpwstr>
  </property>
  <property fmtid="{D5CDD505-2E9C-101B-9397-08002B2CF9AE}" pid="11" name="ClassificationContentMarkingFooterText">
    <vt:lpwstr>This document contains confidential data. It is intended solely for  the use of authorized recipient(s). Unauthorized use, disclosure, or reproduction  is strictly prohibited.</vt:lpwstr>
  </property>
  <property fmtid="{D5CDD505-2E9C-101B-9397-08002B2CF9AE}" pid="12" name="ClassificationContentMarkingHeaderLocations">
    <vt:lpwstr>BPI2019:9\1_BPI Powerpoint Template 2019 - Internal Use:9\152_BPI2019:9\146_BPI2019:9\BPI PPT Theme:9\2_BPI2019:9\5_BPI2019:9\BPI Powerpoint Template 2019 - Internal Use:4</vt:lpwstr>
  </property>
  <property fmtid="{D5CDD505-2E9C-101B-9397-08002B2CF9AE}" pid="13" name="ClassificationContentMarkingHeaderText">
    <vt:lpwstr>Confidential</vt:lpwstr>
  </property>
  <property fmtid="{D5CDD505-2E9C-101B-9397-08002B2CF9AE}" pid="14" name="ContentTypeId">
    <vt:lpwstr>0x010100C45ABA40644FCC4CAE4C6F68CADFC236</vt:lpwstr>
  </property>
</Properties>
</file>