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148.xml"/>
  <Override ContentType="application/vnd.openxmlformats-officedocument.presentationml.notesSlide+xml" PartName="/ppt/notesSlides/notesSlide39.xml"/>
  <Override ContentType="application/vnd.openxmlformats-officedocument.presentationml.notesSlide+xml" PartName="/ppt/notesSlides/notesSlide135.xml"/>
  <Override ContentType="application/vnd.openxmlformats-officedocument.presentationml.notesSlide+xml" PartName="/ppt/notesSlides/notesSlide137.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23.xml"/>
  <Override ContentType="application/vnd.openxmlformats-officedocument.presentationml.notesSlide+xml" PartName="/ppt/notesSlides/notesSlide110.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46.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120.xml"/>
  <Override ContentType="application/vnd.openxmlformats-officedocument.presentationml.notesSlide+xml" PartName="/ppt/notesSlides/notesSlide2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84.xml"/>
  <Override ContentType="application/vnd.openxmlformats-officedocument.presentationml.notesSlide+xml" PartName="/ppt/notesSlides/notesSlide116.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24.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69.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108.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67.xml"/>
  <Override ContentType="application/vnd.openxmlformats-officedocument.presentationml.notesSlide+xml" PartName="/ppt/notesSlides/notesSlide58.xml"/>
  <Override ContentType="application/vnd.openxmlformats-officedocument.presentationml.notesSlide+xml" PartName="/ppt/notesSlides/notesSlide140.xml"/>
  <Override ContentType="application/vnd.openxmlformats-officedocument.presentationml.notesSlide+xml" PartName="/ppt/notesSlides/notesSlide154.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111.xml"/>
  <Override ContentType="application/vnd.openxmlformats-officedocument.presentationml.notesSlide+xml" PartName="/ppt/notesSlides/notesSlide139.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164.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128.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162.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170.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71.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54.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141.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31.xml"/>
  <Override ContentType="application/vnd.openxmlformats-officedocument.presentationml.slide+xml" PartName="/ppt/slides/slide159.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31.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95.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157.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30.xml"/>
  <Override ContentType="application/vnd.openxmlformats-officedocument.presentationml.slide+xml" PartName="/ppt/slides/slide147.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71.xml"/>
  <Override ContentType="application/vnd.openxmlformats-officedocument.presentationml.slide+xml" PartName="/ppt/slides/slide149.xml"/>
  <Override ContentType="application/vnd.openxmlformats-officedocument.presentationml.slide+xml" PartName="/ppt/slides/slide49.xml"/>
  <Override ContentType="application/vnd.openxmlformats-officedocument.presentationml.slide+xml" PartName="/ppt/slides/slide124.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51.xml"/>
  <Override ContentType="application/vnd.openxmlformats-officedocument.presentationml.slide+xml" PartName="/ppt/slides/slide109.xml"/>
  <Override ContentType="application/vnd.openxmlformats-officedocument.presentationml.slide+xml" PartName="/ppt/slides/slide134.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160.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143.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32.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128.xml"/>
  <Override ContentType="application/vnd.openxmlformats-officedocument.presentationml.slide+xml" PartName="/ppt/slides/slide158.xml"/>
  <Override ContentType="application/vnd.openxmlformats-officedocument.presentationml.slide+xml" PartName="/ppt/slides/slide92.xml"/>
  <Override ContentType="application/vnd.openxmlformats-officedocument.presentationml.slide+xml" PartName="/ppt/slides/slide115.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Lst>
  <p:sldSz cy="6858000" cx="12192000"/>
  <p:notesSz cx="6858000" cy="9144000"/>
  <p:embeddedFontLst>
    <p:embeddedFont>
      <p:font typeface="Poppins"/>
      <p:regular r:id="rId179"/>
      <p:bold r:id="rId180"/>
      <p:italic r:id="rId181"/>
      <p:boldItalic r:id="rId182"/>
    </p:embeddedFont>
    <p:embeddedFont>
      <p:font typeface="Roboto Mono"/>
      <p:regular r:id="rId183"/>
      <p:bold r:id="rId184"/>
      <p:italic r:id="rId185"/>
      <p:boldItalic r:id="rId18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guide id="3" orient="horz" pos="1728">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B106EDE-8917-4D5C-A709-884EA9C3CE55}">
  <a:tblStyle styleId="{4B106EDE-8917-4D5C-A709-884EA9C3CE5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 pos="1728"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slide" Target="slides/slide101.xml"/><Relationship Id="rId106" Type="http://schemas.openxmlformats.org/officeDocument/2006/relationships/slide" Target="slides/slide100.xml"/><Relationship Id="rId105" Type="http://schemas.openxmlformats.org/officeDocument/2006/relationships/slide" Target="slides/slide99.xml"/><Relationship Id="rId104" Type="http://schemas.openxmlformats.org/officeDocument/2006/relationships/slide" Target="slides/slide98.xml"/><Relationship Id="rId109" Type="http://schemas.openxmlformats.org/officeDocument/2006/relationships/slide" Target="slides/slide103.xml"/><Relationship Id="rId108" Type="http://schemas.openxmlformats.org/officeDocument/2006/relationships/slide" Target="slides/slide102.xml"/><Relationship Id="rId48" Type="http://schemas.openxmlformats.org/officeDocument/2006/relationships/slide" Target="slides/slide42.xml"/><Relationship Id="rId47" Type="http://schemas.openxmlformats.org/officeDocument/2006/relationships/slide" Target="slides/slide41.xml"/><Relationship Id="rId186" Type="http://schemas.openxmlformats.org/officeDocument/2006/relationships/font" Target="fonts/RobotoMono-boldItalic.fntdata"/><Relationship Id="rId185" Type="http://schemas.openxmlformats.org/officeDocument/2006/relationships/font" Target="fonts/RobotoMono-italic.fntdata"/><Relationship Id="rId49" Type="http://schemas.openxmlformats.org/officeDocument/2006/relationships/slide" Target="slides/slide43.xml"/><Relationship Id="rId184" Type="http://schemas.openxmlformats.org/officeDocument/2006/relationships/font" Target="fonts/RobotoMono-bold.fntdata"/><Relationship Id="rId103" Type="http://schemas.openxmlformats.org/officeDocument/2006/relationships/slide" Target="slides/slide97.xml"/><Relationship Id="rId102" Type="http://schemas.openxmlformats.org/officeDocument/2006/relationships/slide" Target="slides/slide96.xml"/><Relationship Id="rId101" Type="http://schemas.openxmlformats.org/officeDocument/2006/relationships/slide" Target="slides/slide95.xml"/><Relationship Id="rId100" Type="http://schemas.openxmlformats.org/officeDocument/2006/relationships/slide" Target="slides/slide94.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183" Type="http://schemas.openxmlformats.org/officeDocument/2006/relationships/font" Target="fonts/RobotoMono-regular.fntdata"/><Relationship Id="rId32" Type="http://schemas.openxmlformats.org/officeDocument/2006/relationships/slide" Target="slides/slide26.xml"/><Relationship Id="rId182" Type="http://schemas.openxmlformats.org/officeDocument/2006/relationships/font" Target="fonts/Poppins-boldItalic.fntdata"/><Relationship Id="rId35" Type="http://schemas.openxmlformats.org/officeDocument/2006/relationships/slide" Target="slides/slide29.xml"/><Relationship Id="rId181" Type="http://schemas.openxmlformats.org/officeDocument/2006/relationships/font" Target="fonts/Poppins-italic.fntdata"/><Relationship Id="rId34" Type="http://schemas.openxmlformats.org/officeDocument/2006/relationships/slide" Target="slides/slide28.xml"/><Relationship Id="rId180" Type="http://schemas.openxmlformats.org/officeDocument/2006/relationships/font" Target="fonts/Poppins-bold.fntdata"/><Relationship Id="rId37" Type="http://schemas.openxmlformats.org/officeDocument/2006/relationships/slide" Target="slides/slide31.xml"/><Relationship Id="rId176" Type="http://schemas.openxmlformats.org/officeDocument/2006/relationships/slide" Target="slides/slide170.xml"/><Relationship Id="rId36" Type="http://schemas.openxmlformats.org/officeDocument/2006/relationships/slide" Target="slides/slide30.xml"/><Relationship Id="rId175" Type="http://schemas.openxmlformats.org/officeDocument/2006/relationships/slide" Target="slides/slide169.xml"/><Relationship Id="rId39" Type="http://schemas.openxmlformats.org/officeDocument/2006/relationships/slide" Target="slides/slide33.xml"/><Relationship Id="rId174" Type="http://schemas.openxmlformats.org/officeDocument/2006/relationships/slide" Target="slides/slide168.xml"/><Relationship Id="rId38" Type="http://schemas.openxmlformats.org/officeDocument/2006/relationships/slide" Target="slides/slide32.xml"/><Relationship Id="rId173" Type="http://schemas.openxmlformats.org/officeDocument/2006/relationships/slide" Target="slides/slide167.xml"/><Relationship Id="rId179" Type="http://schemas.openxmlformats.org/officeDocument/2006/relationships/font" Target="fonts/Poppins-regular.fntdata"/><Relationship Id="rId178" Type="http://schemas.openxmlformats.org/officeDocument/2006/relationships/slide" Target="slides/slide172.xml"/><Relationship Id="rId177" Type="http://schemas.openxmlformats.org/officeDocument/2006/relationships/slide" Target="slides/slide171.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29" Type="http://schemas.openxmlformats.org/officeDocument/2006/relationships/slide" Target="slides/slide123.xml"/><Relationship Id="rId128" Type="http://schemas.openxmlformats.org/officeDocument/2006/relationships/slide" Target="slides/slide122.xml"/><Relationship Id="rId127" Type="http://schemas.openxmlformats.org/officeDocument/2006/relationships/slide" Target="slides/slide121.xml"/><Relationship Id="rId126" Type="http://schemas.openxmlformats.org/officeDocument/2006/relationships/slide" Target="slides/slide120.xml"/><Relationship Id="rId26" Type="http://schemas.openxmlformats.org/officeDocument/2006/relationships/slide" Target="slides/slide20.xml"/><Relationship Id="rId121" Type="http://schemas.openxmlformats.org/officeDocument/2006/relationships/slide" Target="slides/slide115.xml"/><Relationship Id="rId25" Type="http://schemas.openxmlformats.org/officeDocument/2006/relationships/slide" Target="slides/slide19.xml"/><Relationship Id="rId120" Type="http://schemas.openxmlformats.org/officeDocument/2006/relationships/slide" Target="slides/slide114.xml"/><Relationship Id="rId28" Type="http://schemas.openxmlformats.org/officeDocument/2006/relationships/slide" Target="slides/slide22.xml"/><Relationship Id="rId27" Type="http://schemas.openxmlformats.org/officeDocument/2006/relationships/slide" Target="slides/slide21.xml"/><Relationship Id="rId125" Type="http://schemas.openxmlformats.org/officeDocument/2006/relationships/slide" Target="slides/slide119.xml"/><Relationship Id="rId29" Type="http://schemas.openxmlformats.org/officeDocument/2006/relationships/slide" Target="slides/slide23.xml"/><Relationship Id="rId124" Type="http://schemas.openxmlformats.org/officeDocument/2006/relationships/slide" Target="slides/slide118.xml"/><Relationship Id="rId123" Type="http://schemas.openxmlformats.org/officeDocument/2006/relationships/slide" Target="slides/slide117.xml"/><Relationship Id="rId122" Type="http://schemas.openxmlformats.org/officeDocument/2006/relationships/slide" Target="slides/slide116.xml"/><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11" Type="http://schemas.openxmlformats.org/officeDocument/2006/relationships/slide" Target="slides/slide5.xml"/><Relationship Id="rId99" Type="http://schemas.openxmlformats.org/officeDocument/2006/relationships/slide" Target="slides/slide93.xml"/><Relationship Id="rId10" Type="http://schemas.openxmlformats.org/officeDocument/2006/relationships/slide" Target="slides/slide4.xml"/><Relationship Id="rId98" Type="http://schemas.openxmlformats.org/officeDocument/2006/relationships/slide" Target="slides/slide92.xml"/><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18" Type="http://schemas.openxmlformats.org/officeDocument/2006/relationships/slide" Target="slides/slide112.xml"/><Relationship Id="rId117" Type="http://schemas.openxmlformats.org/officeDocument/2006/relationships/slide" Target="slides/slide111.xml"/><Relationship Id="rId116" Type="http://schemas.openxmlformats.org/officeDocument/2006/relationships/slide" Target="slides/slide110.xml"/><Relationship Id="rId115" Type="http://schemas.openxmlformats.org/officeDocument/2006/relationships/slide" Target="slides/slide109.xml"/><Relationship Id="rId119" Type="http://schemas.openxmlformats.org/officeDocument/2006/relationships/slide" Target="slides/slide113.xml"/><Relationship Id="rId15" Type="http://schemas.openxmlformats.org/officeDocument/2006/relationships/slide" Target="slides/slide9.xml"/><Relationship Id="rId110" Type="http://schemas.openxmlformats.org/officeDocument/2006/relationships/slide" Target="slides/slide104.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14" Type="http://schemas.openxmlformats.org/officeDocument/2006/relationships/slide" Target="slides/slide108.xml"/><Relationship Id="rId18" Type="http://schemas.openxmlformats.org/officeDocument/2006/relationships/slide" Target="slides/slide12.xml"/><Relationship Id="rId113" Type="http://schemas.openxmlformats.org/officeDocument/2006/relationships/slide" Target="slides/slide107.xml"/><Relationship Id="rId112" Type="http://schemas.openxmlformats.org/officeDocument/2006/relationships/slide" Target="slides/slide106.xml"/><Relationship Id="rId111" Type="http://schemas.openxmlformats.org/officeDocument/2006/relationships/slide" Target="slides/slide105.xml"/><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150" Type="http://schemas.openxmlformats.org/officeDocument/2006/relationships/slide" Target="slides/slide144.xml"/><Relationship Id="rId87" Type="http://schemas.openxmlformats.org/officeDocument/2006/relationships/slide" Target="slides/slide81.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3.xml"/><Relationship Id="rId4" Type="http://schemas.openxmlformats.org/officeDocument/2006/relationships/tableStyles" Target="tableStyles.xml"/><Relationship Id="rId148" Type="http://schemas.openxmlformats.org/officeDocument/2006/relationships/slide" Target="slides/slide142.xml"/><Relationship Id="rId9" Type="http://schemas.openxmlformats.org/officeDocument/2006/relationships/slide" Target="slides/slide3.xml"/><Relationship Id="rId143" Type="http://schemas.openxmlformats.org/officeDocument/2006/relationships/slide" Target="slides/slide137.xml"/><Relationship Id="rId142" Type="http://schemas.openxmlformats.org/officeDocument/2006/relationships/slide" Target="slides/slide136.xml"/><Relationship Id="rId141" Type="http://schemas.openxmlformats.org/officeDocument/2006/relationships/slide" Target="slides/slide135.xml"/><Relationship Id="rId140" Type="http://schemas.openxmlformats.org/officeDocument/2006/relationships/slide" Target="slides/slide134.xml"/><Relationship Id="rId5" Type="http://schemas.openxmlformats.org/officeDocument/2006/relationships/slideMaster" Target="slideMasters/slideMaster1.xml"/><Relationship Id="rId147" Type="http://schemas.openxmlformats.org/officeDocument/2006/relationships/slide" Target="slides/slide141.xml"/><Relationship Id="rId6" Type="http://schemas.openxmlformats.org/officeDocument/2006/relationships/notesMaster" Target="notesMasters/notesMaster1.xml"/><Relationship Id="rId146" Type="http://schemas.openxmlformats.org/officeDocument/2006/relationships/slide" Target="slides/slide140.xml"/><Relationship Id="rId7" Type="http://schemas.openxmlformats.org/officeDocument/2006/relationships/slide" Target="slides/slide1.xml"/><Relationship Id="rId145" Type="http://schemas.openxmlformats.org/officeDocument/2006/relationships/slide" Target="slides/slide139.xml"/><Relationship Id="rId8" Type="http://schemas.openxmlformats.org/officeDocument/2006/relationships/slide" Target="slides/slide2.xml"/><Relationship Id="rId144" Type="http://schemas.openxmlformats.org/officeDocument/2006/relationships/slide" Target="slides/slide138.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139" Type="http://schemas.openxmlformats.org/officeDocument/2006/relationships/slide" Target="slides/slide133.xml"/><Relationship Id="rId138" Type="http://schemas.openxmlformats.org/officeDocument/2006/relationships/slide" Target="slides/slide132.xml"/><Relationship Id="rId137" Type="http://schemas.openxmlformats.org/officeDocument/2006/relationships/slide" Target="slides/slide131.xml"/><Relationship Id="rId132" Type="http://schemas.openxmlformats.org/officeDocument/2006/relationships/slide" Target="slides/slide126.xml"/><Relationship Id="rId131" Type="http://schemas.openxmlformats.org/officeDocument/2006/relationships/slide" Target="slides/slide125.xml"/><Relationship Id="rId130" Type="http://schemas.openxmlformats.org/officeDocument/2006/relationships/slide" Target="slides/slide124.xml"/><Relationship Id="rId136" Type="http://schemas.openxmlformats.org/officeDocument/2006/relationships/slide" Target="slides/slide130.xml"/><Relationship Id="rId135" Type="http://schemas.openxmlformats.org/officeDocument/2006/relationships/slide" Target="slides/slide129.xml"/><Relationship Id="rId134" Type="http://schemas.openxmlformats.org/officeDocument/2006/relationships/slide" Target="slides/slide128.xml"/><Relationship Id="rId133" Type="http://schemas.openxmlformats.org/officeDocument/2006/relationships/slide" Target="slides/slide127.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172" Type="http://schemas.openxmlformats.org/officeDocument/2006/relationships/slide" Target="slides/slide166.xml"/><Relationship Id="rId65" Type="http://schemas.openxmlformats.org/officeDocument/2006/relationships/slide" Target="slides/slide59.xml"/><Relationship Id="rId171" Type="http://schemas.openxmlformats.org/officeDocument/2006/relationships/slide" Target="slides/slide165.xml"/><Relationship Id="rId68" Type="http://schemas.openxmlformats.org/officeDocument/2006/relationships/slide" Target="slides/slide62.xml"/><Relationship Id="rId170" Type="http://schemas.openxmlformats.org/officeDocument/2006/relationships/slide" Target="slides/slide164.xml"/><Relationship Id="rId67" Type="http://schemas.openxmlformats.org/officeDocument/2006/relationships/slide" Target="slides/slide61.xml"/><Relationship Id="rId60" Type="http://schemas.openxmlformats.org/officeDocument/2006/relationships/slide" Target="slides/slide54.xml"/><Relationship Id="rId165" Type="http://schemas.openxmlformats.org/officeDocument/2006/relationships/slide" Target="slides/slide159.xml"/><Relationship Id="rId69" Type="http://schemas.openxmlformats.org/officeDocument/2006/relationships/slide" Target="slides/slide63.xml"/><Relationship Id="rId164" Type="http://schemas.openxmlformats.org/officeDocument/2006/relationships/slide" Target="slides/slide158.xml"/><Relationship Id="rId163" Type="http://schemas.openxmlformats.org/officeDocument/2006/relationships/slide" Target="slides/slide157.xml"/><Relationship Id="rId162" Type="http://schemas.openxmlformats.org/officeDocument/2006/relationships/slide" Target="slides/slide156.xml"/><Relationship Id="rId169" Type="http://schemas.openxmlformats.org/officeDocument/2006/relationships/slide" Target="slides/slide163.xml"/><Relationship Id="rId168" Type="http://schemas.openxmlformats.org/officeDocument/2006/relationships/slide" Target="slides/slide162.xml"/><Relationship Id="rId167" Type="http://schemas.openxmlformats.org/officeDocument/2006/relationships/slide" Target="slides/slide161.xml"/><Relationship Id="rId166" Type="http://schemas.openxmlformats.org/officeDocument/2006/relationships/slide" Target="slides/slide160.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161" Type="http://schemas.openxmlformats.org/officeDocument/2006/relationships/slide" Target="slides/slide155.xml"/><Relationship Id="rId54" Type="http://schemas.openxmlformats.org/officeDocument/2006/relationships/slide" Target="slides/slide48.xml"/><Relationship Id="rId160" Type="http://schemas.openxmlformats.org/officeDocument/2006/relationships/slide" Target="slides/slide154.xml"/><Relationship Id="rId57" Type="http://schemas.openxmlformats.org/officeDocument/2006/relationships/slide" Target="slides/slide51.xml"/><Relationship Id="rId56" Type="http://schemas.openxmlformats.org/officeDocument/2006/relationships/slide" Target="slides/slide50.xml"/><Relationship Id="rId159" Type="http://schemas.openxmlformats.org/officeDocument/2006/relationships/slide" Target="slides/slide153.xml"/><Relationship Id="rId59" Type="http://schemas.openxmlformats.org/officeDocument/2006/relationships/slide" Target="slides/slide53.xml"/><Relationship Id="rId154" Type="http://schemas.openxmlformats.org/officeDocument/2006/relationships/slide" Target="slides/slide148.xml"/><Relationship Id="rId58" Type="http://schemas.openxmlformats.org/officeDocument/2006/relationships/slide" Target="slides/slide52.xml"/><Relationship Id="rId153" Type="http://schemas.openxmlformats.org/officeDocument/2006/relationships/slide" Target="slides/slide147.xml"/><Relationship Id="rId152" Type="http://schemas.openxmlformats.org/officeDocument/2006/relationships/slide" Target="slides/slide146.xml"/><Relationship Id="rId151" Type="http://schemas.openxmlformats.org/officeDocument/2006/relationships/slide" Target="slides/slide145.xml"/><Relationship Id="rId158" Type="http://schemas.openxmlformats.org/officeDocument/2006/relationships/slide" Target="slides/slide152.xml"/><Relationship Id="rId157" Type="http://schemas.openxmlformats.org/officeDocument/2006/relationships/slide" Target="slides/slide151.xml"/><Relationship Id="rId156" Type="http://schemas.openxmlformats.org/officeDocument/2006/relationships/slide" Target="slides/slide150.xml"/><Relationship Id="rId155" Type="http://schemas.openxmlformats.org/officeDocument/2006/relationships/slide" Target="slides/slide1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aa925479f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g3aa925479f2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aa925479f2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g3aa925479f2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aa925479f2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g3aa925479f2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ae63a1de6f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g3ae63a1de6f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b9de69586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g3b9de69586f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ae63a1de6f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g3ae63a1de6f_0_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ae63a1de6f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g3ae63a1de6f_0_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92f47e389e_1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g392f47e389e_1_1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ae63a1de6f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g3ae63a1de6f_0_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ae63a1de6f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g3ae63a1de6f_0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ae63a1de6f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g3ae63a1de6f_0_1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ae63a1de6f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g3ae63a1de6f_0_1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ae3e0aed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g3ae3e0aed8b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afe12028fb_1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g3afe12028fb_1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bf646fd281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g3bf646fd281_1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bf646fd281_1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g3bf646fd281_1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bf646fd281_1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g3bf646fd281_1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bf646fd281_1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g3bf646fd281_1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bf646fd281_1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g3bf646fd281_1_7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ae3e0aed8b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g3ae3e0aed8b_0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ae3e0aed8b_2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g3ae3e0aed8b_2_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ae63a1de6f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g3ae63a1de6f_0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ae63a1de6f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g3ae63a1de6f_0_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b13964467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g3b13964467c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ae63a1de6f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g3ae63a1de6f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b17d2f5601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g3b17d2f5601_1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bb564d070a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g3bb564d070a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a6281f1e02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g3a6281f1e02_0_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91321fd5e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g391321fd5e7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aa56c2de65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g3aa56c2de65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91321fd5e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g391321fd5e7_0_4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b12e3417b8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g3b12e3417b8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b17d2f5601_1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g3b17d2f5601_1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g3b759cfc0a4_1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g3b759cfc0a4_1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391321fd5e7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g391321fd5e7_0_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g391321fd5e7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g391321fd5e7_0_8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3ac99f8bb6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g3ac99f8bb66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3a72d9c7bc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g3a72d9c7bcc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g3ac99f8bb66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g3ac99f8bb66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g3a72d9c7bcc_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g3a72d9c7bcc_1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g3a72d9c7bcc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g3a72d9c7bcc_0_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ac99f8bb66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g3ac99f8bb66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a72d9c7bcc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g3a72d9c7bcc_0_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3a72d9c7bcc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g3a72d9c7bcc_0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g3a72d9c7bcc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g3a72d9c7bcc_0_5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3a72d9c7bcc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g3a72d9c7bcc_0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ac99f8bb6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g3ac99f8bb66_0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g3a72d9c7bcc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g3a72d9c7bcc_0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3bbc552f834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g3bbc552f834_0_1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g3a72d9c7bcc_1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g3a72d9c7bcc_1_3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bb564d070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g3bb564d070a_0_4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g3bb564d070a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3bb564d070a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3bb564d070a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g3bb564d070a_0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a6281f1e02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g3a6281f1e02_0_1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3ac99f8bb66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g3ac99f8bb66_0_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g3ac99f8bb66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g3ac99f8bb66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g3bbc552f834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g3bbc552f834_0_1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g3a72d9c7bcc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g3a72d9c7bcc_0_1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g3bbc552f834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g3bbc552f834_0_1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3afe12028fb_1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g3afe12028fb_1_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bbc552f834_0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g3bbc552f834_0_15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g3a72d9c7bcc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g3a72d9c7bcc_0_1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3afe12028fb_1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g3afe12028fb_1_5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g3a72d9c7bcc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g3a72d9c7bcc_0_1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g3bbc552f834_0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g3bbc552f834_0_17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g3a72d9c7bcc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g3a72d9c7bcc_0_1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g3afe12028fb_1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g3afe12028fb_1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afe12028fb_1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g3afe12028fb_1_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3b5beeea879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3b5beeea879_1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2" name="Shape 682"/>
        <p:cNvGrpSpPr/>
        <p:nvPr/>
      </p:nvGrpSpPr>
      <p:grpSpPr>
        <a:xfrm>
          <a:off x="0" y="0"/>
          <a:ext cx="0" cy="0"/>
          <a:chOff x="0" y="0"/>
          <a:chExt cx="0" cy="0"/>
        </a:xfrm>
      </p:grpSpPr>
      <p:sp>
        <p:nvSpPr>
          <p:cNvPr id="683" name="Google Shape;683;g3bbc552f834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g3bbc552f834_0_18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g3a72d9c7bcc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g3a72d9c7bcc_0_1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3a72d9c7bcc_1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g3a72d9c7bcc_1_6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92f47e389e_1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g392f47e389e_1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g392f47e389e_1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g392f47e389e_1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b6436aee0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g3b6436aee0a_0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g3b6436aee0a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3b6436aee0a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g3bbc552f834_0_2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g3bbc552f834_0_2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g3bbc552f834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g3bbc552f834_0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g3bbc552f834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g3bbc552f834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39a305efadf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g39a305efadf_0_1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2" name="Shape 772"/>
        <p:cNvGrpSpPr/>
        <p:nvPr/>
      </p:nvGrpSpPr>
      <p:grpSpPr>
        <a:xfrm>
          <a:off x="0" y="0"/>
          <a:ext cx="0" cy="0"/>
          <a:chOff x="0" y="0"/>
          <a:chExt cx="0" cy="0"/>
        </a:xfrm>
      </p:grpSpPr>
      <p:sp>
        <p:nvSpPr>
          <p:cNvPr id="773" name="Google Shape;773;g3a6281f1e02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g3a6281f1e02_0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0" name="Shape 780"/>
        <p:cNvGrpSpPr/>
        <p:nvPr/>
      </p:nvGrpSpPr>
      <p:grpSpPr>
        <a:xfrm>
          <a:off x="0" y="0"/>
          <a:ext cx="0" cy="0"/>
          <a:chOff x="0" y="0"/>
          <a:chExt cx="0" cy="0"/>
        </a:xfrm>
      </p:grpSpPr>
      <p:sp>
        <p:nvSpPr>
          <p:cNvPr id="781" name="Google Shape;781;g3a6281f1e02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g3a6281f1e02_0_7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3b6436aee0a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g3b6436aee0a_0_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6" name="Shape 796"/>
        <p:cNvGrpSpPr/>
        <p:nvPr/>
      </p:nvGrpSpPr>
      <p:grpSpPr>
        <a:xfrm>
          <a:off x="0" y="0"/>
          <a:ext cx="0" cy="0"/>
          <a:chOff x="0" y="0"/>
          <a:chExt cx="0" cy="0"/>
        </a:xfrm>
      </p:grpSpPr>
      <p:sp>
        <p:nvSpPr>
          <p:cNvPr id="797" name="Google Shape;797;g3b804a9843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g3b804a98433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3b6b9e886dc_2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g3b6b9e886dc_2_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0" name="Shape 810"/>
        <p:cNvGrpSpPr/>
        <p:nvPr/>
      </p:nvGrpSpPr>
      <p:grpSpPr>
        <a:xfrm>
          <a:off x="0" y="0"/>
          <a:ext cx="0" cy="0"/>
          <a:chOff x="0" y="0"/>
          <a:chExt cx="0" cy="0"/>
        </a:xfrm>
      </p:grpSpPr>
      <p:sp>
        <p:nvSpPr>
          <p:cNvPr id="811" name="Google Shape;811;g3b05bda5743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g3b05bda5743_0_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g3b05bda5743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g3b05bda5743_0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b05bda5743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g3b05bda5743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g3b92991b550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g3b92991b550_0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g3b05bda5743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g3b05bda5743_0_6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2" name="Shape 852"/>
        <p:cNvGrpSpPr/>
        <p:nvPr/>
      </p:nvGrpSpPr>
      <p:grpSpPr>
        <a:xfrm>
          <a:off x="0" y="0"/>
          <a:ext cx="0" cy="0"/>
          <a:chOff x="0" y="0"/>
          <a:chExt cx="0" cy="0"/>
        </a:xfrm>
      </p:grpSpPr>
      <p:sp>
        <p:nvSpPr>
          <p:cNvPr id="853" name="Google Shape;853;g3b05bda5743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g3b05bda5743_0_7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b92991b550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g3b92991b550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392f47e389e_1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g392f47e389e_1_4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b05bda5743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g3b05bda5743_0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5" name="Shape 885"/>
        <p:cNvGrpSpPr/>
        <p:nvPr/>
      </p:nvGrpSpPr>
      <p:grpSpPr>
        <a:xfrm>
          <a:off x="0" y="0"/>
          <a:ext cx="0" cy="0"/>
          <a:chOff x="0" y="0"/>
          <a:chExt cx="0" cy="0"/>
        </a:xfrm>
      </p:grpSpPr>
      <p:sp>
        <p:nvSpPr>
          <p:cNvPr id="886" name="Google Shape;886;g392f47e389e_1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g392f47e389e_1_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b05bda5743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g3b05bda5743_0_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1" name="Shape 901"/>
        <p:cNvGrpSpPr/>
        <p:nvPr/>
      </p:nvGrpSpPr>
      <p:grpSpPr>
        <a:xfrm>
          <a:off x="0" y="0"/>
          <a:ext cx="0" cy="0"/>
          <a:chOff x="0" y="0"/>
          <a:chExt cx="0" cy="0"/>
        </a:xfrm>
      </p:grpSpPr>
      <p:sp>
        <p:nvSpPr>
          <p:cNvPr id="902" name="Google Shape;902;g392f47e389e_1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g392f47e389e_1_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g3b05bda5743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g3b05bda5743_0_1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g3b9711e2b73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g3b9711e2b73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b9711e2b73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g3b9711e2b73_0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4" name="Shape 934"/>
        <p:cNvGrpSpPr/>
        <p:nvPr/>
      </p:nvGrpSpPr>
      <p:grpSpPr>
        <a:xfrm>
          <a:off x="0" y="0"/>
          <a:ext cx="0" cy="0"/>
          <a:chOff x="0" y="0"/>
          <a:chExt cx="0" cy="0"/>
        </a:xfrm>
      </p:grpSpPr>
      <p:sp>
        <p:nvSpPr>
          <p:cNvPr id="935" name="Google Shape;935;g3b9711e2b73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g3b9711e2b73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0" name="Shape 940"/>
        <p:cNvGrpSpPr/>
        <p:nvPr/>
      </p:nvGrpSpPr>
      <p:grpSpPr>
        <a:xfrm>
          <a:off x="0" y="0"/>
          <a:ext cx="0" cy="0"/>
          <a:chOff x="0" y="0"/>
          <a:chExt cx="0" cy="0"/>
        </a:xfrm>
      </p:grpSpPr>
      <p:sp>
        <p:nvSpPr>
          <p:cNvPr id="941" name="Google Shape;941;g392f47e389e_1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g392f47e389e_1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g392f47e389e_1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g392f47e389e_1_1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92f47e389e_1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g392f47e389e_1_1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392f47e389e_1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g392f47e389e_1_1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1" name="Shape 971"/>
        <p:cNvGrpSpPr/>
        <p:nvPr/>
      </p:nvGrpSpPr>
      <p:grpSpPr>
        <a:xfrm>
          <a:off x="0" y="0"/>
          <a:ext cx="0" cy="0"/>
          <a:chOff x="0" y="0"/>
          <a:chExt cx="0" cy="0"/>
        </a:xfrm>
      </p:grpSpPr>
      <p:sp>
        <p:nvSpPr>
          <p:cNvPr id="972" name="Google Shape;972;g3afe12028fb_1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g3afe12028fb_1_7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7" name="Shape 977"/>
        <p:cNvGrpSpPr/>
        <p:nvPr/>
      </p:nvGrpSpPr>
      <p:grpSpPr>
        <a:xfrm>
          <a:off x="0" y="0"/>
          <a:ext cx="0" cy="0"/>
          <a:chOff x="0" y="0"/>
          <a:chExt cx="0" cy="0"/>
        </a:xfrm>
      </p:grpSpPr>
      <p:sp>
        <p:nvSpPr>
          <p:cNvPr id="978" name="Google Shape;978;g3afee704cd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g3afee704cd1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3afee704cd1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g3afee704cd1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3afee704cd1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3afee704cd1_0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b92991b550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g3b92991b550_0_4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1" name="Shape 1011"/>
        <p:cNvGrpSpPr/>
        <p:nvPr/>
      </p:nvGrpSpPr>
      <p:grpSpPr>
        <a:xfrm>
          <a:off x="0" y="0"/>
          <a:ext cx="0" cy="0"/>
          <a:chOff x="0" y="0"/>
          <a:chExt cx="0" cy="0"/>
        </a:xfrm>
      </p:grpSpPr>
      <p:sp>
        <p:nvSpPr>
          <p:cNvPr id="1012" name="Google Shape;1012;g3afee704cd1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g3afee704cd1_0_2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g3afee704cd1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g3afee704cd1_0_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7" name="Shape 1027"/>
        <p:cNvGrpSpPr/>
        <p:nvPr/>
      </p:nvGrpSpPr>
      <p:grpSpPr>
        <a:xfrm>
          <a:off x="0" y="0"/>
          <a:ext cx="0" cy="0"/>
          <a:chOff x="0" y="0"/>
          <a:chExt cx="0" cy="0"/>
        </a:xfrm>
      </p:grpSpPr>
      <p:sp>
        <p:nvSpPr>
          <p:cNvPr id="1028" name="Google Shape;1028;g3afee704cd1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g3afee704cd1_0_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g3afee704cd1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g3afee704cd1_0_4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afee704cd1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g3afee704cd1_0_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0" name="Shape 1050"/>
        <p:cNvGrpSpPr/>
        <p:nvPr/>
      </p:nvGrpSpPr>
      <p:grpSpPr>
        <a:xfrm>
          <a:off x="0" y="0"/>
          <a:ext cx="0" cy="0"/>
          <a:chOff x="0" y="0"/>
          <a:chExt cx="0" cy="0"/>
        </a:xfrm>
      </p:grpSpPr>
      <p:sp>
        <p:nvSpPr>
          <p:cNvPr id="1051" name="Google Shape;1051;g3afee704cd1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g3afee704cd1_0_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05bda5743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g3b05bda5743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g3b06c219da4_1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g3b06c219da4_1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7" name="Shape 1077"/>
        <p:cNvGrpSpPr/>
        <p:nvPr/>
      </p:nvGrpSpPr>
      <p:grpSpPr>
        <a:xfrm>
          <a:off x="0" y="0"/>
          <a:ext cx="0" cy="0"/>
          <a:chOff x="0" y="0"/>
          <a:chExt cx="0" cy="0"/>
        </a:xfrm>
      </p:grpSpPr>
      <p:sp>
        <p:nvSpPr>
          <p:cNvPr id="1078" name="Google Shape;1078;g3b06c219da4_1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g3b06c219da4_1_5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g3b06c219da4_1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g3b06c219da4_1_3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g3bf646fd281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g3bf646fd281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8" name="Shape 1108"/>
        <p:cNvGrpSpPr/>
        <p:nvPr/>
      </p:nvGrpSpPr>
      <p:grpSpPr>
        <a:xfrm>
          <a:off x="0" y="0"/>
          <a:ext cx="0" cy="0"/>
          <a:chOff x="0" y="0"/>
          <a:chExt cx="0" cy="0"/>
        </a:xfrm>
      </p:grpSpPr>
      <p:sp>
        <p:nvSpPr>
          <p:cNvPr id="1109" name="Google Shape;1109;g3b06c219da4_1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g3b06c219da4_1_7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7" name="Shape 1117"/>
        <p:cNvGrpSpPr/>
        <p:nvPr/>
      </p:nvGrpSpPr>
      <p:grpSpPr>
        <a:xfrm>
          <a:off x="0" y="0"/>
          <a:ext cx="0" cy="0"/>
          <a:chOff x="0" y="0"/>
          <a:chExt cx="0" cy="0"/>
        </a:xfrm>
      </p:grpSpPr>
      <p:sp>
        <p:nvSpPr>
          <p:cNvPr id="1118" name="Google Shape;1118;g3b06c219da4_1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g3b06c219da4_1_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3b06c219da4_1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g3b06c219da4_1_1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bc00cd7e4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g3bc00cd7e4a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3" name="Shape 1143"/>
        <p:cNvGrpSpPr/>
        <p:nvPr/>
      </p:nvGrpSpPr>
      <p:grpSpPr>
        <a:xfrm>
          <a:off x="0" y="0"/>
          <a:ext cx="0" cy="0"/>
          <a:chOff x="0" y="0"/>
          <a:chExt cx="0" cy="0"/>
        </a:xfrm>
      </p:grpSpPr>
      <p:sp>
        <p:nvSpPr>
          <p:cNvPr id="1144" name="Google Shape;1144;g3bc00cd7e4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g3bc00cd7e4a_0_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1" name="Shape 1151"/>
        <p:cNvGrpSpPr/>
        <p:nvPr/>
      </p:nvGrpSpPr>
      <p:grpSpPr>
        <a:xfrm>
          <a:off x="0" y="0"/>
          <a:ext cx="0" cy="0"/>
          <a:chOff x="0" y="0"/>
          <a:chExt cx="0" cy="0"/>
        </a:xfrm>
      </p:grpSpPr>
      <p:sp>
        <p:nvSpPr>
          <p:cNvPr id="1152" name="Google Shape;1152;g3bc00cd7e4a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g3bc00cd7e4a_0_6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g3bc00cd7e4a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g3bc00cd7e4a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7" name="Shape 1167"/>
        <p:cNvGrpSpPr/>
        <p:nvPr/>
      </p:nvGrpSpPr>
      <p:grpSpPr>
        <a:xfrm>
          <a:off x="0" y="0"/>
          <a:ext cx="0" cy="0"/>
          <a:chOff x="0" y="0"/>
          <a:chExt cx="0" cy="0"/>
        </a:xfrm>
      </p:grpSpPr>
      <p:sp>
        <p:nvSpPr>
          <p:cNvPr id="1168" name="Google Shape;1168;g3bc00cd7e4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g3bc00cd7e4a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3b06c219da4_1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7" name="Google Shape;1177;g3b06c219da4_1_1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g3bc00cd7e4a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g3bc00cd7e4a_0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bf74d3284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g3bf74d32844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0" name="Shape 1200"/>
        <p:cNvGrpSpPr/>
        <p:nvPr/>
      </p:nvGrpSpPr>
      <p:grpSpPr>
        <a:xfrm>
          <a:off x="0" y="0"/>
          <a:ext cx="0" cy="0"/>
          <a:chOff x="0" y="0"/>
          <a:chExt cx="0" cy="0"/>
        </a:xfrm>
      </p:grpSpPr>
      <p:sp>
        <p:nvSpPr>
          <p:cNvPr id="1201" name="Google Shape;1201;g3bc00cd7e4a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g3bc00cd7e4a_0_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9" name="Shape 1209"/>
        <p:cNvGrpSpPr/>
        <p:nvPr/>
      </p:nvGrpSpPr>
      <p:grpSpPr>
        <a:xfrm>
          <a:off x="0" y="0"/>
          <a:ext cx="0" cy="0"/>
          <a:chOff x="0" y="0"/>
          <a:chExt cx="0" cy="0"/>
        </a:xfrm>
      </p:grpSpPr>
      <p:sp>
        <p:nvSpPr>
          <p:cNvPr id="1210" name="Google Shape;1210;g3bc00cd7e4a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g3bc00cd7e4a_0_8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8" name="Shape 1218"/>
        <p:cNvGrpSpPr/>
        <p:nvPr/>
      </p:nvGrpSpPr>
      <p:grpSpPr>
        <a:xfrm>
          <a:off x="0" y="0"/>
          <a:ext cx="0" cy="0"/>
          <a:chOff x="0" y="0"/>
          <a:chExt cx="0" cy="0"/>
        </a:xfrm>
      </p:grpSpPr>
      <p:sp>
        <p:nvSpPr>
          <p:cNvPr id="1219" name="Google Shape;1219;g3bc00cd7e4a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g3bc00cd7e4a_0_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b05bda574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g3b05bda5743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3" name="Shape 1233"/>
        <p:cNvGrpSpPr/>
        <p:nvPr/>
      </p:nvGrpSpPr>
      <p:grpSpPr>
        <a:xfrm>
          <a:off x="0" y="0"/>
          <a:ext cx="0" cy="0"/>
          <a:chOff x="0" y="0"/>
          <a:chExt cx="0" cy="0"/>
        </a:xfrm>
      </p:grpSpPr>
      <p:sp>
        <p:nvSpPr>
          <p:cNvPr id="1234" name="Google Shape;1234;g3b06c219da4_1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g3b06c219da4_1_1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1" name="Shape 1241"/>
        <p:cNvGrpSpPr/>
        <p:nvPr/>
      </p:nvGrpSpPr>
      <p:grpSpPr>
        <a:xfrm>
          <a:off x="0" y="0"/>
          <a:ext cx="0" cy="0"/>
          <a:chOff x="0" y="0"/>
          <a:chExt cx="0" cy="0"/>
        </a:xfrm>
      </p:grpSpPr>
      <p:sp>
        <p:nvSpPr>
          <p:cNvPr id="1242" name="Google Shape;1242;g3b06c219da4_1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g3b06c219da4_1_1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9" name="Shape 1249"/>
        <p:cNvGrpSpPr/>
        <p:nvPr/>
      </p:nvGrpSpPr>
      <p:grpSpPr>
        <a:xfrm>
          <a:off x="0" y="0"/>
          <a:ext cx="0" cy="0"/>
          <a:chOff x="0" y="0"/>
          <a:chExt cx="0" cy="0"/>
        </a:xfrm>
      </p:grpSpPr>
      <p:sp>
        <p:nvSpPr>
          <p:cNvPr id="1250" name="Google Shape;1250;g3b06c219da4_1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g3b06c219da4_1_1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g3b06c219da4_1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g3b06c219da4_1_1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06c219da4_1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68" name="Google Shape;1268;g3b06c219da4_1_1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5" name="Shape 1275"/>
        <p:cNvGrpSpPr/>
        <p:nvPr/>
      </p:nvGrpSpPr>
      <p:grpSpPr>
        <a:xfrm>
          <a:off x="0" y="0"/>
          <a:ext cx="0" cy="0"/>
          <a:chOff x="0" y="0"/>
          <a:chExt cx="0" cy="0"/>
        </a:xfrm>
      </p:grpSpPr>
      <p:sp>
        <p:nvSpPr>
          <p:cNvPr id="1276" name="Google Shape;1276;g3bc9fba28e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g3bc9fba28e3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c9fba28e3_2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g3bc9fba28e3_2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3" name="Shape 1293"/>
        <p:cNvGrpSpPr/>
        <p:nvPr/>
      </p:nvGrpSpPr>
      <p:grpSpPr>
        <a:xfrm>
          <a:off x="0" y="0"/>
          <a:ext cx="0" cy="0"/>
          <a:chOff x="0" y="0"/>
          <a:chExt cx="0" cy="0"/>
        </a:xfrm>
      </p:grpSpPr>
      <p:sp>
        <p:nvSpPr>
          <p:cNvPr id="1294" name="Google Shape;1294;g3bc9fba28e3_2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g3bc9fba28e3_2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3bc9fba28e3_2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g3bc9fba28e3_2_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0" name="Shape 1310"/>
        <p:cNvGrpSpPr/>
        <p:nvPr/>
      </p:nvGrpSpPr>
      <p:grpSpPr>
        <a:xfrm>
          <a:off x="0" y="0"/>
          <a:ext cx="0" cy="0"/>
          <a:chOff x="0" y="0"/>
          <a:chExt cx="0" cy="0"/>
        </a:xfrm>
      </p:grpSpPr>
      <p:sp>
        <p:nvSpPr>
          <p:cNvPr id="1311" name="Google Shape;1311;g3b06c219da4_1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3b06c219da4_1_17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9" name="Shape 1319"/>
        <p:cNvGrpSpPr/>
        <p:nvPr/>
      </p:nvGrpSpPr>
      <p:grpSpPr>
        <a:xfrm>
          <a:off x="0" y="0"/>
          <a:ext cx="0" cy="0"/>
          <a:chOff x="0" y="0"/>
          <a:chExt cx="0" cy="0"/>
        </a:xfrm>
      </p:grpSpPr>
      <p:sp>
        <p:nvSpPr>
          <p:cNvPr id="1320" name="Google Shape;1320;g3b06c219da4_1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g3b06c219da4_1_1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8" name="Shape 1328"/>
        <p:cNvGrpSpPr/>
        <p:nvPr/>
      </p:nvGrpSpPr>
      <p:grpSpPr>
        <a:xfrm>
          <a:off x="0" y="0"/>
          <a:ext cx="0" cy="0"/>
          <a:chOff x="0" y="0"/>
          <a:chExt cx="0" cy="0"/>
        </a:xfrm>
      </p:grpSpPr>
      <p:sp>
        <p:nvSpPr>
          <p:cNvPr id="1329" name="Google Shape;1329;g3b06c219da4_1_1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g3b06c219da4_1_19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g3bc270cbe29_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g3bc270cbe29_1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931a8e238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g3931a8e238f_0_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2" name="Shape 1352"/>
        <p:cNvGrpSpPr/>
        <p:nvPr/>
      </p:nvGrpSpPr>
      <p:grpSpPr>
        <a:xfrm>
          <a:off x="0" y="0"/>
          <a:ext cx="0" cy="0"/>
          <a:chOff x="0" y="0"/>
          <a:chExt cx="0" cy="0"/>
        </a:xfrm>
      </p:grpSpPr>
      <p:sp>
        <p:nvSpPr>
          <p:cNvPr id="1353" name="Google Shape;1353;g3b06c219da4_1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g3b06c219da4_1_1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afee704cd1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g3afee704cd1_0_6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7" name="Shape 1367"/>
        <p:cNvGrpSpPr/>
        <p:nvPr/>
      </p:nvGrpSpPr>
      <p:grpSpPr>
        <a:xfrm>
          <a:off x="0" y="0"/>
          <a:ext cx="0" cy="0"/>
          <a:chOff x="0" y="0"/>
          <a:chExt cx="0" cy="0"/>
        </a:xfrm>
      </p:grpSpPr>
      <p:sp>
        <p:nvSpPr>
          <p:cNvPr id="1368" name="Google Shape;1368;g3b06c219da4_1_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g3b06c219da4_1_2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5" name="Shape 1375"/>
        <p:cNvGrpSpPr/>
        <p:nvPr/>
      </p:nvGrpSpPr>
      <p:grpSpPr>
        <a:xfrm>
          <a:off x="0" y="0"/>
          <a:ext cx="0" cy="0"/>
          <a:chOff x="0" y="0"/>
          <a:chExt cx="0" cy="0"/>
        </a:xfrm>
      </p:grpSpPr>
      <p:sp>
        <p:nvSpPr>
          <p:cNvPr id="1376" name="Google Shape;1376;g3b0a9d93dea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g3b0a9d93dea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3" name="Shape 1383"/>
        <p:cNvGrpSpPr/>
        <p:nvPr/>
      </p:nvGrpSpPr>
      <p:grpSpPr>
        <a:xfrm>
          <a:off x="0" y="0"/>
          <a:ext cx="0" cy="0"/>
          <a:chOff x="0" y="0"/>
          <a:chExt cx="0" cy="0"/>
        </a:xfrm>
      </p:grpSpPr>
      <p:sp>
        <p:nvSpPr>
          <p:cNvPr id="1384" name="Google Shape;1384;g3b06c219da4_1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g3b06c219da4_1_2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1" name="Shape 1391"/>
        <p:cNvGrpSpPr/>
        <p:nvPr/>
      </p:nvGrpSpPr>
      <p:grpSpPr>
        <a:xfrm>
          <a:off x="0" y="0"/>
          <a:ext cx="0" cy="0"/>
          <a:chOff x="0" y="0"/>
          <a:chExt cx="0" cy="0"/>
        </a:xfrm>
      </p:grpSpPr>
      <p:sp>
        <p:nvSpPr>
          <p:cNvPr id="1392" name="Google Shape;1392;g3b06c219da4_1_2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g3b06c219da4_1_2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g3bde0a9a4de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g3bde0a9a4de_1_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9" name="Shape 1409"/>
        <p:cNvGrpSpPr/>
        <p:nvPr/>
      </p:nvGrpSpPr>
      <p:grpSpPr>
        <a:xfrm>
          <a:off x="0" y="0"/>
          <a:ext cx="0" cy="0"/>
          <a:chOff x="0" y="0"/>
          <a:chExt cx="0" cy="0"/>
        </a:xfrm>
      </p:grpSpPr>
      <p:sp>
        <p:nvSpPr>
          <p:cNvPr id="1410" name="Google Shape;1410;g3bde0a9a4de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g3bde0a9a4de_1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7" name="Shape 1417"/>
        <p:cNvGrpSpPr/>
        <p:nvPr/>
      </p:nvGrpSpPr>
      <p:grpSpPr>
        <a:xfrm>
          <a:off x="0" y="0"/>
          <a:ext cx="0" cy="0"/>
          <a:chOff x="0" y="0"/>
          <a:chExt cx="0" cy="0"/>
        </a:xfrm>
      </p:grpSpPr>
      <p:sp>
        <p:nvSpPr>
          <p:cNvPr id="1418" name="Google Shape;1418;g3bde0a9a4de_1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g3bde0a9a4de_1_2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3" name="Shape 1423"/>
        <p:cNvGrpSpPr/>
        <p:nvPr/>
      </p:nvGrpSpPr>
      <p:grpSpPr>
        <a:xfrm>
          <a:off x="0" y="0"/>
          <a:ext cx="0" cy="0"/>
          <a:chOff x="0" y="0"/>
          <a:chExt cx="0" cy="0"/>
        </a:xfrm>
      </p:grpSpPr>
      <p:sp>
        <p:nvSpPr>
          <p:cNvPr id="1424" name="Google Shape;1424;g3bde0a9a4de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25" name="Google Shape;1425;g3bde0a9a4de_1_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2" name="Shape 1432"/>
        <p:cNvGrpSpPr/>
        <p:nvPr/>
      </p:nvGrpSpPr>
      <p:grpSpPr>
        <a:xfrm>
          <a:off x="0" y="0"/>
          <a:ext cx="0" cy="0"/>
          <a:chOff x="0" y="0"/>
          <a:chExt cx="0" cy="0"/>
        </a:xfrm>
      </p:grpSpPr>
      <p:sp>
        <p:nvSpPr>
          <p:cNvPr id="1433" name="Google Shape;1433;g3bde0a9a4de_1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34" name="Google Shape;1434;g3bde0a9a4de_1_5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8" name="Shape 1438"/>
        <p:cNvGrpSpPr/>
        <p:nvPr/>
      </p:nvGrpSpPr>
      <p:grpSpPr>
        <a:xfrm>
          <a:off x="0" y="0"/>
          <a:ext cx="0" cy="0"/>
          <a:chOff x="0" y="0"/>
          <a:chExt cx="0" cy="0"/>
        </a:xfrm>
      </p:grpSpPr>
      <p:sp>
        <p:nvSpPr>
          <p:cNvPr id="1439" name="Google Shape;1439;g3c2c8c72c82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0" name="Google Shape;1440;g3c2c8c72c82_0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4" name="Shape 1444"/>
        <p:cNvGrpSpPr/>
        <p:nvPr/>
      </p:nvGrpSpPr>
      <p:grpSpPr>
        <a:xfrm>
          <a:off x="0" y="0"/>
          <a:ext cx="0" cy="0"/>
          <a:chOff x="0" y="0"/>
          <a:chExt cx="0" cy="0"/>
        </a:xfrm>
      </p:grpSpPr>
      <p:sp>
        <p:nvSpPr>
          <p:cNvPr id="1445" name="Google Shape;1445;g3b864f94a52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g3b864f94a52_0_8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g3c2c8c72c82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g3c2c8c72c82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2" name="Shape 1462"/>
        <p:cNvGrpSpPr/>
        <p:nvPr/>
      </p:nvGrpSpPr>
      <p:grpSpPr>
        <a:xfrm>
          <a:off x="0" y="0"/>
          <a:ext cx="0" cy="0"/>
          <a:chOff x="0" y="0"/>
          <a:chExt cx="0" cy="0"/>
        </a:xfrm>
      </p:grpSpPr>
      <p:sp>
        <p:nvSpPr>
          <p:cNvPr id="1463" name="Google Shape;1463;g3c2c8c72c82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64" name="Google Shape;1464;g3c2c8c72c82_0_2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0" name="Shape 1470"/>
        <p:cNvGrpSpPr/>
        <p:nvPr/>
      </p:nvGrpSpPr>
      <p:grpSpPr>
        <a:xfrm>
          <a:off x="0" y="0"/>
          <a:ext cx="0" cy="0"/>
          <a:chOff x="0" y="0"/>
          <a:chExt cx="0" cy="0"/>
        </a:xfrm>
      </p:grpSpPr>
      <p:sp>
        <p:nvSpPr>
          <p:cNvPr id="1471" name="Google Shape;1471;g3c2c8c72c82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g3c2c8c72c82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bc9fba28e3_2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1" name="Google Shape;1481;g3bc9fba28e3_2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g3c2c8c72c82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g3c2c8c72c82_0_5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7" name="Shape 1497"/>
        <p:cNvGrpSpPr/>
        <p:nvPr/>
      </p:nvGrpSpPr>
      <p:grpSpPr>
        <a:xfrm>
          <a:off x="0" y="0"/>
          <a:ext cx="0" cy="0"/>
          <a:chOff x="0" y="0"/>
          <a:chExt cx="0" cy="0"/>
        </a:xfrm>
      </p:grpSpPr>
      <p:sp>
        <p:nvSpPr>
          <p:cNvPr id="1498" name="Google Shape;1498;g3c2c8c72c82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99" name="Google Shape;1499;g3c2c8c72c82_0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g3bc9fba28e3_2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g3bc9fba28e3_2_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hyperlink" Target="https://github.com/enzolibronexist/module6/blob/setup/src/main/resources/META-INF/persistence.xml" TargetMode="External"/><Relationship Id="rId5"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png"/><Relationship Id="rId4"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png"/><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png"/><Relationship Id="rId4" Type="http://schemas.openxmlformats.org/officeDocument/2006/relationships/hyperlink" Target="mailto:juandelacruz@gmail.co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2.png"/><Relationship Id="rId4" Type="http://schemas.openxmlformats.org/officeDocument/2006/relationships/image" Target="../media/image3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2.png"/><Relationship Id="rId4" Type="http://schemas.openxmlformats.org/officeDocument/2006/relationships/image" Target="../media/image1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2.png"/><Relationship Id="rId4"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2.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png"/><Relationship Id="rId4" Type="http://schemas.openxmlformats.org/officeDocument/2006/relationships/image" Target="../media/image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png"/><Relationship Id="rId4" Type="http://schemas.openxmlformats.org/officeDocument/2006/relationships/image" Target="../media/image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2.png"/><Relationship Id="rId4" Type="http://schemas.openxmlformats.org/officeDocument/2006/relationships/image" Target="../media/image2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2.png"/><Relationship Id="rId4" Type="http://schemas.openxmlformats.org/officeDocument/2006/relationships/image" Target="../media/image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2.png"/><Relationship Id="rId4" Type="http://schemas.openxmlformats.org/officeDocument/2006/relationships/image" Target="../media/image1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2.png"/><Relationship Id="rId4" Type="http://schemas.openxmlformats.org/officeDocument/2006/relationships/image" Target="../media/image2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2.png"/><Relationship Id="rId4" Type="http://schemas.openxmlformats.org/officeDocument/2006/relationships/image" Target="../media/image1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2.png"/><Relationship Id="rId4" Type="http://schemas.openxmlformats.org/officeDocument/2006/relationships/image" Target="../media/image1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2.png"/><Relationship Id="rId4" Type="http://schemas.openxmlformats.org/officeDocument/2006/relationships/image" Target="../media/image2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2.png"/><Relationship Id="rId4" Type="http://schemas.openxmlformats.org/officeDocument/2006/relationships/image" Target="../media/image2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2.png"/><Relationship Id="rId4" Type="http://schemas.openxmlformats.org/officeDocument/2006/relationships/image" Target="../media/image2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2.png"/><Relationship Id="rId4" Type="http://schemas.openxmlformats.org/officeDocument/2006/relationships/image" Target="../media/image2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2.png"/><Relationship Id="rId4" Type="http://schemas.openxmlformats.org/officeDocument/2006/relationships/image" Target="../media/image2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2.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2.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2.png"/><Relationship Id="rId4" Type="http://schemas.openxmlformats.org/officeDocument/2006/relationships/image" Target="../media/image28.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2.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2.png"/><Relationship Id="rId4" Type="http://schemas.openxmlformats.org/officeDocument/2006/relationships/hyperlink" Target="http://e.name"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2.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2.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2.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2.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png"/><Relationship Id="rId4" Type="http://schemas.openxmlformats.org/officeDocument/2006/relationships/image" Target="../media/image3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2.png"/><Relationship Id="rId4" Type="http://schemas.openxmlformats.org/officeDocument/2006/relationships/image" Target="../media/image27.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png"/><Relationship Id="rId4" Type="http://schemas.openxmlformats.org/officeDocument/2006/relationships/image" Target="../media/image39.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2.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2.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2.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2.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2.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2.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2.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2.png"/><Relationship Id="rId4" Type="http://schemas.openxmlformats.org/officeDocument/2006/relationships/image" Target="../media/image30.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2.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2.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2.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png"/><Relationship Id="rId4" Type="http://schemas.openxmlformats.org/officeDocument/2006/relationships/image" Target="../media/image3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png"/><Relationship Id="rId4" Type="http://schemas.openxmlformats.org/officeDocument/2006/relationships/image" Target="../media/image38.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2.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png"/><Relationship Id="rId4" Type="http://schemas.openxmlformats.org/officeDocument/2006/relationships/image" Target="../media/image35.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5" name="Google Shape;85;p13"/>
          <p:cNvSpPr txBox="1"/>
          <p:nvPr/>
        </p:nvSpPr>
        <p:spPr>
          <a:xfrm>
            <a:off x="1066500" y="2913300"/>
            <a:ext cx="10059000" cy="10314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6700" u="none" cap="none" strike="noStrike">
                <a:solidFill>
                  <a:srgbClr val="B91C1C"/>
                </a:solidFill>
                <a:latin typeface="Poppins"/>
                <a:ea typeface="Poppins"/>
                <a:cs typeface="Poppins"/>
                <a:sym typeface="Poppins"/>
              </a:rPr>
              <a:t>JPA &amp; Hibernate ORM</a:t>
            </a:r>
            <a:endParaRPr sz="6700">
              <a:solidFill>
                <a:srgbClr val="B91C1C"/>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pic>
        <p:nvPicPr>
          <p:cNvPr descr="image.png" id="90" name="Google Shape;90;p1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1" name="Google Shape;91;p1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Topics</a:t>
            </a:r>
            <a:endParaRPr b="1" sz="3600">
              <a:solidFill>
                <a:srgbClr val="B91C1C"/>
              </a:solidFill>
              <a:latin typeface="Poppins"/>
              <a:ea typeface="Poppins"/>
              <a:cs typeface="Poppins"/>
              <a:sym typeface="Poppins"/>
            </a:endParaRPr>
          </a:p>
        </p:txBody>
      </p:sp>
      <p:sp>
        <p:nvSpPr>
          <p:cNvPr id="92" name="Google Shape;92;p1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4"/>
          <p:cNvSpPr txBox="1"/>
          <p:nvPr/>
        </p:nvSpPr>
        <p:spPr>
          <a:xfrm>
            <a:off x="571500" y="1590800"/>
            <a:ext cx="11049000" cy="4740900"/>
          </a:xfrm>
          <a:prstGeom prst="rect">
            <a:avLst/>
          </a:prstGeom>
          <a:noFill/>
          <a:ln>
            <a:noFill/>
          </a:ln>
        </p:spPr>
        <p:txBody>
          <a:bodyPr anchorCtr="0" anchor="t" bIns="0" lIns="0" spcFirstLastPara="1" rIns="0" wrap="square" tIns="0">
            <a:spAutoFit/>
          </a:bodyPr>
          <a:lstStyle/>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JPA and Hibernate ORM Introduction</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JPA annotations</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Entity Manager</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Fetching </a:t>
            </a:r>
            <a:r>
              <a:rPr b="1" lang="en-US" sz="2800">
                <a:solidFill>
                  <a:schemeClr val="dk1"/>
                </a:solidFill>
                <a:latin typeface="Poppins"/>
                <a:ea typeface="Poppins"/>
                <a:cs typeface="Poppins"/>
                <a:sym typeface="Poppins"/>
              </a:rPr>
              <a:t>and Cascading </a:t>
            </a:r>
            <a:r>
              <a:rPr b="1" lang="en-US" sz="2800">
                <a:solidFill>
                  <a:schemeClr val="dk1"/>
                </a:solidFill>
                <a:latin typeface="Poppins"/>
                <a:ea typeface="Poppins"/>
                <a:cs typeface="Poppins"/>
                <a:sym typeface="Poppins"/>
              </a:rPr>
              <a:t>Strategies</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JPQL and Criteria API</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Repository Pattern</a:t>
            </a:r>
            <a:endParaRPr b="1" sz="2800">
              <a:solidFill>
                <a:schemeClr val="dk1"/>
              </a:solidFill>
              <a:latin typeface="Poppins"/>
              <a:ea typeface="Poppins"/>
              <a:cs typeface="Poppins"/>
              <a:sym typeface="Poppi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pic>
        <p:nvPicPr>
          <p:cNvPr descr="image.png" id="98" name="Google Shape;98;p1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9" name="Google Shape;99;p15"/>
          <p:cNvSpPr txBox="1"/>
          <p:nvPr/>
        </p:nvSpPr>
        <p:spPr>
          <a:xfrm>
            <a:off x="769500" y="2346150"/>
            <a:ext cx="10653000" cy="21657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lang="en-US" sz="6700">
                <a:solidFill>
                  <a:srgbClr val="B91C1C"/>
                </a:solidFill>
                <a:latin typeface="Poppins"/>
                <a:ea typeface="Poppins"/>
                <a:cs typeface="Poppins"/>
                <a:sym typeface="Poppins"/>
              </a:rPr>
              <a:t>Jpa and Hibernate ORM Introduction</a:t>
            </a:r>
            <a:endParaRPr b="1" sz="6700">
              <a:solidFill>
                <a:srgbClr val="B91C1C"/>
              </a:solidFill>
              <a:latin typeface="Poppins"/>
              <a:ea typeface="Poppins"/>
              <a:cs typeface="Poppins"/>
              <a:sym typeface="Poppi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 name="Shape 103"/>
        <p:cNvGrpSpPr/>
        <p:nvPr/>
      </p:nvGrpSpPr>
      <p:grpSpPr>
        <a:xfrm>
          <a:off x="0" y="0"/>
          <a:ext cx="0" cy="0"/>
          <a:chOff x="0" y="0"/>
          <a:chExt cx="0" cy="0"/>
        </a:xfrm>
      </p:grpSpPr>
      <p:pic>
        <p:nvPicPr>
          <p:cNvPr descr="image.png" id="104" name="Google Shape;104;p1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5" name="Google Shape;105;p16"/>
          <p:cNvSpPr txBox="1"/>
          <p:nvPr/>
        </p:nvSpPr>
        <p:spPr>
          <a:xfrm>
            <a:off x="571500" y="432900"/>
            <a:ext cx="11049000" cy="75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4900">
                <a:solidFill>
                  <a:srgbClr val="B91C1C"/>
                </a:solidFill>
                <a:latin typeface="Poppins"/>
                <a:ea typeface="Poppins"/>
                <a:cs typeface="Poppins"/>
                <a:sym typeface="Poppins"/>
              </a:rPr>
              <a:t>Objectives</a:t>
            </a:r>
            <a:endParaRPr sz="2700">
              <a:solidFill>
                <a:srgbClr val="B91C1C"/>
              </a:solidFill>
            </a:endParaRPr>
          </a:p>
        </p:txBody>
      </p:sp>
      <p:sp>
        <p:nvSpPr>
          <p:cNvPr id="106" name="Google Shape;106;p16"/>
          <p:cNvSpPr/>
          <p:nvPr/>
        </p:nvSpPr>
        <p:spPr>
          <a:xfrm>
            <a:off x="571500" y="1400175"/>
            <a:ext cx="11049000" cy="1905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6"/>
          <p:cNvSpPr txBox="1"/>
          <p:nvPr/>
        </p:nvSpPr>
        <p:spPr>
          <a:xfrm>
            <a:off x="571500" y="1693800"/>
            <a:ext cx="11049000" cy="2793600"/>
          </a:xfrm>
          <a:prstGeom prst="rect">
            <a:avLst/>
          </a:prstGeom>
          <a:noFill/>
          <a:ln>
            <a:noFill/>
          </a:ln>
        </p:spPr>
        <p:txBody>
          <a:bodyPr anchorCtr="0" anchor="t" bIns="0" lIns="0" spcFirstLastPara="1" rIns="0" wrap="square" tIns="0">
            <a:spAutoFit/>
          </a:bodyPr>
          <a:lstStyle/>
          <a:p>
            <a:pPr indent="-438150" lvl="0" marL="457200" marR="0" rtl="0" algn="l">
              <a:lnSpc>
                <a:spcPct val="150000"/>
              </a:lnSpc>
              <a:spcBef>
                <a:spcPts val="0"/>
              </a:spcBef>
              <a:spcAft>
                <a:spcPts val="0"/>
              </a:spcAft>
              <a:buClr>
                <a:schemeClr val="dk1"/>
              </a:buClr>
              <a:buSzPts val="3300"/>
              <a:buFont typeface="Poppins"/>
              <a:buAutoNum type="arabicPeriod"/>
            </a:pPr>
            <a:r>
              <a:rPr lang="en-US" sz="3300">
                <a:solidFill>
                  <a:schemeClr val="dk1"/>
                </a:solidFill>
                <a:latin typeface="Poppins"/>
                <a:ea typeface="Poppins"/>
                <a:cs typeface="Poppins"/>
                <a:sym typeface="Poppins"/>
              </a:rPr>
              <a:t>Understand what ORM is.</a:t>
            </a:r>
            <a:endParaRPr sz="3300">
              <a:solidFill>
                <a:schemeClr val="dk1"/>
              </a:solidFill>
              <a:latin typeface="Poppins"/>
              <a:ea typeface="Poppins"/>
              <a:cs typeface="Poppins"/>
              <a:sym typeface="Poppins"/>
            </a:endParaRPr>
          </a:p>
          <a:p>
            <a:pPr indent="-438150" lvl="0" marL="457200" marR="0" rtl="0" algn="l">
              <a:lnSpc>
                <a:spcPct val="150000"/>
              </a:lnSpc>
              <a:spcBef>
                <a:spcPts val="0"/>
              </a:spcBef>
              <a:spcAft>
                <a:spcPts val="0"/>
              </a:spcAft>
              <a:buClr>
                <a:schemeClr val="dk1"/>
              </a:buClr>
              <a:buSzPts val="3300"/>
              <a:buFont typeface="Poppins"/>
              <a:buAutoNum type="arabicPeriod"/>
            </a:pPr>
            <a:r>
              <a:rPr lang="en-US" sz="3300">
                <a:solidFill>
                  <a:schemeClr val="dk1"/>
                </a:solidFill>
                <a:latin typeface="Poppins"/>
                <a:ea typeface="Poppins"/>
                <a:cs typeface="Poppins"/>
                <a:sym typeface="Poppins"/>
              </a:rPr>
              <a:t>Understand what JPA and Hibernate are and their relationship.</a:t>
            </a:r>
            <a:endParaRPr sz="3300">
              <a:solidFill>
                <a:schemeClr val="dk1"/>
              </a:solidFill>
              <a:latin typeface="Poppins"/>
              <a:ea typeface="Poppins"/>
              <a:cs typeface="Poppins"/>
              <a:sym typeface="Poppins"/>
            </a:endParaRPr>
          </a:p>
          <a:p>
            <a:pPr indent="-438150" lvl="0" marL="457200" marR="0" rtl="0" algn="l">
              <a:lnSpc>
                <a:spcPct val="150000"/>
              </a:lnSpc>
              <a:spcBef>
                <a:spcPts val="0"/>
              </a:spcBef>
              <a:spcAft>
                <a:spcPts val="0"/>
              </a:spcAft>
              <a:buClr>
                <a:schemeClr val="dk1"/>
              </a:buClr>
              <a:buSzPts val="3300"/>
              <a:buFont typeface="Poppins"/>
              <a:buAutoNum type="arabicPeriod"/>
            </a:pPr>
            <a:r>
              <a:rPr lang="en-US" sz="3300">
                <a:solidFill>
                  <a:schemeClr val="dk1"/>
                </a:solidFill>
                <a:latin typeface="Poppins"/>
                <a:ea typeface="Poppins"/>
                <a:cs typeface="Poppins"/>
                <a:sym typeface="Poppins"/>
              </a:rPr>
              <a:t>Understand the benefits of using JPA/Hibernate.</a:t>
            </a:r>
            <a:endParaRPr sz="3300">
              <a:solidFill>
                <a:schemeClr val="dk1"/>
              </a:solidFill>
              <a:latin typeface="Poppins"/>
              <a:ea typeface="Poppins"/>
              <a:cs typeface="Poppins"/>
              <a:sym typeface="Poppi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pic>
        <p:nvPicPr>
          <p:cNvPr descr="image.png" id="112" name="Google Shape;112;p1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3" name="Google Shape;113;p17"/>
          <p:cNvSpPr/>
          <p:nvPr/>
        </p:nvSpPr>
        <p:spPr>
          <a:xfrm>
            <a:off x="571500" y="11614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 name="Google Shape;114;p17"/>
          <p:cNvSpPr txBox="1"/>
          <p:nvPr/>
        </p:nvSpPr>
        <p:spPr>
          <a:xfrm>
            <a:off x="571500" y="1339875"/>
            <a:ext cx="11049000" cy="1320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600">
                <a:solidFill>
                  <a:schemeClr val="dk1"/>
                </a:solidFill>
                <a:latin typeface="Poppins"/>
                <a:ea typeface="Poppins"/>
                <a:cs typeface="Poppins"/>
                <a:sym typeface="Poppins"/>
              </a:rPr>
              <a:t>Object Relational Mapping (ORM) is a technique used in creating a "bridge" between object-oriented applications and relational databases.</a:t>
            </a:r>
            <a:endParaRPr b="1" sz="2600">
              <a:solidFill>
                <a:schemeClr val="dk1"/>
              </a:solidFill>
              <a:latin typeface="Poppins"/>
              <a:ea typeface="Poppins"/>
              <a:cs typeface="Poppins"/>
              <a:sym typeface="Poppins"/>
            </a:endParaRPr>
          </a:p>
        </p:txBody>
      </p:sp>
      <p:pic>
        <p:nvPicPr>
          <p:cNvPr id="115" name="Google Shape;115;p17" title="ORM PROCESS.png"/>
          <p:cNvPicPr preferRelativeResize="0"/>
          <p:nvPr/>
        </p:nvPicPr>
        <p:blipFill>
          <a:blip r:embed="rId4">
            <a:alphaModFix/>
          </a:blip>
          <a:stretch>
            <a:fillRect/>
          </a:stretch>
        </p:blipFill>
        <p:spPr>
          <a:xfrm>
            <a:off x="3834993" y="2660475"/>
            <a:ext cx="7721881" cy="3789374"/>
          </a:xfrm>
          <a:prstGeom prst="rect">
            <a:avLst/>
          </a:prstGeom>
          <a:noFill/>
          <a:ln cap="flat" cmpd="sng" w="9525">
            <a:solidFill>
              <a:srgbClr val="000000"/>
            </a:solidFill>
            <a:prstDash val="solid"/>
            <a:round/>
            <a:headEnd len="sm" w="sm" type="none"/>
            <a:tailEnd len="sm" w="sm" type="none"/>
          </a:ln>
        </p:spPr>
      </p:pic>
      <p:sp>
        <p:nvSpPr>
          <p:cNvPr id="116" name="Google Shape;116;p17"/>
          <p:cNvSpPr txBox="1"/>
          <p:nvPr/>
        </p:nvSpPr>
        <p:spPr>
          <a:xfrm>
            <a:off x="571500" y="272200"/>
            <a:ext cx="3000000" cy="954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US" sz="5000">
                <a:solidFill>
                  <a:srgbClr val="B91C1C"/>
                </a:solidFill>
                <a:latin typeface="Poppins"/>
                <a:ea typeface="Poppins"/>
                <a:cs typeface="Poppins"/>
                <a:sym typeface="Poppins"/>
              </a:rPr>
              <a:t>ORM</a:t>
            </a:r>
            <a:endParaRPr sz="3400">
              <a:solidFill>
                <a:srgbClr val="B91C1C"/>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pic>
        <p:nvPicPr>
          <p:cNvPr descr="image.png" id="121" name="Google Shape;121;p1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2" name="Google Shape;122;p18"/>
          <p:cNvSpPr/>
          <p:nvPr/>
        </p:nvSpPr>
        <p:spPr>
          <a:xfrm>
            <a:off x="571500" y="1073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3" name="Google Shape;123;p18"/>
          <p:cNvSpPr txBox="1"/>
          <p:nvPr/>
        </p:nvSpPr>
        <p:spPr>
          <a:xfrm>
            <a:off x="571500" y="1667375"/>
            <a:ext cx="11049000" cy="4657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In Java we work with </a:t>
            </a:r>
            <a:r>
              <a:rPr b="1" lang="en-US" sz="2400">
                <a:solidFill>
                  <a:schemeClr val="dk1"/>
                </a:solidFill>
                <a:latin typeface="Poppins"/>
                <a:ea typeface="Poppins"/>
                <a:cs typeface="Poppins"/>
                <a:sym typeface="Poppins"/>
              </a:rPr>
              <a:t>objects</a:t>
            </a:r>
            <a:r>
              <a:rPr lang="en-US" sz="2400">
                <a:solidFill>
                  <a:schemeClr val="dk1"/>
                </a:solidFill>
                <a:latin typeface="Poppins"/>
                <a:ea typeface="Poppins"/>
                <a:cs typeface="Poppins"/>
                <a:sym typeface="Poppins"/>
              </a:rPr>
              <a:t>, databases we work with </a:t>
            </a:r>
            <a:r>
              <a:rPr b="1" lang="en-US" sz="2400">
                <a:solidFill>
                  <a:schemeClr val="dk1"/>
                </a:solidFill>
                <a:latin typeface="Poppins"/>
                <a:ea typeface="Poppins"/>
                <a:cs typeface="Poppins"/>
                <a:sym typeface="Poppins"/>
              </a:rPr>
              <a:t>tables</a:t>
            </a:r>
            <a:r>
              <a:rPr lang="en-US" sz="2400">
                <a:solidFill>
                  <a:schemeClr val="dk1"/>
                </a:solidFill>
                <a:latin typeface="Poppins"/>
                <a:ea typeface="Poppins"/>
                <a:cs typeface="Poppins"/>
                <a:sym typeface="Poppins"/>
              </a:rPr>
              <a:t>.</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200">
                <a:solidFill>
                  <a:schemeClr val="dk1"/>
                </a:solidFill>
                <a:latin typeface="Poppins"/>
                <a:ea typeface="Poppins"/>
                <a:cs typeface="Poppins"/>
                <a:sym typeface="Poppins"/>
              </a:rPr>
              <a:t>So how do you take a Java object…</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200">
                <a:solidFill>
                  <a:schemeClr val="dk1"/>
                </a:solidFill>
                <a:latin typeface="Poppins"/>
                <a:ea typeface="Poppins"/>
                <a:cs typeface="Poppins"/>
                <a:sym typeface="Poppins"/>
              </a:rPr>
              <a:t>…and save it into a database table?</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200">
                <a:solidFill>
                  <a:schemeClr val="dk1"/>
                </a:solidFill>
                <a:latin typeface="Poppins"/>
                <a:ea typeface="Poppins"/>
                <a:cs typeface="Poppins"/>
                <a:sym typeface="Poppins"/>
              </a:rPr>
              <a:t>We could use JDBC and write SQL manually for everything — but it’s repetitive, error-prone, and a lot of work.</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lt1"/>
              </a:solidFill>
              <a:highlight>
                <a:srgbClr val="7F1D1D"/>
              </a:highlight>
              <a:latin typeface="Poppins"/>
              <a:ea typeface="Poppins"/>
              <a:cs typeface="Poppins"/>
              <a:sym typeface="Poppins"/>
            </a:endParaRPr>
          </a:p>
        </p:txBody>
      </p:sp>
      <p:sp>
        <p:nvSpPr>
          <p:cNvPr id="124" name="Google Shape;124;p18"/>
          <p:cNvSpPr txBox="1"/>
          <p:nvPr/>
        </p:nvSpPr>
        <p:spPr>
          <a:xfrm>
            <a:off x="571500" y="369175"/>
            <a:ext cx="11049000" cy="72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3500">
                <a:solidFill>
                  <a:srgbClr val="B91C1C"/>
                </a:solidFill>
                <a:latin typeface="Poppins"/>
                <a:ea typeface="Poppins"/>
                <a:cs typeface="Poppins"/>
                <a:sym typeface="Poppins"/>
              </a:rPr>
              <a:t>Problem</a:t>
            </a:r>
            <a:endParaRPr sz="2100">
              <a:solidFill>
                <a:srgbClr val="B91C1C"/>
              </a:solidFill>
            </a:endParaRPr>
          </a:p>
        </p:txBody>
      </p:sp>
      <p:sp>
        <p:nvSpPr>
          <p:cNvPr id="125" name="Google Shape;125;p18"/>
          <p:cNvSpPr txBox="1"/>
          <p:nvPr/>
        </p:nvSpPr>
        <p:spPr>
          <a:xfrm>
            <a:off x="1259250" y="2982600"/>
            <a:ext cx="9060900" cy="446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1700"/>
              <a:t>Product product = new Product(1L, “Macbook Pro M4”, “Laptop”);</a:t>
            </a:r>
            <a:endParaRPr b="1" i="1" sz="1700"/>
          </a:p>
        </p:txBody>
      </p:sp>
      <p:sp>
        <p:nvSpPr>
          <p:cNvPr id="126" name="Google Shape;126;p18"/>
          <p:cNvSpPr txBox="1"/>
          <p:nvPr/>
        </p:nvSpPr>
        <p:spPr>
          <a:xfrm>
            <a:off x="1259250" y="4315225"/>
            <a:ext cx="9060900" cy="446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1700"/>
              <a:t>INSERT INTO products (id, name, category) VALUES (1L, ‘Macbook Pro M4’, ‘Laptop’);</a:t>
            </a:r>
            <a:endParaRPr b="1" i="1" sz="17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pic>
        <p:nvPicPr>
          <p:cNvPr descr="image.png" id="131" name="Google Shape;131;p1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2" name="Google Shape;132;p19"/>
          <p:cNvSpPr/>
          <p:nvPr/>
        </p:nvSpPr>
        <p:spPr>
          <a:xfrm>
            <a:off x="571500" y="1073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 name="Google Shape;133;p19"/>
          <p:cNvSpPr txBox="1"/>
          <p:nvPr/>
        </p:nvSpPr>
        <p:spPr>
          <a:xfrm>
            <a:off x="571500" y="369175"/>
            <a:ext cx="11049000" cy="72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3500">
                <a:solidFill>
                  <a:srgbClr val="B91C1C"/>
                </a:solidFill>
                <a:latin typeface="Poppins"/>
                <a:ea typeface="Poppins"/>
                <a:cs typeface="Poppins"/>
                <a:sym typeface="Poppins"/>
              </a:rPr>
              <a:t>The JDBC way</a:t>
            </a:r>
            <a:endParaRPr sz="2100">
              <a:solidFill>
                <a:srgbClr val="B91C1C"/>
              </a:solidFill>
            </a:endParaRPr>
          </a:p>
        </p:txBody>
      </p:sp>
      <p:sp>
        <p:nvSpPr>
          <p:cNvPr id="134" name="Google Shape;134;p19"/>
          <p:cNvSpPr txBox="1"/>
          <p:nvPr/>
        </p:nvSpPr>
        <p:spPr>
          <a:xfrm>
            <a:off x="571500" y="1299875"/>
            <a:ext cx="11049000" cy="44739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a:t>
            </a:r>
            <a:endParaRPr sz="1300">
              <a:solidFill>
                <a:srgbClr val="E6E6FA"/>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Clr>
                <a:schemeClr val="dk1"/>
              </a:buClr>
              <a:buSzPts val="1100"/>
              <a:buFont typeface="Arial"/>
              <a:buNone/>
            </a:pPr>
            <a:r>
              <a:rPr lang="en-US" sz="1200">
                <a:solidFill>
                  <a:srgbClr val="1290C3"/>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Product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setProductName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"Macbook Pro M4"</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Clr>
                <a:schemeClr val="dk1"/>
              </a:buClr>
              <a:buSzPts val="1100"/>
              <a:buFont typeface="Arial"/>
              <a:buNone/>
            </a:pP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setCategory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"Laptop"</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a:t>
            </a:r>
            <a:endParaRPr sz="1300">
              <a:solidFill>
                <a:srgbClr val="E6E6FA"/>
              </a:solidFill>
              <a:highlight>
                <a:srgbClr val="1E1F22"/>
              </a:highlight>
              <a:latin typeface="Courier New"/>
              <a:ea typeface="Courier New"/>
              <a:cs typeface="Courier New"/>
              <a:sym typeface="Courier New"/>
            </a:endParaRPr>
          </a:p>
          <a:p>
            <a:pPr indent="457200" lvl="0" marL="0" rtl="0" algn="l">
              <a:lnSpc>
                <a:spcPct val="115000"/>
              </a:lnSpc>
              <a:spcBef>
                <a:spcPts val="0"/>
              </a:spcBef>
              <a:spcAft>
                <a:spcPts val="0"/>
              </a:spcAft>
              <a:buNone/>
            </a:pPr>
            <a:r>
              <a:rPr lang="en-US" sz="1300">
                <a:solidFill>
                  <a:srgbClr val="1290C3"/>
                </a:solidFill>
                <a:highlight>
                  <a:srgbClr val="1E1F22"/>
                </a:highlight>
                <a:latin typeface="Courier New"/>
                <a:ea typeface="Courier New"/>
                <a:cs typeface="Courier New"/>
                <a:sym typeface="Courier New"/>
              </a:rPr>
              <a:t>String</a:t>
            </a:r>
            <a:r>
              <a:rPr lang="en-US" sz="1300">
                <a:solidFill>
                  <a:srgbClr val="D9E8F7"/>
                </a:solidFill>
                <a:highlight>
                  <a:srgbClr val="1E1F22"/>
                </a:highlight>
                <a:latin typeface="Courier New"/>
                <a:ea typeface="Courier New"/>
                <a:cs typeface="Courier New"/>
                <a:sym typeface="Courier New"/>
              </a:rPr>
              <a:t> </a:t>
            </a:r>
            <a:r>
              <a:rPr lang="en-US" sz="1300">
                <a:solidFill>
                  <a:srgbClr val="F2F200"/>
                </a:solidFill>
                <a:highlight>
                  <a:srgbClr val="1E1F22"/>
                </a:highlight>
                <a:latin typeface="Courier New"/>
                <a:ea typeface="Courier New"/>
                <a:cs typeface="Courier New"/>
                <a:sym typeface="Courier New"/>
              </a:rPr>
              <a:t>sql</a:t>
            </a:r>
            <a:r>
              <a:rPr lang="en-US" sz="1300">
                <a:solidFill>
                  <a:srgbClr val="D9E8F7"/>
                </a:solidFill>
                <a:highlight>
                  <a:srgbClr val="1E1F22"/>
                </a:highlight>
                <a:latin typeface="Courier New"/>
                <a:ea typeface="Courier New"/>
                <a:cs typeface="Courier New"/>
                <a:sym typeface="Courier New"/>
              </a:rPr>
              <a:t> </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17C6A3"/>
                </a:solidFill>
                <a:highlight>
                  <a:srgbClr val="1E1F22"/>
                </a:highlight>
                <a:latin typeface="Courier New"/>
                <a:ea typeface="Courier New"/>
                <a:cs typeface="Courier New"/>
                <a:sym typeface="Courier New"/>
              </a:rPr>
              <a:t>"INSERT INTO products (id, name, category) VALUES (?, ?,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808080"/>
                </a:solidFill>
                <a:highlight>
                  <a:srgbClr val="1E1F22"/>
                </a:highlight>
                <a:latin typeface="Courier New"/>
                <a:ea typeface="Courier New"/>
                <a:cs typeface="Courier New"/>
                <a:sym typeface="Courier New"/>
              </a:rPr>
              <a:t>// 2. Prepare SQL statement</a:t>
            </a:r>
            <a:endParaRPr sz="13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D9E8F7"/>
                </a:solidFill>
                <a:highlight>
                  <a:srgbClr val="1E1F22"/>
                </a:highlight>
                <a:latin typeface="Courier New"/>
                <a:ea typeface="Courier New"/>
                <a:cs typeface="Courier New"/>
                <a:sym typeface="Courier New"/>
              </a:rPr>
              <a:t> </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conn</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prepareStatement</a:t>
            </a:r>
            <a:r>
              <a:rPr lang="en-US" sz="1300">
                <a:solidFill>
                  <a:srgbClr val="F9FAF4"/>
                </a:solidFill>
                <a:highlight>
                  <a:srgbClr val="1E1F22"/>
                </a:highlight>
                <a:latin typeface="Courier New"/>
                <a:ea typeface="Courier New"/>
                <a:cs typeface="Courier New"/>
                <a:sym typeface="Courier New"/>
              </a:rPr>
              <a:t>(</a:t>
            </a:r>
            <a:r>
              <a:rPr lang="en-US" sz="1300">
                <a:solidFill>
                  <a:srgbClr val="F3EC79"/>
                </a:solidFill>
                <a:highlight>
                  <a:srgbClr val="1E1F22"/>
                </a:highlight>
                <a:latin typeface="Courier New"/>
                <a:ea typeface="Courier New"/>
                <a:cs typeface="Courier New"/>
                <a:sym typeface="Courier New"/>
              </a:rPr>
              <a:t>sql</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808080"/>
                </a:solidFill>
                <a:highlight>
                  <a:srgbClr val="1E1F22"/>
                </a:highlight>
                <a:latin typeface="Courier New"/>
                <a:ea typeface="Courier New"/>
                <a:cs typeface="Courier New"/>
                <a:sym typeface="Courier New"/>
              </a:rPr>
              <a:t>// 3. Bind parameters</a:t>
            </a:r>
            <a:endParaRPr sz="13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setLong</a:t>
            </a:r>
            <a:r>
              <a:rPr lang="en-US" sz="1300">
                <a:solidFill>
                  <a:srgbClr val="F9FAF4"/>
                </a:solidFill>
                <a:highlight>
                  <a:srgbClr val="1E1F22"/>
                </a:highlight>
                <a:latin typeface="Courier New"/>
                <a:ea typeface="Courier New"/>
                <a:cs typeface="Courier New"/>
                <a:sym typeface="Courier New"/>
              </a:rPr>
              <a:t>(</a:t>
            </a:r>
            <a:r>
              <a:rPr lang="en-US" sz="1300">
                <a:solidFill>
                  <a:srgbClr val="6897BB"/>
                </a:solidFill>
                <a:highlight>
                  <a:srgbClr val="1E1F22"/>
                </a:highlight>
                <a:latin typeface="Courier New"/>
                <a:ea typeface="Courier New"/>
                <a:cs typeface="Courier New"/>
                <a:sym typeface="Courier New"/>
              </a:rPr>
              <a:t>1</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79ABFF"/>
                </a:solidFill>
                <a:highlight>
                  <a:srgbClr val="1E1F22"/>
                </a:highlight>
                <a:latin typeface="Courier New"/>
                <a:ea typeface="Courier New"/>
                <a:cs typeface="Courier New"/>
                <a:sym typeface="Courier New"/>
              </a:rPr>
              <a:t>product</a:t>
            </a:r>
            <a:r>
              <a:rPr lang="en-US" sz="1300">
                <a:solidFill>
                  <a:srgbClr val="E6E6FA"/>
                </a:solidFill>
                <a:highlight>
                  <a:srgbClr val="1E1F22"/>
                </a:highlight>
                <a:latin typeface="Courier New"/>
                <a:ea typeface="Courier New"/>
                <a:cs typeface="Courier New"/>
                <a:sym typeface="Courier New"/>
              </a:rPr>
              <a:t>.</a:t>
            </a:r>
            <a:r>
              <a:rPr lang="en-US" sz="1300" u="sng">
                <a:solidFill>
                  <a:srgbClr val="D9E8F7"/>
                </a:solidFill>
                <a:highlight>
                  <a:srgbClr val="1E1F22"/>
                </a:highlight>
                <a:latin typeface="Courier New"/>
                <a:ea typeface="Courier New"/>
                <a:cs typeface="Courier New"/>
                <a:sym typeface="Courier New"/>
              </a:rPr>
              <a:t>getId</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setString</a:t>
            </a:r>
            <a:r>
              <a:rPr lang="en-US" sz="1300">
                <a:solidFill>
                  <a:srgbClr val="F9FAF4"/>
                </a:solidFill>
                <a:highlight>
                  <a:srgbClr val="1E1F22"/>
                </a:highlight>
                <a:latin typeface="Courier New"/>
                <a:ea typeface="Courier New"/>
                <a:cs typeface="Courier New"/>
                <a:sym typeface="Courier New"/>
              </a:rPr>
              <a:t>(</a:t>
            </a:r>
            <a:r>
              <a:rPr lang="en-US" sz="1300">
                <a:solidFill>
                  <a:srgbClr val="6897BB"/>
                </a:solidFill>
                <a:highlight>
                  <a:srgbClr val="1E1F22"/>
                </a:highlight>
                <a:latin typeface="Courier New"/>
                <a:ea typeface="Courier New"/>
                <a:cs typeface="Courier New"/>
                <a:sym typeface="Courier New"/>
              </a:rPr>
              <a:t>2</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79ABFF"/>
                </a:solidFill>
                <a:highlight>
                  <a:srgbClr val="1E1F22"/>
                </a:highlight>
                <a:latin typeface="Courier New"/>
                <a:ea typeface="Courier New"/>
                <a:cs typeface="Courier New"/>
                <a:sym typeface="Courier New"/>
              </a:rPr>
              <a:t>product</a:t>
            </a:r>
            <a:r>
              <a:rPr lang="en-US" sz="1300">
                <a:solidFill>
                  <a:srgbClr val="E6E6FA"/>
                </a:solidFill>
                <a:highlight>
                  <a:srgbClr val="1E1F22"/>
                </a:highlight>
                <a:latin typeface="Courier New"/>
                <a:ea typeface="Courier New"/>
                <a:cs typeface="Courier New"/>
                <a:sym typeface="Courier New"/>
              </a:rPr>
              <a:t>.</a:t>
            </a:r>
            <a:r>
              <a:rPr lang="en-US" sz="1300" u="sng">
                <a:solidFill>
                  <a:srgbClr val="D9E8F7"/>
                </a:solidFill>
                <a:highlight>
                  <a:srgbClr val="1E1F22"/>
                </a:highlight>
                <a:latin typeface="Courier New"/>
                <a:ea typeface="Courier New"/>
                <a:cs typeface="Courier New"/>
                <a:sym typeface="Courier New"/>
              </a:rPr>
              <a:t>getName</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setString</a:t>
            </a:r>
            <a:r>
              <a:rPr lang="en-US" sz="1300">
                <a:solidFill>
                  <a:srgbClr val="F9FAF4"/>
                </a:solidFill>
                <a:highlight>
                  <a:srgbClr val="1E1F22"/>
                </a:highlight>
                <a:latin typeface="Courier New"/>
                <a:ea typeface="Courier New"/>
                <a:cs typeface="Courier New"/>
                <a:sym typeface="Courier New"/>
              </a:rPr>
              <a:t>(</a:t>
            </a:r>
            <a:r>
              <a:rPr lang="en-US" sz="1300">
                <a:solidFill>
                  <a:srgbClr val="6897BB"/>
                </a:solidFill>
                <a:highlight>
                  <a:srgbClr val="1E1F22"/>
                </a:highlight>
                <a:latin typeface="Courier New"/>
                <a:ea typeface="Courier New"/>
                <a:cs typeface="Courier New"/>
                <a:sym typeface="Courier New"/>
              </a:rPr>
              <a:t>3</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79ABFF"/>
                </a:solidFill>
                <a:highlight>
                  <a:srgbClr val="1E1F22"/>
                </a:highlight>
                <a:latin typeface="Courier New"/>
                <a:ea typeface="Courier New"/>
                <a:cs typeface="Courier New"/>
                <a:sym typeface="Courier New"/>
              </a:rPr>
              <a:t>product</a:t>
            </a:r>
            <a:r>
              <a:rPr lang="en-US" sz="1300">
                <a:solidFill>
                  <a:srgbClr val="E6E6FA"/>
                </a:solidFill>
                <a:highlight>
                  <a:srgbClr val="1E1F22"/>
                </a:highlight>
                <a:latin typeface="Courier New"/>
                <a:ea typeface="Courier New"/>
                <a:cs typeface="Courier New"/>
                <a:sym typeface="Courier New"/>
              </a:rPr>
              <a:t>.</a:t>
            </a:r>
            <a:r>
              <a:rPr lang="en-US" sz="1300" u="sng">
                <a:solidFill>
                  <a:srgbClr val="D9E8F7"/>
                </a:solidFill>
                <a:highlight>
                  <a:srgbClr val="1E1F22"/>
                </a:highlight>
                <a:latin typeface="Courier New"/>
                <a:ea typeface="Courier New"/>
                <a:cs typeface="Courier New"/>
                <a:sym typeface="Courier New"/>
              </a:rPr>
              <a:t>getCategory</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808080"/>
                </a:solidFill>
                <a:highlight>
                  <a:srgbClr val="1E1F22"/>
                </a:highlight>
                <a:latin typeface="Courier New"/>
                <a:ea typeface="Courier New"/>
                <a:cs typeface="Courier New"/>
                <a:sym typeface="Courier New"/>
              </a:rPr>
              <a:t>// 4. Execute</a:t>
            </a:r>
            <a:endParaRPr sz="13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executeUpdate</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4826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endParaRPr sz="13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endParaRPr sz="15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 name="Shape 138"/>
        <p:cNvGrpSpPr/>
        <p:nvPr/>
      </p:nvGrpSpPr>
      <p:grpSpPr>
        <a:xfrm>
          <a:off x="0" y="0"/>
          <a:ext cx="0" cy="0"/>
          <a:chOff x="0" y="0"/>
          <a:chExt cx="0" cy="0"/>
        </a:xfrm>
      </p:grpSpPr>
      <p:pic>
        <p:nvPicPr>
          <p:cNvPr descr="image.png" id="139" name="Google Shape;139;p2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0" name="Google Shape;140;p20"/>
          <p:cNvSpPr/>
          <p:nvPr/>
        </p:nvSpPr>
        <p:spPr>
          <a:xfrm>
            <a:off x="571500" y="9361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 name="Google Shape;141;p20"/>
          <p:cNvSpPr txBox="1"/>
          <p:nvPr/>
        </p:nvSpPr>
        <p:spPr>
          <a:xfrm>
            <a:off x="571500" y="1129088"/>
            <a:ext cx="11049000" cy="4784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ORM automatically generates SQL and maps Java objects to database tables.</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Example: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When you write:</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Hibernate (an ORM) will generate SQL for you:</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p:txBody>
      </p:sp>
      <p:sp>
        <p:nvSpPr>
          <p:cNvPr id="142" name="Google Shape;142;p20"/>
          <p:cNvSpPr txBox="1"/>
          <p:nvPr/>
        </p:nvSpPr>
        <p:spPr>
          <a:xfrm>
            <a:off x="571500" y="212850"/>
            <a:ext cx="11049000" cy="6927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None/>
            </a:pPr>
            <a:r>
              <a:rPr b="1" lang="en-US" sz="3300">
                <a:solidFill>
                  <a:srgbClr val="B91C1C"/>
                </a:solidFill>
                <a:latin typeface="Poppins"/>
                <a:ea typeface="Poppins"/>
                <a:cs typeface="Poppins"/>
                <a:sym typeface="Poppins"/>
              </a:rPr>
              <a:t>The ORM way</a:t>
            </a:r>
            <a:endParaRPr b="1" sz="3300">
              <a:solidFill>
                <a:srgbClr val="B91C1C"/>
              </a:solidFill>
              <a:latin typeface="Poppins"/>
              <a:ea typeface="Poppins"/>
              <a:cs typeface="Poppins"/>
              <a:sym typeface="Poppins"/>
            </a:endParaRPr>
          </a:p>
        </p:txBody>
      </p:sp>
      <p:sp>
        <p:nvSpPr>
          <p:cNvPr id="143" name="Google Shape;143;p20"/>
          <p:cNvSpPr txBox="1"/>
          <p:nvPr/>
        </p:nvSpPr>
        <p:spPr>
          <a:xfrm>
            <a:off x="1075575" y="4932050"/>
            <a:ext cx="9060900" cy="446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1700"/>
              <a:t>INSERT INTO products (id, name, category) VALUES (1L, ‘Macbook Pro M4’, ‘Laptop’);</a:t>
            </a:r>
            <a:endParaRPr b="1" i="1" sz="1700"/>
          </a:p>
        </p:txBody>
      </p:sp>
      <p:sp>
        <p:nvSpPr>
          <p:cNvPr id="144" name="Google Shape;144;p20"/>
          <p:cNvSpPr txBox="1"/>
          <p:nvPr/>
        </p:nvSpPr>
        <p:spPr>
          <a:xfrm>
            <a:off x="1075575" y="2805350"/>
            <a:ext cx="9060900" cy="1431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Product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setProductName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"Macbook Pro M4"</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setCategory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"Laptop"</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product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pic>
        <p:nvPicPr>
          <p:cNvPr descr="image.png" id="149" name="Google Shape;149;p2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0" name="Google Shape;150;p21"/>
          <p:cNvSpPr/>
          <p:nvPr/>
        </p:nvSpPr>
        <p:spPr>
          <a:xfrm>
            <a:off x="571500" y="4669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21"/>
          <p:cNvSpPr txBox="1"/>
          <p:nvPr/>
        </p:nvSpPr>
        <p:spPr>
          <a:xfrm>
            <a:off x="571500" y="587225"/>
            <a:ext cx="11049000" cy="5929800"/>
          </a:xfrm>
          <a:prstGeom prst="rect">
            <a:avLst/>
          </a:prstGeom>
          <a:noFill/>
          <a:ln>
            <a:noFill/>
          </a:ln>
        </p:spPr>
        <p:txBody>
          <a:bodyPr anchorCtr="0" anchor="t" bIns="0" lIns="0" spcFirstLastPara="1" rIns="0" wrap="square" tIns="0">
            <a:spAutoFit/>
          </a:bodyPr>
          <a:lstStyle/>
          <a:p>
            <a:pPr indent="-317500" lvl="0" marL="457200" marR="0" rtl="0" algn="l">
              <a:lnSpc>
                <a:spcPct val="115000"/>
              </a:lnSpc>
              <a:spcBef>
                <a:spcPts val="0"/>
              </a:spcBef>
              <a:spcAft>
                <a:spcPts val="0"/>
              </a:spcAft>
              <a:buClr>
                <a:schemeClr val="dk1"/>
              </a:buClr>
              <a:buSzPts val="1400"/>
              <a:buFont typeface="Poppins"/>
              <a:buChar char="➔"/>
            </a:pPr>
            <a:r>
              <a:rPr b="1" lang="en-US" sz="2500">
                <a:solidFill>
                  <a:schemeClr val="dk1"/>
                </a:solidFill>
                <a:latin typeface="Poppins"/>
                <a:ea typeface="Poppins"/>
                <a:cs typeface="Poppins"/>
                <a:sym typeface="Poppins"/>
              </a:rPr>
              <a:t> </a:t>
            </a:r>
            <a:r>
              <a:rPr b="1" lang="en-US" sz="2900">
                <a:solidFill>
                  <a:schemeClr val="dk1"/>
                </a:solidFill>
                <a:latin typeface="Poppins"/>
                <a:ea typeface="Poppins"/>
                <a:cs typeface="Poppins"/>
                <a:sym typeface="Poppins"/>
              </a:rPr>
              <a:t>ORM lets you work with the database using Java objects instead of SQL statements.</a:t>
            </a:r>
            <a:endParaRPr b="1" sz="29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800">
                <a:solidFill>
                  <a:schemeClr val="dk1"/>
                </a:solidFill>
                <a:latin typeface="Poppins"/>
                <a:ea typeface="Poppins"/>
                <a:cs typeface="Poppins"/>
                <a:sym typeface="Poppins"/>
              </a:rPr>
              <a:t>Instead</a:t>
            </a:r>
            <a:r>
              <a:rPr lang="en-US" sz="2800">
                <a:solidFill>
                  <a:schemeClr val="dk1"/>
                </a:solidFill>
                <a:latin typeface="Poppins"/>
                <a:ea typeface="Poppins"/>
                <a:cs typeface="Poppins"/>
                <a:sym typeface="Poppins"/>
              </a:rPr>
              <a:t> of writing this:</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800">
                <a:solidFill>
                  <a:schemeClr val="dk1"/>
                </a:solidFill>
                <a:latin typeface="Poppins"/>
                <a:ea typeface="Poppins"/>
                <a:cs typeface="Poppins"/>
                <a:sym typeface="Poppins"/>
              </a:rPr>
              <a:t>You do this: </a:t>
            </a:r>
            <a:br>
              <a:rPr lang="en-US" sz="2300">
                <a:solidFill>
                  <a:schemeClr val="dk1"/>
                </a:solidFill>
                <a:latin typeface="Poppins"/>
                <a:ea typeface="Poppins"/>
                <a:cs typeface="Poppins"/>
                <a:sym typeface="Poppins"/>
              </a:rPr>
            </a:br>
            <a:br>
              <a:rPr lang="en-US" sz="2300">
                <a:solidFill>
                  <a:schemeClr val="dk1"/>
                </a:solidFill>
                <a:latin typeface="Poppins"/>
                <a:ea typeface="Poppins"/>
                <a:cs typeface="Poppins"/>
                <a:sym typeface="Poppins"/>
              </a:rPr>
            </a:br>
            <a:endParaRPr sz="23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3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300">
                <a:solidFill>
                  <a:schemeClr val="dk1"/>
                </a:solidFill>
                <a:latin typeface="Poppins"/>
                <a:ea typeface="Poppins"/>
                <a:cs typeface="Poppins"/>
                <a:sym typeface="Poppins"/>
              </a:rPr>
              <a:t>And the result is already mapped to Product p, no more manual mapping of resultset.</a:t>
            </a:r>
            <a:endParaRPr sz="2500">
              <a:solidFill>
                <a:schemeClr val="dk1"/>
              </a:solidFill>
              <a:latin typeface="Poppins"/>
              <a:ea typeface="Poppins"/>
              <a:cs typeface="Poppins"/>
              <a:sym typeface="Poppins"/>
            </a:endParaRPr>
          </a:p>
        </p:txBody>
      </p:sp>
      <p:pic>
        <p:nvPicPr>
          <p:cNvPr id="152" name="Google Shape;152;p21"/>
          <p:cNvPicPr preferRelativeResize="0"/>
          <p:nvPr/>
        </p:nvPicPr>
        <p:blipFill rotWithShape="1">
          <a:blip r:embed="rId4">
            <a:alphaModFix/>
          </a:blip>
          <a:srcRect b="0" l="0" r="0" t="0"/>
          <a:stretch/>
        </p:blipFill>
        <p:spPr>
          <a:xfrm>
            <a:off x="1508800" y="2830688"/>
            <a:ext cx="5273050" cy="801375"/>
          </a:xfrm>
          <a:prstGeom prst="rect">
            <a:avLst/>
          </a:prstGeom>
          <a:noFill/>
          <a:ln>
            <a:noFill/>
          </a:ln>
        </p:spPr>
      </p:pic>
      <p:pic>
        <p:nvPicPr>
          <p:cNvPr id="153" name="Google Shape;153;p21"/>
          <p:cNvPicPr preferRelativeResize="0"/>
          <p:nvPr/>
        </p:nvPicPr>
        <p:blipFill>
          <a:blip r:embed="rId5">
            <a:alphaModFix/>
          </a:blip>
          <a:stretch>
            <a:fillRect/>
          </a:stretch>
        </p:blipFill>
        <p:spPr>
          <a:xfrm>
            <a:off x="1508800" y="4718025"/>
            <a:ext cx="5807025" cy="7374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pic>
        <p:nvPicPr>
          <p:cNvPr descr="image.png" id="158" name="Google Shape;158;p2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9" name="Google Shape;159;p22"/>
          <p:cNvSpPr/>
          <p:nvPr/>
        </p:nvSpPr>
        <p:spPr>
          <a:xfrm>
            <a:off x="571500" y="12795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 name="Google Shape;160;p22"/>
          <p:cNvSpPr txBox="1"/>
          <p:nvPr/>
        </p:nvSpPr>
        <p:spPr>
          <a:xfrm>
            <a:off x="571500" y="2089550"/>
            <a:ext cx="11049000" cy="2916000"/>
          </a:xfrm>
          <a:prstGeom prst="rect">
            <a:avLst/>
          </a:prstGeom>
          <a:solidFill>
            <a:srgbClr val="1E1F22"/>
          </a:solid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while (rs.next())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int id = rs.getInt("id");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String name = rs.getString("name");</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String category = rs.getString("category");</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Product product = new Product();</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student.setId(id);</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student.setName(name);</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student.setCategory(age);</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p:txBody>
      </p:sp>
      <p:sp>
        <p:nvSpPr>
          <p:cNvPr id="161" name="Google Shape;161;p22"/>
          <p:cNvSpPr txBox="1"/>
          <p:nvPr/>
        </p:nvSpPr>
        <p:spPr>
          <a:xfrm>
            <a:off x="571500" y="462875"/>
            <a:ext cx="11049000" cy="6927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None/>
            </a:pPr>
            <a:r>
              <a:rPr b="1" lang="en-US" sz="3300">
                <a:solidFill>
                  <a:srgbClr val="B91C1C"/>
                </a:solidFill>
                <a:latin typeface="Poppins"/>
                <a:ea typeface="Poppins"/>
                <a:cs typeface="Poppins"/>
                <a:sym typeface="Poppins"/>
              </a:rPr>
              <a:t>JDBC mapping resultset</a:t>
            </a:r>
            <a:endParaRPr b="1" sz="3300">
              <a:solidFill>
                <a:srgbClr val="B91C1C"/>
              </a:solidFill>
              <a:latin typeface="Poppins"/>
              <a:ea typeface="Poppins"/>
              <a:cs typeface="Poppins"/>
              <a:sym typeface="Poppi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pic>
        <p:nvPicPr>
          <p:cNvPr descr="image.png" id="166" name="Google Shape;166;p2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67" name="Google Shape;167;p23"/>
          <p:cNvSpPr txBox="1"/>
          <p:nvPr/>
        </p:nvSpPr>
        <p:spPr>
          <a:xfrm>
            <a:off x="495550" y="1201950"/>
            <a:ext cx="11049000" cy="5379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700">
                <a:solidFill>
                  <a:schemeClr val="dk1"/>
                </a:solidFill>
                <a:latin typeface="Poppins"/>
                <a:ea typeface="Poppins"/>
                <a:cs typeface="Poppins"/>
                <a:sym typeface="Poppins"/>
              </a:rPr>
              <a:t>JPA </a:t>
            </a:r>
            <a:r>
              <a:rPr lang="en-US" sz="2700">
                <a:solidFill>
                  <a:schemeClr val="dk1"/>
                </a:solidFill>
                <a:latin typeface="Poppins"/>
                <a:ea typeface="Poppins"/>
                <a:cs typeface="Poppins"/>
                <a:sym typeface="Poppins"/>
              </a:rPr>
              <a:t>stands for</a:t>
            </a:r>
            <a:r>
              <a:rPr b="1" lang="en-US" sz="2700">
                <a:solidFill>
                  <a:schemeClr val="dk1"/>
                </a:solidFill>
                <a:latin typeface="Poppins"/>
                <a:ea typeface="Poppins"/>
                <a:cs typeface="Poppins"/>
                <a:sym typeface="Poppins"/>
              </a:rPr>
              <a:t> Java Persistence API.</a:t>
            </a:r>
            <a:endParaRPr b="1" sz="27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b="1"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700">
                <a:solidFill>
                  <a:schemeClr val="dk1"/>
                </a:solidFill>
                <a:latin typeface="Poppins"/>
                <a:ea typeface="Poppins"/>
                <a:cs typeface="Poppins"/>
                <a:sym typeface="Poppins"/>
              </a:rPr>
              <a:t>Persistence</a:t>
            </a:r>
            <a:r>
              <a:rPr lang="en-US" sz="2700">
                <a:solidFill>
                  <a:schemeClr val="dk1"/>
                </a:solidFill>
                <a:latin typeface="Poppins"/>
                <a:ea typeface="Poppins"/>
                <a:cs typeface="Poppins"/>
                <a:sym typeface="Poppins"/>
              </a:rPr>
              <a:t> = object state stored beyond program execution</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700">
                <a:solidFill>
                  <a:schemeClr val="dk1"/>
                </a:solidFill>
                <a:latin typeface="Poppins"/>
                <a:ea typeface="Poppins"/>
                <a:cs typeface="Poppins"/>
                <a:sym typeface="Poppins"/>
              </a:rPr>
              <a:t>API</a:t>
            </a:r>
            <a:r>
              <a:rPr lang="en-US" sz="2700">
                <a:solidFill>
                  <a:schemeClr val="dk1"/>
                </a:solidFill>
                <a:latin typeface="Poppins"/>
                <a:ea typeface="Poppins"/>
                <a:cs typeface="Poppins"/>
                <a:sym typeface="Poppins"/>
              </a:rPr>
              <a:t> = the standardized set of interfaces and annotations</a:t>
            </a:r>
            <a:endParaRPr sz="27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700">
                <a:solidFill>
                  <a:schemeClr val="dk1"/>
                </a:solidFill>
                <a:latin typeface="Poppins"/>
                <a:ea typeface="Poppins"/>
                <a:cs typeface="Poppins"/>
                <a:sym typeface="Poppins"/>
              </a:rPr>
              <a:t>JPA (Java Persistence API) is a standard specification that defines how Java objects are mapped to and persisted in relational database tables.</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700">
                <a:solidFill>
                  <a:schemeClr val="dk1"/>
                </a:solidFill>
                <a:latin typeface="Poppins"/>
                <a:ea typeface="Poppins"/>
                <a:cs typeface="Poppins"/>
                <a:sym typeface="Poppins"/>
              </a:rPr>
              <a:t>JPA is a standard of doing Object Relation Mapping (ORM) in java.</a:t>
            </a:r>
            <a:endParaRPr sz="2700">
              <a:solidFill>
                <a:schemeClr val="dk1"/>
              </a:solidFill>
              <a:latin typeface="Poppins"/>
              <a:ea typeface="Poppins"/>
              <a:cs typeface="Poppins"/>
              <a:sym typeface="Poppins"/>
            </a:endParaRPr>
          </a:p>
        </p:txBody>
      </p:sp>
      <p:sp>
        <p:nvSpPr>
          <p:cNvPr id="168" name="Google Shape;168;p23"/>
          <p:cNvSpPr/>
          <p:nvPr/>
        </p:nvSpPr>
        <p:spPr>
          <a:xfrm>
            <a:off x="495550" y="9964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23"/>
          <p:cNvSpPr txBox="1"/>
          <p:nvPr/>
        </p:nvSpPr>
        <p:spPr>
          <a:xfrm>
            <a:off x="495550" y="273100"/>
            <a:ext cx="11049000" cy="72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3500">
                <a:solidFill>
                  <a:srgbClr val="7F1D1D"/>
                </a:solidFill>
                <a:latin typeface="Poppins"/>
                <a:ea typeface="Poppins"/>
                <a:cs typeface="Poppins"/>
                <a:sym typeface="Poppins"/>
              </a:rPr>
              <a:t>What is JPA?</a:t>
            </a:r>
            <a:endParaRPr b="1" sz="3500">
              <a:solidFill>
                <a:srgbClr val="7F1D1D"/>
              </a:solidFill>
              <a:latin typeface="Poppins"/>
              <a:ea typeface="Poppins"/>
              <a:cs typeface="Poppins"/>
              <a:sym typeface="Poppin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pic>
        <p:nvPicPr>
          <p:cNvPr descr="image.png" id="174" name="Google Shape;174;p2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75" name="Google Shape;175;p24"/>
          <p:cNvSpPr txBox="1"/>
          <p:nvPr/>
        </p:nvSpPr>
        <p:spPr>
          <a:xfrm>
            <a:off x="571500" y="393300"/>
            <a:ext cx="11049000" cy="5823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3500">
                <a:solidFill>
                  <a:srgbClr val="7F1D1D"/>
                </a:solidFill>
                <a:latin typeface="Poppins"/>
                <a:ea typeface="Poppins"/>
                <a:cs typeface="Poppins"/>
                <a:sym typeface="Poppins"/>
              </a:rPr>
              <a:t>Hibernate</a:t>
            </a:r>
            <a:endParaRPr b="1" sz="3500">
              <a:solidFill>
                <a:srgbClr val="7F1D1D"/>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1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000">
                <a:solidFill>
                  <a:schemeClr val="dk1"/>
                </a:solidFill>
                <a:latin typeface="Poppins"/>
                <a:ea typeface="Poppins"/>
                <a:cs typeface="Poppins"/>
                <a:sym typeface="Poppins"/>
              </a:rPr>
              <a:t>Hibernate is an ORM framework that implements the JPA specification.</a:t>
            </a:r>
            <a:endParaRPr b="1" sz="2100">
              <a:solidFill>
                <a:schemeClr val="dk1"/>
              </a:solidFill>
              <a:latin typeface="Poppins"/>
              <a:ea typeface="Poppins"/>
              <a:cs typeface="Poppins"/>
              <a:sym typeface="Poppins"/>
            </a:endParaRPr>
          </a:p>
          <a:p>
            <a:pPr indent="457200" lvl="0" marL="457200" rtl="0" algn="l">
              <a:lnSpc>
                <a:spcPct val="115000"/>
              </a:lnSpc>
              <a:spcBef>
                <a:spcPts val="1200"/>
              </a:spcBef>
              <a:spcAft>
                <a:spcPts val="0"/>
              </a:spcAft>
              <a:buNone/>
            </a:pPr>
            <a:r>
              <a:t/>
            </a:r>
            <a:endParaRPr sz="1800">
              <a:solidFill>
                <a:schemeClr val="dk1"/>
              </a:solidFill>
              <a:latin typeface="Poppins"/>
              <a:ea typeface="Poppins"/>
              <a:cs typeface="Poppins"/>
              <a:sym typeface="Poppins"/>
            </a:endParaRPr>
          </a:p>
          <a:p>
            <a:pPr indent="0" lvl="0" marL="0" rtl="0" algn="l">
              <a:lnSpc>
                <a:spcPct val="115000"/>
              </a:lnSpc>
              <a:spcBef>
                <a:spcPts val="1200"/>
              </a:spcBef>
              <a:spcAft>
                <a:spcPts val="0"/>
              </a:spcAft>
              <a:buNone/>
            </a:pPr>
            <a:r>
              <a:rPr lang="en-US" sz="1800">
                <a:solidFill>
                  <a:schemeClr val="dk1"/>
                </a:solidFill>
                <a:latin typeface="Poppins"/>
                <a:ea typeface="Poppins"/>
                <a:cs typeface="Poppins"/>
                <a:sym typeface="Poppins"/>
              </a:rPr>
              <a:t>When you call the find method of EntityManager (interface from the JPA package):</a:t>
            </a:r>
            <a:endParaRPr b="1" sz="1800">
              <a:solidFill>
                <a:schemeClr val="dk1"/>
              </a:solidFill>
              <a:latin typeface="Poppins"/>
              <a:ea typeface="Poppins"/>
              <a:cs typeface="Poppins"/>
              <a:sym typeface="Poppins"/>
            </a:endParaRPr>
          </a:p>
          <a:p>
            <a:pPr indent="0" lvl="0" marL="914400" rtl="0" algn="l">
              <a:lnSpc>
                <a:spcPct val="100000"/>
              </a:lnSpc>
              <a:spcBef>
                <a:spcPts val="1200"/>
              </a:spcBef>
              <a:spcAft>
                <a:spcPts val="0"/>
              </a:spcAft>
              <a:buClr>
                <a:schemeClr val="dk1"/>
              </a:buClr>
              <a:buSzPts val="1100"/>
              <a:buFont typeface="Arial"/>
              <a:buNone/>
            </a:pPr>
            <a:r>
              <a:t/>
            </a:r>
            <a:endParaRPr sz="1800">
              <a:solidFill>
                <a:schemeClr val="dk1"/>
              </a:solidFill>
              <a:latin typeface="Poppins"/>
              <a:ea typeface="Poppins"/>
              <a:cs typeface="Poppins"/>
              <a:sym typeface="Poppins"/>
            </a:endParaRPr>
          </a:p>
          <a:p>
            <a:pPr indent="0" lvl="0" marL="914400" rtl="0" algn="l">
              <a:lnSpc>
                <a:spcPct val="100000"/>
              </a:lnSpc>
              <a:spcBef>
                <a:spcPts val="1200"/>
              </a:spcBef>
              <a:spcAft>
                <a:spcPts val="0"/>
              </a:spcAft>
              <a:buClr>
                <a:schemeClr val="dk1"/>
              </a:buClr>
              <a:buSzPts val="1100"/>
              <a:buFont typeface="Arial"/>
              <a:buNone/>
            </a:pPr>
            <a:r>
              <a:t/>
            </a:r>
            <a:endParaRPr sz="1800">
              <a:solidFill>
                <a:schemeClr val="dk1"/>
              </a:solidFill>
              <a:latin typeface="Poppins"/>
              <a:ea typeface="Poppins"/>
              <a:cs typeface="Poppins"/>
              <a:sym typeface="Poppins"/>
            </a:endParaRPr>
          </a:p>
          <a:p>
            <a:pPr indent="0" lvl="0" marL="0" rtl="0" algn="l">
              <a:lnSpc>
                <a:spcPct val="100000"/>
              </a:lnSpc>
              <a:spcBef>
                <a:spcPts val="1200"/>
              </a:spcBef>
              <a:spcAft>
                <a:spcPts val="0"/>
              </a:spcAft>
              <a:buClr>
                <a:schemeClr val="dk1"/>
              </a:buClr>
              <a:buSzPts val="1100"/>
              <a:buFont typeface="Arial"/>
              <a:buNone/>
            </a:pPr>
            <a:r>
              <a:rPr lang="en-US" sz="1800">
                <a:solidFill>
                  <a:schemeClr val="dk1"/>
                </a:solidFill>
                <a:latin typeface="Poppins"/>
                <a:ea typeface="Poppins"/>
                <a:cs typeface="Poppins"/>
                <a:sym typeface="Poppins"/>
              </a:rPr>
              <a:t>Hibernate is the one who actually:</a:t>
            </a:r>
            <a:endParaRPr sz="1800">
              <a:solidFill>
                <a:schemeClr val="dk1"/>
              </a:solidFill>
              <a:latin typeface="Poppins"/>
              <a:ea typeface="Poppins"/>
              <a:cs typeface="Poppins"/>
              <a:sym typeface="Poppins"/>
            </a:endParaRPr>
          </a:p>
          <a:p>
            <a:pPr indent="-298450" lvl="0" marL="457200" rtl="0" algn="l">
              <a:lnSpc>
                <a:spcPct val="100000"/>
              </a:lnSpc>
              <a:spcBef>
                <a:spcPts val="1200"/>
              </a:spcBef>
              <a:spcAft>
                <a:spcPts val="0"/>
              </a:spcAft>
              <a:buClr>
                <a:schemeClr val="dk1"/>
              </a:buClr>
              <a:buSzPts val="1100"/>
              <a:buChar char="●"/>
            </a:pPr>
            <a:r>
              <a:rPr lang="en-US" sz="1800">
                <a:solidFill>
                  <a:schemeClr val="dk1"/>
                </a:solidFill>
                <a:latin typeface="Poppins"/>
                <a:ea typeface="Poppins"/>
                <a:cs typeface="Poppins"/>
                <a:sym typeface="Poppins"/>
              </a:rPr>
              <a:t>opens the database connection</a:t>
            </a:r>
            <a:endParaRPr sz="1800">
              <a:solidFill>
                <a:schemeClr val="dk1"/>
              </a:solidFill>
              <a:latin typeface="Poppins"/>
              <a:ea typeface="Poppins"/>
              <a:cs typeface="Poppins"/>
              <a:sym typeface="Poppins"/>
            </a:endParaRPr>
          </a:p>
          <a:p>
            <a:pPr indent="-298450" lvl="0" marL="457200" rtl="0" algn="l">
              <a:lnSpc>
                <a:spcPct val="100000"/>
              </a:lnSpc>
              <a:spcBef>
                <a:spcPts val="0"/>
              </a:spcBef>
              <a:spcAft>
                <a:spcPts val="0"/>
              </a:spcAft>
              <a:buClr>
                <a:schemeClr val="dk1"/>
              </a:buClr>
              <a:buSzPts val="1100"/>
              <a:buChar char="●"/>
            </a:pPr>
            <a:r>
              <a:rPr lang="en-US" sz="1800">
                <a:solidFill>
                  <a:schemeClr val="dk1"/>
                </a:solidFill>
                <a:latin typeface="Poppins"/>
                <a:ea typeface="Poppins"/>
                <a:cs typeface="Poppins"/>
                <a:sym typeface="Poppins"/>
              </a:rPr>
              <a:t>generates the SELECT statement</a:t>
            </a:r>
            <a:endParaRPr sz="1800">
              <a:solidFill>
                <a:schemeClr val="dk1"/>
              </a:solidFill>
              <a:latin typeface="Poppins"/>
              <a:ea typeface="Poppins"/>
              <a:cs typeface="Poppins"/>
              <a:sym typeface="Poppins"/>
            </a:endParaRPr>
          </a:p>
          <a:p>
            <a:pPr indent="-298450" lvl="0" marL="457200" rtl="0" algn="l">
              <a:lnSpc>
                <a:spcPct val="100000"/>
              </a:lnSpc>
              <a:spcBef>
                <a:spcPts val="0"/>
              </a:spcBef>
              <a:spcAft>
                <a:spcPts val="0"/>
              </a:spcAft>
              <a:buClr>
                <a:schemeClr val="dk1"/>
              </a:buClr>
              <a:buSzPts val="1100"/>
              <a:buChar char="●"/>
            </a:pPr>
            <a:r>
              <a:rPr lang="en-US" sz="1800">
                <a:solidFill>
                  <a:schemeClr val="dk1"/>
                </a:solidFill>
                <a:latin typeface="Poppins"/>
                <a:ea typeface="Poppins"/>
                <a:cs typeface="Poppins"/>
                <a:sym typeface="Poppins"/>
              </a:rPr>
              <a:t>maps the results to the Student object</a:t>
            </a:r>
            <a:endParaRPr sz="1800">
              <a:solidFill>
                <a:schemeClr val="dk1"/>
              </a:solidFill>
              <a:latin typeface="Poppins"/>
              <a:ea typeface="Poppins"/>
              <a:cs typeface="Poppins"/>
              <a:sym typeface="Poppins"/>
            </a:endParaRPr>
          </a:p>
          <a:p>
            <a:pPr indent="-298450" lvl="0" marL="457200" rtl="0" algn="l">
              <a:lnSpc>
                <a:spcPct val="100000"/>
              </a:lnSpc>
              <a:spcBef>
                <a:spcPts val="0"/>
              </a:spcBef>
              <a:spcAft>
                <a:spcPts val="0"/>
              </a:spcAft>
              <a:buClr>
                <a:schemeClr val="dk1"/>
              </a:buClr>
              <a:buSzPts val="1100"/>
              <a:buChar char="●"/>
            </a:pPr>
            <a:r>
              <a:rPr lang="en-US" sz="1800">
                <a:solidFill>
                  <a:schemeClr val="dk1"/>
                </a:solidFill>
                <a:latin typeface="Poppins"/>
                <a:ea typeface="Poppins"/>
                <a:cs typeface="Poppins"/>
                <a:sym typeface="Poppins"/>
              </a:rPr>
              <a:t>closes the connection</a:t>
            </a:r>
            <a:endParaRPr sz="1800">
              <a:solidFill>
                <a:schemeClr val="dk1"/>
              </a:solidFill>
              <a:latin typeface="Poppins"/>
              <a:ea typeface="Poppins"/>
              <a:cs typeface="Poppins"/>
              <a:sym typeface="Poppins"/>
            </a:endParaRPr>
          </a:p>
          <a:p>
            <a:pPr indent="0" lvl="0" marL="0" rtl="0" algn="l">
              <a:lnSpc>
                <a:spcPct val="100000"/>
              </a:lnSpc>
              <a:spcBef>
                <a:spcPts val="1200"/>
              </a:spcBef>
              <a:spcAft>
                <a:spcPts val="0"/>
              </a:spcAft>
              <a:buClr>
                <a:schemeClr val="dk1"/>
              </a:buClr>
              <a:buSzPts val="1100"/>
              <a:buFont typeface="Arial"/>
              <a:buNone/>
            </a:pPr>
            <a:r>
              <a:t/>
            </a:r>
            <a:endParaRPr sz="1800">
              <a:solidFill>
                <a:schemeClr val="dk1"/>
              </a:solidFill>
              <a:latin typeface="Poppins"/>
              <a:ea typeface="Poppins"/>
              <a:cs typeface="Poppins"/>
              <a:sym typeface="Poppins"/>
            </a:endParaRPr>
          </a:p>
          <a:p>
            <a:pPr indent="0" lvl="0" marL="0" marR="0" rtl="0" algn="l">
              <a:lnSpc>
                <a:spcPct val="115000"/>
              </a:lnSpc>
              <a:spcBef>
                <a:spcPts val="1200"/>
              </a:spcBef>
              <a:spcAft>
                <a:spcPts val="0"/>
              </a:spcAft>
              <a:buNone/>
            </a:pPr>
            <a:r>
              <a:t/>
            </a:r>
            <a:endParaRPr b="1" sz="1700">
              <a:solidFill>
                <a:schemeClr val="dk1"/>
              </a:solidFill>
              <a:latin typeface="Poppins"/>
              <a:ea typeface="Poppins"/>
              <a:cs typeface="Poppins"/>
              <a:sym typeface="Poppins"/>
            </a:endParaRPr>
          </a:p>
        </p:txBody>
      </p:sp>
      <p:sp>
        <p:nvSpPr>
          <p:cNvPr id="176" name="Google Shape;176;p24"/>
          <p:cNvSpPr/>
          <p:nvPr/>
        </p:nvSpPr>
        <p:spPr>
          <a:xfrm>
            <a:off x="495550" y="11180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24"/>
          <p:cNvSpPr txBox="1"/>
          <p:nvPr/>
        </p:nvSpPr>
        <p:spPr>
          <a:xfrm>
            <a:off x="631425" y="2972325"/>
            <a:ext cx="5598000" cy="4155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rgbClr val="1290C3"/>
                </a:solidFill>
                <a:highlight>
                  <a:srgbClr val="1E1F22"/>
                </a:highlight>
                <a:latin typeface="Courier New"/>
                <a:ea typeface="Courier New"/>
                <a:cs typeface="Courier New"/>
                <a:sym typeface="Courier New"/>
              </a:rPr>
              <a:t>Student</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student</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79ABFF"/>
                </a:solidFill>
                <a:highlight>
                  <a:srgbClr val="1E1F22"/>
                </a:highlight>
                <a:latin typeface="Courier New"/>
                <a:ea typeface="Courier New"/>
                <a:cs typeface="Courier New"/>
                <a:sym typeface="Courier New"/>
              </a:rPr>
              <a:t>em</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find</a:t>
            </a:r>
            <a:r>
              <a:rPr lang="en-US" sz="1500">
                <a:solidFill>
                  <a:srgbClr val="F9FAF4"/>
                </a:solidFill>
                <a:highlight>
                  <a:srgbClr val="1E1F22"/>
                </a:highlight>
                <a:latin typeface="Courier New"/>
                <a:ea typeface="Courier New"/>
                <a:cs typeface="Courier New"/>
                <a:sym typeface="Courier New"/>
              </a:rPr>
              <a:t>(</a:t>
            </a:r>
            <a:r>
              <a:rPr lang="en-US" sz="1500">
                <a:solidFill>
                  <a:srgbClr val="1290C3"/>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a:t>
            </a:r>
            <a:r>
              <a:rPr lang="en-US" sz="1500">
                <a:solidFill>
                  <a:srgbClr val="CC6C1D"/>
                </a:solidFill>
                <a:highlight>
                  <a:srgbClr val="1E1F22"/>
                </a:highlight>
                <a:latin typeface="Courier New"/>
                <a:ea typeface="Courier New"/>
                <a:cs typeface="Courier New"/>
                <a:sym typeface="Courier New"/>
              </a:rPr>
              <a:t>class</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6897BB"/>
                </a:solidFill>
                <a:highlight>
                  <a:srgbClr val="1E1F22"/>
                </a:highlight>
                <a:latin typeface="Courier New"/>
                <a:ea typeface="Courier New"/>
                <a:cs typeface="Courier New"/>
                <a:sym typeface="Courier New"/>
              </a:rPr>
              <a:t>1L</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7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pic>
        <p:nvPicPr>
          <p:cNvPr descr="image.png" id="182" name="Google Shape;182;p2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83" name="Google Shape;183;p25"/>
          <p:cNvSpPr txBox="1"/>
          <p:nvPr/>
        </p:nvSpPr>
        <p:spPr>
          <a:xfrm>
            <a:off x="495550" y="448675"/>
            <a:ext cx="110490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800">
                <a:solidFill>
                  <a:srgbClr val="7F1D1D"/>
                </a:solidFill>
                <a:latin typeface="Poppins"/>
                <a:ea typeface="Poppins"/>
                <a:cs typeface="Poppins"/>
                <a:sym typeface="Poppins"/>
              </a:rPr>
              <a:t>Reasons to Use JPA</a:t>
            </a:r>
            <a:endParaRPr sz="2800">
              <a:solidFill>
                <a:schemeClr val="dk1"/>
              </a:solidFill>
              <a:latin typeface="Poppins"/>
              <a:ea typeface="Poppins"/>
              <a:cs typeface="Poppins"/>
              <a:sym typeface="Poppins"/>
            </a:endParaRPr>
          </a:p>
        </p:txBody>
      </p:sp>
      <p:sp>
        <p:nvSpPr>
          <p:cNvPr id="184" name="Google Shape;184;p25"/>
          <p:cNvSpPr/>
          <p:nvPr/>
        </p:nvSpPr>
        <p:spPr>
          <a:xfrm>
            <a:off x="495550" y="11180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25"/>
          <p:cNvSpPr txBox="1"/>
          <p:nvPr/>
        </p:nvSpPr>
        <p:spPr>
          <a:xfrm>
            <a:off x="495550" y="1285875"/>
            <a:ext cx="11049000" cy="5340300"/>
          </a:xfrm>
          <a:prstGeom prst="rect">
            <a:avLst/>
          </a:prstGeom>
          <a:noFill/>
          <a:ln>
            <a:noFill/>
          </a:ln>
        </p:spPr>
        <p:txBody>
          <a:bodyPr anchorCtr="0" anchor="t" bIns="91425" lIns="91425" spcFirstLastPara="1" rIns="91425" wrap="square" tIns="91425">
            <a:spAutoFit/>
          </a:bodyPr>
          <a:lstStyle/>
          <a:p>
            <a:pPr indent="-361950" lvl="0" marL="457200" rtl="0" algn="l">
              <a:lnSpc>
                <a:spcPct val="115000"/>
              </a:lnSpc>
              <a:spcBef>
                <a:spcPts val="0"/>
              </a:spcBef>
              <a:spcAft>
                <a:spcPts val="0"/>
              </a:spcAft>
              <a:buClr>
                <a:schemeClr val="dk1"/>
              </a:buClr>
              <a:buSzPts val="2100"/>
              <a:buFont typeface="Poppins"/>
              <a:buAutoNum type="arabicPeriod"/>
            </a:pPr>
            <a:r>
              <a:rPr b="1" lang="en-US" sz="2100">
                <a:solidFill>
                  <a:schemeClr val="dk1"/>
                </a:solidFill>
                <a:latin typeface="Poppins"/>
                <a:ea typeface="Poppins"/>
                <a:cs typeface="Poppins"/>
                <a:sym typeface="Poppins"/>
              </a:rPr>
              <a:t>Developer Productivity </a:t>
            </a:r>
            <a:endParaRPr b="1"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Automatic SQL generation</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automatic mapping/binding</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APIs for CRUD operations</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reduces boilerplate code.</a:t>
            </a:r>
            <a:endParaRPr sz="21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rPr b="1" lang="en-US" sz="2100">
                <a:solidFill>
                  <a:schemeClr val="dk1"/>
                </a:solidFill>
                <a:latin typeface="Poppins"/>
                <a:ea typeface="Poppins"/>
                <a:cs typeface="Poppins"/>
                <a:sym typeface="Poppins"/>
              </a:rPr>
              <a:t>2. 	ORM and Database Independent</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JPA allows you to switch between any JPA-compliant ORM providers, such as Hibernate, EclipseLink, or DataNucleus, without changing application code.</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It also allows you to change databases simply by updating the SQL driver.</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Implementations are abstracted by JPA APIs (EntityManager, Criteria API) and JPQL.</a:t>
            </a:r>
            <a:endParaRPr sz="21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rPr b="1" lang="en-US" sz="2100">
                <a:solidFill>
                  <a:schemeClr val="dk1"/>
                </a:solidFill>
                <a:latin typeface="Poppins"/>
                <a:ea typeface="Poppins"/>
                <a:cs typeface="Poppins"/>
                <a:sym typeface="Poppins"/>
              </a:rPr>
              <a:t>3. Performance</a:t>
            </a:r>
            <a:endParaRPr b="1"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Caching(Reduced database access), Fetching and Cascading Strategies</a:t>
            </a:r>
            <a:endParaRPr sz="2100">
              <a:solidFill>
                <a:schemeClr val="dk1"/>
              </a:solidFill>
              <a:latin typeface="Poppins"/>
              <a:ea typeface="Poppins"/>
              <a:cs typeface="Poppins"/>
              <a:sym typeface="Poppi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 name="Shape 189"/>
        <p:cNvGrpSpPr/>
        <p:nvPr/>
      </p:nvGrpSpPr>
      <p:grpSpPr>
        <a:xfrm>
          <a:off x="0" y="0"/>
          <a:ext cx="0" cy="0"/>
          <a:chOff x="0" y="0"/>
          <a:chExt cx="0" cy="0"/>
        </a:xfrm>
      </p:grpSpPr>
      <p:pic>
        <p:nvPicPr>
          <p:cNvPr descr="image.png" id="190" name="Google Shape;190;p2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91" name="Google Shape;191;p26"/>
          <p:cNvSpPr txBox="1"/>
          <p:nvPr/>
        </p:nvSpPr>
        <p:spPr>
          <a:xfrm>
            <a:off x="495550" y="348100"/>
            <a:ext cx="11049000" cy="114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3500">
                <a:solidFill>
                  <a:srgbClr val="7F1D1D"/>
                </a:solidFill>
                <a:latin typeface="Poppins"/>
                <a:ea typeface="Poppins"/>
                <a:cs typeface="Poppins"/>
                <a:sym typeface="Poppins"/>
              </a:rPr>
              <a:t>Summary</a:t>
            </a:r>
            <a:endParaRPr b="1" sz="3500">
              <a:solidFill>
                <a:srgbClr val="7F1D1D"/>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p:txBody>
      </p:sp>
      <p:sp>
        <p:nvSpPr>
          <p:cNvPr id="192" name="Google Shape;192;p26"/>
          <p:cNvSpPr/>
          <p:nvPr/>
        </p:nvSpPr>
        <p:spPr>
          <a:xfrm>
            <a:off x="495550" y="11180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 name="Google Shape;193;p26"/>
          <p:cNvSpPr txBox="1"/>
          <p:nvPr/>
        </p:nvSpPr>
        <p:spPr>
          <a:xfrm>
            <a:off x="571500" y="4059950"/>
            <a:ext cx="3000000" cy="9126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US" sz="2200">
                <a:solidFill>
                  <a:schemeClr val="dk1"/>
                </a:solidFill>
                <a:latin typeface="Poppins"/>
                <a:ea typeface="Poppins"/>
                <a:cs typeface="Poppins"/>
                <a:sym typeface="Poppins"/>
              </a:rPr>
              <a:t>ORM</a:t>
            </a:r>
            <a:endParaRPr sz="2200">
              <a:solidFill>
                <a:schemeClr val="dk1"/>
              </a:solidFill>
              <a:latin typeface="Poppins"/>
              <a:ea typeface="Poppins"/>
              <a:cs typeface="Poppins"/>
              <a:sym typeface="Poppins"/>
            </a:endParaRPr>
          </a:p>
          <a:p>
            <a:pPr indent="0" lvl="0" marL="0" rtl="0" algn="ctr">
              <a:lnSpc>
                <a:spcPct val="115000"/>
              </a:lnSpc>
              <a:spcBef>
                <a:spcPts val="0"/>
              </a:spcBef>
              <a:spcAft>
                <a:spcPts val="0"/>
              </a:spcAft>
              <a:buNone/>
            </a:pPr>
            <a:r>
              <a:rPr lang="en-US" sz="2200">
                <a:solidFill>
                  <a:schemeClr val="dk1"/>
                </a:solidFill>
                <a:latin typeface="Poppins"/>
                <a:ea typeface="Poppins"/>
                <a:cs typeface="Poppins"/>
                <a:sym typeface="Poppins"/>
              </a:rPr>
              <a:t>idea</a:t>
            </a:r>
            <a:r>
              <a:rPr lang="en-US" sz="2200">
                <a:solidFill>
                  <a:schemeClr val="dk1"/>
                </a:solidFill>
                <a:latin typeface="Poppins"/>
                <a:ea typeface="Poppins"/>
                <a:cs typeface="Poppins"/>
                <a:sym typeface="Poppins"/>
              </a:rPr>
              <a:t> or technique </a:t>
            </a:r>
            <a:endParaRPr sz="2200">
              <a:solidFill>
                <a:schemeClr val="dk1"/>
              </a:solidFill>
              <a:latin typeface="Poppins"/>
              <a:ea typeface="Poppins"/>
              <a:cs typeface="Poppins"/>
              <a:sym typeface="Poppins"/>
            </a:endParaRPr>
          </a:p>
        </p:txBody>
      </p:sp>
      <p:sp>
        <p:nvSpPr>
          <p:cNvPr id="194" name="Google Shape;194;p26"/>
          <p:cNvSpPr txBox="1"/>
          <p:nvPr/>
        </p:nvSpPr>
        <p:spPr>
          <a:xfrm>
            <a:off x="4164400" y="4059950"/>
            <a:ext cx="3000000" cy="9126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US" sz="2200">
                <a:solidFill>
                  <a:schemeClr val="dk1"/>
                </a:solidFill>
                <a:latin typeface="Poppins"/>
                <a:ea typeface="Poppins"/>
                <a:cs typeface="Poppins"/>
                <a:sym typeface="Poppins"/>
              </a:rPr>
              <a:t>JPA</a:t>
            </a:r>
            <a:endParaRPr sz="2200">
              <a:solidFill>
                <a:schemeClr val="dk1"/>
              </a:solidFill>
              <a:latin typeface="Poppins"/>
              <a:ea typeface="Poppins"/>
              <a:cs typeface="Poppins"/>
              <a:sym typeface="Poppins"/>
            </a:endParaRPr>
          </a:p>
          <a:p>
            <a:pPr indent="0" lvl="0" marL="0" rtl="0" algn="ctr">
              <a:lnSpc>
                <a:spcPct val="115000"/>
              </a:lnSpc>
              <a:spcBef>
                <a:spcPts val="0"/>
              </a:spcBef>
              <a:spcAft>
                <a:spcPts val="0"/>
              </a:spcAft>
              <a:buNone/>
            </a:pPr>
            <a:r>
              <a:rPr lang="en-US" sz="2200">
                <a:solidFill>
                  <a:schemeClr val="dk1"/>
                </a:solidFill>
                <a:latin typeface="Poppins"/>
                <a:ea typeface="Poppins"/>
                <a:cs typeface="Poppins"/>
                <a:sym typeface="Poppins"/>
              </a:rPr>
              <a:t>standards</a:t>
            </a:r>
            <a:endParaRPr sz="2200">
              <a:solidFill>
                <a:schemeClr val="dk1"/>
              </a:solidFill>
              <a:latin typeface="Poppins"/>
              <a:ea typeface="Poppins"/>
              <a:cs typeface="Poppins"/>
              <a:sym typeface="Poppins"/>
            </a:endParaRPr>
          </a:p>
        </p:txBody>
      </p:sp>
      <p:sp>
        <p:nvSpPr>
          <p:cNvPr id="195" name="Google Shape;195;p26"/>
          <p:cNvSpPr txBox="1"/>
          <p:nvPr/>
        </p:nvSpPr>
        <p:spPr>
          <a:xfrm>
            <a:off x="8276163" y="3992300"/>
            <a:ext cx="3000000" cy="20811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US" sz="2200">
                <a:solidFill>
                  <a:schemeClr val="dk1"/>
                </a:solidFill>
                <a:latin typeface="Poppins"/>
                <a:ea typeface="Poppins"/>
                <a:cs typeface="Poppins"/>
                <a:sym typeface="Poppins"/>
              </a:rPr>
              <a:t>Hibernate</a:t>
            </a:r>
            <a:endParaRPr sz="2200">
              <a:solidFill>
                <a:schemeClr val="dk1"/>
              </a:solidFill>
              <a:latin typeface="Poppins"/>
              <a:ea typeface="Poppins"/>
              <a:cs typeface="Poppins"/>
              <a:sym typeface="Poppins"/>
            </a:endParaRPr>
          </a:p>
          <a:p>
            <a:pPr indent="0" lvl="0" marL="0" rtl="0" algn="ctr">
              <a:lnSpc>
                <a:spcPct val="115000"/>
              </a:lnSpc>
              <a:spcBef>
                <a:spcPts val="0"/>
              </a:spcBef>
              <a:spcAft>
                <a:spcPts val="0"/>
              </a:spcAft>
              <a:buNone/>
            </a:pPr>
            <a:r>
              <a:rPr lang="en-US" sz="2200">
                <a:solidFill>
                  <a:schemeClr val="dk1"/>
                </a:solidFill>
                <a:latin typeface="Poppins"/>
                <a:ea typeface="Poppins"/>
                <a:cs typeface="Poppins"/>
                <a:sym typeface="Poppins"/>
              </a:rPr>
              <a:t>the tool that follows those standards and does the implementation</a:t>
            </a:r>
            <a:endParaRPr sz="2200">
              <a:solidFill>
                <a:schemeClr val="dk1"/>
              </a:solidFill>
              <a:latin typeface="Poppins"/>
              <a:ea typeface="Poppins"/>
              <a:cs typeface="Poppins"/>
              <a:sym typeface="Poppins"/>
            </a:endParaRPr>
          </a:p>
        </p:txBody>
      </p:sp>
      <p:pic>
        <p:nvPicPr>
          <p:cNvPr id="196" name="Google Shape;196;p26" title="brain.png"/>
          <p:cNvPicPr preferRelativeResize="0"/>
          <p:nvPr/>
        </p:nvPicPr>
        <p:blipFill>
          <a:blip r:embed="rId4">
            <a:alphaModFix/>
          </a:blip>
          <a:stretch>
            <a:fillRect/>
          </a:stretch>
        </p:blipFill>
        <p:spPr>
          <a:xfrm>
            <a:off x="999938" y="1916825"/>
            <a:ext cx="2143125" cy="2143125"/>
          </a:xfrm>
          <a:prstGeom prst="rect">
            <a:avLst/>
          </a:prstGeom>
          <a:noFill/>
          <a:ln>
            <a:noFill/>
          </a:ln>
        </p:spPr>
      </p:pic>
      <p:pic>
        <p:nvPicPr>
          <p:cNvPr id="197" name="Google Shape;197;p26" title="Contract.png"/>
          <p:cNvPicPr preferRelativeResize="0"/>
          <p:nvPr/>
        </p:nvPicPr>
        <p:blipFill>
          <a:blip r:embed="rId5">
            <a:alphaModFix/>
          </a:blip>
          <a:stretch>
            <a:fillRect/>
          </a:stretch>
        </p:blipFill>
        <p:spPr>
          <a:xfrm>
            <a:off x="4021901" y="2148675"/>
            <a:ext cx="3285002" cy="1679401"/>
          </a:xfrm>
          <a:prstGeom prst="rect">
            <a:avLst/>
          </a:prstGeom>
          <a:noFill/>
          <a:ln>
            <a:noFill/>
          </a:ln>
        </p:spPr>
      </p:pic>
      <p:pic>
        <p:nvPicPr>
          <p:cNvPr id="198" name="Google Shape;198;p26" title="engine.jpeg"/>
          <p:cNvPicPr preferRelativeResize="0"/>
          <p:nvPr/>
        </p:nvPicPr>
        <p:blipFill>
          <a:blip r:embed="rId6">
            <a:alphaModFix/>
          </a:blip>
          <a:stretch>
            <a:fillRect/>
          </a:stretch>
        </p:blipFill>
        <p:spPr>
          <a:xfrm>
            <a:off x="8185713" y="2148676"/>
            <a:ext cx="3358825" cy="167941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pic>
        <p:nvPicPr>
          <p:cNvPr descr="image.png" id="203" name="Google Shape;203;p2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04" name="Google Shape;204;p27"/>
          <p:cNvSpPr txBox="1"/>
          <p:nvPr/>
        </p:nvSpPr>
        <p:spPr>
          <a:xfrm>
            <a:off x="784350" y="2556300"/>
            <a:ext cx="10623300" cy="17454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400">
                <a:solidFill>
                  <a:srgbClr val="B91C1C"/>
                </a:solidFill>
                <a:latin typeface="Poppins"/>
                <a:ea typeface="Poppins"/>
                <a:cs typeface="Poppins"/>
                <a:sym typeface="Poppins"/>
              </a:rPr>
              <a:t>Hibernate Setup and Database Connection</a:t>
            </a:r>
            <a:endParaRPr b="1" sz="5400">
              <a:solidFill>
                <a:srgbClr val="B91C1C"/>
              </a:solidFill>
              <a:latin typeface="Poppins"/>
              <a:ea typeface="Poppins"/>
              <a:cs typeface="Poppins"/>
              <a:sym typeface="Poppi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pic>
        <p:nvPicPr>
          <p:cNvPr descr="image.png" id="209" name="Google Shape;209;p2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10" name="Google Shape;210;p28"/>
          <p:cNvSpPr/>
          <p:nvPr/>
        </p:nvSpPr>
        <p:spPr>
          <a:xfrm>
            <a:off x="496350" y="9024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28"/>
          <p:cNvSpPr txBox="1"/>
          <p:nvPr/>
        </p:nvSpPr>
        <p:spPr>
          <a:xfrm>
            <a:off x="534000" y="1506925"/>
            <a:ext cx="10973700" cy="3013200"/>
          </a:xfrm>
          <a:prstGeom prst="rect">
            <a:avLst/>
          </a:prstGeom>
          <a:noFill/>
          <a:ln>
            <a:noFill/>
          </a:ln>
        </p:spPr>
        <p:txBody>
          <a:bodyPr anchorCtr="0" anchor="t" bIns="0" lIns="0" spcFirstLastPara="1" rIns="0" wrap="square" tIns="0">
            <a:spAutoFit/>
          </a:bodyPr>
          <a:lstStyle/>
          <a:p>
            <a:pPr indent="-412750" lvl="0" marL="457200" rtl="0" algn="l">
              <a:lnSpc>
                <a:spcPct val="115000"/>
              </a:lnSpc>
              <a:spcBef>
                <a:spcPts val="0"/>
              </a:spcBef>
              <a:spcAft>
                <a:spcPts val="0"/>
              </a:spcAft>
              <a:buClr>
                <a:schemeClr val="dk1"/>
              </a:buClr>
              <a:buSzPts val="2900"/>
              <a:buFont typeface="Poppins"/>
              <a:buAutoNum type="arabicPeriod"/>
            </a:pPr>
            <a:r>
              <a:rPr b="1" lang="en-US" sz="2900">
                <a:solidFill>
                  <a:schemeClr val="dk1"/>
                </a:solidFill>
                <a:latin typeface="Poppins"/>
                <a:ea typeface="Poppins"/>
                <a:cs typeface="Poppins"/>
                <a:sym typeface="Poppins"/>
              </a:rPr>
              <a:t>Maven</a:t>
            </a:r>
            <a:r>
              <a:rPr lang="en-US" sz="2900">
                <a:solidFill>
                  <a:schemeClr val="dk1"/>
                </a:solidFill>
                <a:latin typeface="Poppins"/>
                <a:ea typeface="Poppins"/>
                <a:cs typeface="Poppins"/>
                <a:sym typeface="Poppins"/>
              </a:rPr>
              <a:t> is already installed. You can verify by opening a terminal and running “mvn -version”.</a:t>
            </a:r>
            <a:endParaRPr sz="2900">
              <a:solidFill>
                <a:schemeClr val="dk1"/>
              </a:solidFill>
              <a:latin typeface="Poppins"/>
              <a:ea typeface="Poppins"/>
              <a:cs typeface="Poppins"/>
              <a:sym typeface="Poppins"/>
            </a:endParaRPr>
          </a:p>
          <a:p>
            <a:pPr indent="0" lvl="0" marL="457200" rtl="0" algn="l">
              <a:lnSpc>
                <a:spcPct val="115000"/>
              </a:lnSpc>
              <a:spcBef>
                <a:spcPts val="0"/>
              </a:spcBef>
              <a:spcAft>
                <a:spcPts val="0"/>
              </a:spcAft>
              <a:buNone/>
            </a:pPr>
            <a:r>
              <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AutoNum type="arabicPeriod"/>
            </a:pPr>
            <a:r>
              <a:rPr b="1" lang="en-US" sz="2900">
                <a:solidFill>
                  <a:schemeClr val="dk1"/>
                </a:solidFill>
                <a:latin typeface="Poppins"/>
                <a:ea typeface="Poppins"/>
                <a:cs typeface="Poppins"/>
                <a:sym typeface="Poppins"/>
              </a:rPr>
              <a:t>Database Server</a:t>
            </a:r>
            <a:r>
              <a:rPr lang="en-US" sz="2900">
                <a:solidFill>
                  <a:schemeClr val="dk1"/>
                </a:solidFill>
                <a:latin typeface="Poppins"/>
                <a:ea typeface="Poppins"/>
                <a:cs typeface="Poppins"/>
                <a:sym typeface="Poppins"/>
              </a:rPr>
              <a:t> is running.</a:t>
            </a:r>
            <a:endParaRPr sz="2900">
              <a:solidFill>
                <a:schemeClr val="dk1"/>
              </a:solidFill>
              <a:latin typeface="Poppins"/>
              <a:ea typeface="Poppins"/>
              <a:cs typeface="Poppins"/>
              <a:sym typeface="Poppins"/>
            </a:endParaRPr>
          </a:p>
          <a:p>
            <a:pPr indent="-412750" lvl="1" marL="9144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note the </a:t>
            </a:r>
            <a:r>
              <a:rPr b="1" lang="en-US" sz="2900">
                <a:solidFill>
                  <a:schemeClr val="dk1"/>
                </a:solidFill>
                <a:latin typeface="Poppins"/>
                <a:ea typeface="Poppins"/>
                <a:cs typeface="Poppins"/>
                <a:sym typeface="Poppins"/>
              </a:rPr>
              <a:t>url, username, and password</a:t>
            </a:r>
            <a:r>
              <a:rPr lang="en-US" sz="2900">
                <a:solidFill>
                  <a:schemeClr val="dk1"/>
                </a:solidFill>
                <a:latin typeface="Poppins"/>
                <a:ea typeface="Poppins"/>
                <a:cs typeface="Poppins"/>
                <a:sym typeface="Poppins"/>
              </a:rPr>
              <a:t> of your database</a:t>
            </a:r>
            <a:endParaRPr sz="2900">
              <a:solidFill>
                <a:schemeClr val="dk1"/>
              </a:solidFill>
              <a:latin typeface="Poppins"/>
              <a:ea typeface="Poppins"/>
              <a:cs typeface="Poppins"/>
              <a:sym typeface="Poppins"/>
            </a:endParaRPr>
          </a:p>
        </p:txBody>
      </p:sp>
      <p:sp>
        <p:nvSpPr>
          <p:cNvPr id="212" name="Google Shape;212;p28"/>
          <p:cNvSpPr txBox="1"/>
          <p:nvPr/>
        </p:nvSpPr>
        <p:spPr>
          <a:xfrm>
            <a:off x="496350" y="98125"/>
            <a:ext cx="108987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Prerequisite</a:t>
            </a:r>
            <a:endParaRPr b="1" sz="3500">
              <a:solidFill>
                <a:srgbClr val="7F1D1D"/>
              </a:solidFill>
              <a:latin typeface="Poppins"/>
              <a:ea typeface="Poppins"/>
              <a:cs typeface="Poppins"/>
              <a:sym typeface="Poppi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pic>
        <p:nvPicPr>
          <p:cNvPr descr="image.png" id="217" name="Google Shape;217;p2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18" name="Google Shape;218;p29"/>
          <p:cNvSpPr/>
          <p:nvPr/>
        </p:nvSpPr>
        <p:spPr>
          <a:xfrm>
            <a:off x="496350" y="9024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 name="Google Shape;219;p29"/>
          <p:cNvSpPr txBox="1"/>
          <p:nvPr/>
        </p:nvSpPr>
        <p:spPr>
          <a:xfrm>
            <a:off x="496350" y="98125"/>
            <a:ext cx="108987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20" name="Google Shape;220;p29"/>
          <p:cNvPicPr preferRelativeResize="0"/>
          <p:nvPr/>
        </p:nvPicPr>
        <p:blipFill>
          <a:blip r:embed="rId4">
            <a:alphaModFix/>
          </a:blip>
          <a:stretch>
            <a:fillRect/>
          </a:stretch>
        </p:blipFill>
        <p:spPr>
          <a:xfrm>
            <a:off x="3607150" y="1527322"/>
            <a:ext cx="4977700" cy="4760376"/>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pic>
        <p:nvPicPr>
          <p:cNvPr descr="image.png" id="225" name="Google Shape;225;p3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26" name="Google Shape;226;p30"/>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p30"/>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28" name="Google Shape;228;p30"/>
          <p:cNvPicPr preferRelativeResize="0"/>
          <p:nvPr/>
        </p:nvPicPr>
        <p:blipFill>
          <a:blip r:embed="rId4">
            <a:alphaModFix/>
          </a:blip>
          <a:stretch>
            <a:fillRect/>
          </a:stretch>
        </p:blipFill>
        <p:spPr>
          <a:xfrm>
            <a:off x="1601235" y="1234873"/>
            <a:ext cx="8989526" cy="52939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pic>
        <p:nvPicPr>
          <p:cNvPr descr="image.png" id="233" name="Google Shape;233;p3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34" name="Google Shape;234;p31"/>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31"/>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36" name="Google Shape;236;p31"/>
          <p:cNvPicPr preferRelativeResize="0"/>
          <p:nvPr/>
        </p:nvPicPr>
        <p:blipFill>
          <a:blip r:embed="rId4">
            <a:alphaModFix/>
          </a:blip>
          <a:stretch>
            <a:fillRect/>
          </a:stretch>
        </p:blipFill>
        <p:spPr>
          <a:xfrm>
            <a:off x="1677150" y="1368925"/>
            <a:ext cx="8837699" cy="52045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 name="Shape 240"/>
        <p:cNvGrpSpPr/>
        <p:nvPr/>
      </p:nvGrpSpPr>
      <p:grpSpPr>
        <a:xfrm>
          <a:off x="0" y="0"/>
          <a:ext cx="0" cy="0"/>
          <a:chOff x="0" y="0"/>
          <a:chExt cx="0" cy="0"/>
        </a:xfrm>
      </p:grpSpPr>
      <p:pic>
        <p:nvPicPr>
          <p:cNvPr descr="image.png" id="241" name="Google Shape;241;p3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42" name="Google Shape;242;p32"/>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32"/>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44" name="Google Shape;244;p32"/>
          <p:cNvPicPr preferRelativeResize="0"/>
          <p:nvPr/>
        </p:nvPicPr>
        <p:blipFill>
          <a:blip r:embed="rId4">
            <a:alphaModFix/>
          </a:blip>
          <a:stretch>
            <a:fillRect/>
          </a:stretch>
        </p:blipFill>
        <p:spPr>
          <a:xfrm>
            <a:off x="520988" y="3337200"/>
            <a:ext cx="11150024" cy="1784850"/>
          </a:xfrm>
          <a:prstGeom prst="rect">
            <a:avLst/>
          </a:prstGeom>
          <a:noFill/>
          <a:ln>
            <a:noFill/>
          </a:ln>
        </p:spPr>
      </p:pic>
      <p:sp>
        <p:nvSpPr>
          <p:cNvPr id="245" name="Google Shape;245;p32"/>
          <p:cNvSpPr txBox="1"/>
          <p:nvPr/>
        </p:nvSpPr>
        <p:spPr>
          <a:xfrm>
            <a:off x="521000" y="1544800"/>
            <a:ext cx="11150100" cy="1657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900">
                <a:solidFill>
                  <a:schemeClr val="dk1"/>
                </a:solidFill>
                <a:latin typeface="Poppins"/>
                <a:ea typeface="Poppins"/>
                <a:cs typeface="Poppins"/>
                <a:sym typeface="Poppins"/>
              </a:rPr>
              <a:t>After Maven downloads the project, it will prompt you to check the project details. Type 'Y' and press Enter to confirm.</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pic>
        <p:nvPicPr>
          <p:cNvPr descr="image.png" id="250" name="Google Shape;250;p3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51" name="Google Shape;251;p33"/>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2" name="Google Shape;252;p33"/>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53" name="Google Shape;253;p33"/>
          <p:cNvPicPr preferRelativeResize="0"/>
          <p:nvPr/>
        </p:nvPicPr>
        <p:blipFill>
          <a:blip r:embed="rId4">
            <a:alphaModFix/>
          </a:blip>
          <a:stretch>
            <a:fillRect/>
          </a:stretch>
        </p:blipFill>
        <p:spPr>
          <a:xfrm>
            <a:off x="496350" y="1206800"/>
            <a:ext cx="11048999" cy="46413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pic>
        <p:nvPicPr>
          <p:cNvPr descr="image.png" id="258" name="Google Shape;258;p3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59" name="Google Shape;259;p34"/>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0" name="Google Shape;260;p34"/>
          <p:cNvSpPr txBox="1"/>
          <p:nvPr/>
        </p:nvSpPr>
        <p:spPr>
          <a:xfrm>
            <a:off x="496350" y="1339875"/>
            <a:ext cx="11049000" cy="5133300"/>
          </a:xfrm>
          <a:prstGeom prst="rect">
            <a:avLst/>
          </a:prstGeom>
          <a:noFill/>
          <a:ln>
            <a:noFill/>
          </a:ln>
        </p:spPr>
        <p:txBody>
          <a:bodyPr anchorCtr="0" anchor="t" bIns="0" lIns="0" spcFirstLastPara="1" rIns="0" wrap="square" tIns="0">
            <a:spAutoFit/>
          </a:bodyPr>
          <a:lstStyle/>
          <a:p>
            <a:pPr indent="-374650" lvl="0" marL="457200" rtl="0" algn="l">
              <a:lnSpc>
                <a:spcPct val="150000"/>
              </a:lnSpc>
              <a:spcBef>
                <a:spcPts val="0"/>
              </a:spcBef>
              <a:spcAft>
                <a:spcPts val="0"/>
              </a:spcAft>
              <a:buClr>
                <a:schemeClr val="dk1"/>
              </a:buClr>
              <a:buSzPts val="2300"/>
              <a:buFont typeface="Poppins"/>
              <a:buAutoNum type="arabicPeriod"/>
            </a:pPr>
            <a:r>
              <a:rPr b="1" lang="en-US" sz="2300">
                <a:solidFill>
                  <a:schemeClr val="dk1"/>
                </a:solidFill>
                <a:latin typeface="Poppins"/>
                <a:ea typeface="Poppins"/>
                <a:cs typeface="Poppins"/>
                <a:sym typeface="Poppins"/>
              </a:rPr>
              <a:t>Add Dependencies in pom.xml</a:t>
            </a:r>
            <a:endParaRPr b="1" sz="2300">
              <a:solidFill>
                <a:schemeClr val="dk1"/>
              </a:solidFill>
              <a:latin typeface="Poppins"/>
              <a:ea typeface="Poppins"/>
              <a:cs typeface="Poppins"/>
              <a:sym typeface="Poppins"/>
            </a:endParaRPr>
          </a:p>
          <a:p>
            <a:pPr indent="-374650" lvl="1" marL="914400" rtl="0" algn="l">
              <a:lnSpc>
                <a:spcPct val="150000"/>
              </a:lnSpc>
              <a:spcBef>
                <a:spcPts val="0"/>
              </a:spcBef>
              <a:spcAft>
                <a:spcPts val="0"/>
              </a:spcAft>
              <a:buClr>
                <a:schemeClr val="dk1"/>
              </a:buClr>
              <a:buSzPts val="2300"/>
              <a:buFont typeface="Poppins"/>
              <a:buChar char="○"/>
            </a:pPr>
            <a:r>
              <a:rPr lang="en-US" sz="2300">
                <a:solidFill>
                  <a:schemeClr val="dk1"/>
                </a:solidFill>
                <a:latin typeface="Poppins"/>
                <a:ea typeface="Poppins"/>
                <a:cs typeface="Poppins"/>
                <a:sym typeface="Poppins"/>
              </a:rPr>
              <a:t>Include the database driver and Hibernate in the dependencies</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374650" lvl="0" marL="457200" rtl="0" algn="l">
              <a:lnSpc>
                <a:spcPct val="150000"/>
              </a:lnSpc>
              <a:spcBef>
                <a:spcPts val="0"/>
              </a:spcBef>
              <a:spcAft>
                <a:spcPts val="0"/>
              </a:spcAft>
              <a:buClr>
                <a:schemeClr val="dk1"/>
              </a:buClr>
              <a:buSzPts val="2300"/>
              <a:buFont typeface="Poppins"/>
              <a:buAutoNum type="arabicPeriod"/>
            </a:pPr>
            <a:r>
              <a:rPr lang="en-US" sz="2300">
                <a:solidFill>
                  <a:schemeClr val="dk1"/>
                </a:solidFill>
                <a:latin typeface="Poppins"/>
                <a:ea typeface="Poppins"/>
                <a:cs typeface="Poppins"/>
                <a:sym typeface="Poppins"/>
              </a:rPr>
              <a:t>run “</a:t>
            </a:r>
            <a:r>
              <a:rPr b="1" lang="en-US" sz="2300">
                <a:solidFill>
                  <a:schemeClr val="dk1"/>
                </a:solidFill>
                <a:latin typeface="Poppins"/>
                <a:ea typeface="Poppins"/>
                <a:cs typeface="Poppins"/>
                <a:sym typeface="Poppins"/>
              </a:rPr>
              <a:t>maven clean install</a:t>
            </a:r>
            <a:r>
              <a:rPr lang="en-US" sz="2300">
                <a:solidFill>
                  <a:schemeClr val="dk1"/>
                </a:solidFill>
                <a:latin typeface="Poppins"/>
                <a:ea typeface="Poppins"/>
                <a:cs typeface="Poppins"/>
                <a:sym typeface="Poppins"/>
              </a:rPr>
              <a:t>”</a:t>
            </a:r>
            <a:endParaRPr sz="2300">
              <a:solidFill>
                <a:schemeClr val="dk1"/>
              </a:solidFill>
              <a:latin typeface="Poppins"/>
              <a:ea typeface="Poppins"/>
              <a:cs typeface="Poppins"/>
              <a:sym typeface="Poppins"/>
            </a:endParaRPr>
          </a:p>
        </p:txBody>
      </p:sp>
      <p:sp>
        <p:nvSpPr>
          <p:cNvPr id="261" name="Google Shape;261;p34"/>
          <p:cNvSpPr txBox="1"/>
          <p:nvPr/>
        </p:nvSpPr>
        <p:spPr>
          <a:xfrm>
            <a:off x="571500" y="380275"/>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Setting up - pom.xml</a:t>
            </a:r>
            <a:endParaRPr b="1" sz="3000">
              <a:solidFill>
                <a:srgbClr val="7F1D1D"/>
              </a:solidFill>
              <a:latin typeface="Poppins"/>
              <a:ea typeface="Poppins"/>
              <a:cs typeface="Poppins"/>
              <a:sym typeface="Poppins"/>
            </a:endParaRPr>
          </a:p>
        </p:txBody>
      </p:sp>
      <p:sp>
        <p:nvSpPr>
          <p:cNvPr id="262" name="Google Shape;262;p34"/>
          <p:cNvSpPr txBox="1"/>
          <p:nvPr/>
        </p:nvSpPr>
        <p:spPr>
          <a:xfrm>
            <a:off x="2574150" y="2524475"/>
            <a:ext cx="6893400" cy="3324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200"/>
              <a:t>	&lt;dependencies&gt;</a:t>
            </a:r>
            <a:endParaRPr b="1" sz="1200"/>
          </a:p>
          <a:p>
            <a:pPr indent="0" lvl="0" marL="0" rtl="0" algn="l">
              <a:spcBef>
                <a:spcPts val="0"/>
              </a:spcBef>
              <a:spcAft>
                <a:spcPts val="0"/>
              </a:spcAft>
              <a:buNone/>
            </a:pPr>
            <a:r>
              <a:t/>
            </a:r>
            <a:endParaRPr b="1" sz="1200"/>
          </a:p>
          <a:p>
            <a:pPr indent="0" lvl="0" marL="0" rtl="0" algn="l">
              <a:spcBef>
                <a:spcPts val="0"/>
              </a:spcBef>
              <a:spcAft>
                <a:spcPts val="0"/>
              </a:spcAft>
              <a:buNone/>
            </a:pPr>
            <a:r>
              <a:rPr b="1" lang="en-US" sz="1200"/>
              <a:t>		&lt;!-- https://mvnrepository.com/artifact/org.hibernate.orm/hibernate-core --&gt;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rPr b="1" lang="en-US" sz="1200"/>
              <a:t>			&lt;groupId&gt;org.hibernate.orm&lt;/groupId&gt;</a:t>
            </a:r>
            <a:endParaRPr b="1" sz="1200"/>
          </a:p>
          <a:p>
            <a:pPr indent="0" lvl="0" marL="0" rtl="0" algn="l">
              <a:spcBef>
                <a:spcPts val="0"/>
              </a:spcBef>
              <a:spcAft>
                <a:spcPts val="0"/>
              </a:spcAft>
              <a:buNone/>
            </a:pPr>
            <a:r>
              <a:rPr b="1" lang="en-US" sz="1200"/>
              <a:t>			&lt;artifactId&gt;hibernate-core&lt;/artifactId&gt;</a:t>
            </a:r>
            <a:endParaRPr b="1" sz="1200"/>
          </a:p>
          <a:p>
            <a:pPr indent="0" lvl="0" marL="0" rtl="0" algn="l">
              <a:spcBef>
                <a:spcPts val="0"/>
              </a:spcBef>
              <a:spcAft>
                <a:spcPts val="0"/>
              </a:spcAft>
              <a:buNone/>
            </a:pPr>
            <a:r>
              <a:rPr b="1" lang="en-US" sz="1200"/>
              <a:t>			&lt;version&gt;7.1.11.Final&lt;/version&gt;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t/>
            </a:r>
            <a:endParaRPr b="1" sz="1200"/>
          </a:p>
          <a:p>
            <a:pPr indent="0" lvl="0" marL="0" rtl="0" algn="l">
              <a:spcBef>
                <a:spcPts val="0"/>
              </a:spcBef>
              <a:spcAft>
                <a:spcPts val="0"/>
              </a:spcAft>
              <a:buNone/>
            </a:pPr>
            <a:r>
              <a:rPr b="1" lang="en-US" sz="1200"/>
              <a:t>		&lt;!-- https://mvnrepository.com/artifact/org.postgresql/postgresql --&gt;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rPr b="1" lang="en-US" sz="1200"/>
              <a:t>			&lt;groupId&gt;org.postgresql&lt;/groupId&gt;</a:t>
            </a:r>
            <a:endParaRPr b="1" sz="1200"/>
          </a:p>
          <a:p>
            <a:pPr indent="0" lvl="0" marL="0" rtl="0" algn="l">
              <a:spcBef>
                <a:spcPts val="0"/>
              </a:spcBef>
              <a:spcAft>
                <a:spcPts val="0"/>
              </a:spcAft>
              <a:buNone/>
            </a:pPr>
            <a:r>
              <a:rPr b="1" lang="en-US" sz="1200"/>
              <a:t>			&lt;artifactId&gt;postgresql&lt;/artifactId&gt;</a:t>
            </a:r>
            <a:endParaRPr b="1" sz="1200"/>
          </a:p>
          <a:p>
            <a:pPr indent="0" lvl="0" marL="0" rtl="0" algn="l">
              <a:spcBef>
                <a:spcPts val="0"/>
              </a:spcBef>
              <a:spcAft>
                <a:spcPts val="0"/>
              </a:spcAft>
              <a:buNone/>
            </a:pPr>
            <a:r>
              <a:rPr b="1" lang="en-US" sz="1200"/>
              <a:t>			&lt;version&gt;42.7.8&lt;/version&gt;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t/>
            </a:r>
            <a:endParaRPr b="1" sz="1200"/>
          </a:p>
          <a:p>
            <a:pPr indent="0" lvl="0" marL="0" rtl="0" algn="l">
              <a:spcBef>
                <a:spcPts val="0"/>
              </a:spcBef>
              <a:spcAft>
                <a:spcPts val="0"/>
              </a:spcAft>
              <a:buNone/>
            </a:pPr>
            <a:r>
              <a:rPr b="1" lang="en-US" sz="1200"/>
              <a:t>	&lt;/dependencies&gt;</a:t>
            </a:r>
            <a:endParaRPr b="1" sz="12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pic>
        <p:nvPicPr>
          <p:cNvPr descr="image.png" id="267" name="Google Shape;267;p3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68" name="Google Shape;268;p35"/>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9" name="Google Shape;269;p35"/>
          <p:cNvSpPr txBox="1"/>
          <p:nvPr/>
        </p:nvSpPr>
        <p:spPr>
          <a:xfrm>
            <a:off x="922500" y="1572575"/>
            <a:ext cx="10547700" cy="3078600"/>
          </a:xfrm>
          <a:prstGeom prst="rect">
            <a:avLst/>
          </a:prstGeom>
          <a:noFill/>
          <a:ln>
            <a:noFill/>
          </a:ln>
        </p:spPr>
        <p:txBody>
          <a:bodyPr anchorCtr="0" anchor="t" bIns="0" lIns="0" spcFirstLastPara="1" rIns="0" wrap="square" tIns="0">
            <a:spAutoFit/>
          </a:bodyPr>
          <a:lstStyle/>
          <a:p>
            <a:pPr indent="0" lvl="0" marL="0" rtl="0" algn="l">
              <a:lnSpc>
                <a:spcPct val="150000"/>
              </a:lnSpc>
              <a:spcBef>
                <a:spcPts val="0"/>
              </a:spcBef>
              <a:spcAft>
                <a:spcPts val="0"/>
              </a:spcAft>
              <a:buNone/>
            </a:pPr>
            <a:r>
              <a:rPr b="1" lang="en-US" sz="2000">
                <a:solidFill>
                  <a:schemeClr val="dk1"/>
                </a:solidFill>
                <a:latin typeface="Poppins"/>
                <a:ea typeface="Poppins"/>
                <a:cs typeface="Poppins"/>
                <a:sym typeface="Poppins"/>
              </a:rPr>
              <a:t>2.	</a:t>
            </a:r>
            <a:r>
              <a:rPr b="1" lang="en-US" sz="2000">
                <a:solidFill>
                  <a:schemeClr val="dk1"/>
                </a:solidFill>
                <a:latin typeface="Poppins"/>
                <a:ea typeface="Poppins"/>
                <a:cs typeface="Poppins"/>
                <a:sym typeface="Poppins"/>
              </a:rPr>
              <a:t>Add resources/META-INF/persistence.xml in src/main</a:t>
            </a:r>
            <a:endParaRPr b="1" sz="2000">
              <a:solidFill>
                <a:schemeClr val="dk1"/>
              </a:solidFill>
              <a:latin typeface="Poppins"/>
              <a:ea typeface="Poppins"/>
              <a:cs typeface="Poppins"/>
              <a:sym typeface="Poppins"/>
            </a:endParaRPr>
          </a:p>
          <a:p>
            <a:pPr indent="-355600" lvl="1" marL="914400" rtl="0" algn="l">
              <a:lnSpc>
                <a:spcPct val="150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a folder named META-INF in resource directory</a:t>
            </a:r>
            <a:endParaRPr sz="2000">
              <a:solidFill>
                <a:schemeClr val="dk1"/>
              </a:solidFill>
              <a:latin typeface="Poppins"/>
              <a:ea typeface="Poppins"/>
              <a:cs typeface="Poppins"/>
              <a:sym typeface="Poppins"/>
            </a:endParaRPr>
          </a:p>
          <a:p>
            <a:pPr indent="-355600" lvl="1" marL="914400" rtl="0" algn="l">
              <a:lnSpc>
                <a:spcPct val="150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a file inside META-INF named persistence.xml</a:t>
            </a:r>
            <a:endParaRPr sz="2000">
              <a:solidFill>
                <a:schemeClr val="dk1"/>
              </a:solidFill>
              <a:latin typeface="Poppins"/>
              <a:ea typeface="Poppins"/>
              <a:cs typeface="Poppins"/>
              <a:sym typeface="Poppins"/>
            </a:endParaRPr>
          </a:p>
          <a:p>
            <a:pPr indent="-355600" lvl="1" marL="914400" rtl="0" algn="l">
              <a:lnSpc>
                <a:spcPct val="150000"/>
              </a:lnSpc>
              <a:spcBef>
                <a:spcPts val="0"/>
              </a:spcBef>
              <a:spcAft>
                <a:spcPts val="0"/>
              </a:spcAft>
              <a:buClr>
                <a:schemeClr val="dk1"/>
              </a:buClr>
              <a:buSzPts val="2000"/>
              <a:buFont typeface="Poppins"/>
              <a:buChar char="○"/>
            </a:pPr>
            <a:r>
              <a:rPr b="1" lang="en-US" sz="2000">
                <a:solidFill>
                  <a:schemeClr val="dk1"/>
                </a:solidFill>
                <a:latin typeface="Poppins"/>
                <a:ea typeface="Poppins"/>
                <a:cs typeface="Poppins"/>
                <a:sym typeface="Poppins"/>
              </a:rPr>
              <a:t>reference</a:t>
            </a:r>
            <a:r>
              <a:rPr lang="en-US" sz="2000">
                <a:solidFill>
                  <a:schemeClr val="dk1"/>
                </a:solidFill>
                <a:latin typeface="Poppins"/>
                <a:ea typeface="Poppins"/>
                <a:cs typeface="Poppins"/>
                <a:sym typeface="Poppins"/>
              </a:rPr>
              <a:t>: </a:t>
            </a:r>
            <a:r>
              <a:rPr lang="en-US" sz="2000" u="sng">
                <a:solidFill>
                  <a:schemeClr val="hlink"/>
                </a:solidFill>
                <a:latin typeface="Poppins"/>
                <a:ea typeface="Poppins"/>
                <a:cs typeface="Poppins"/>
                <a:sym typeface="Poppins"/>
                <a:hlinkClick r:id="rId4"/>
              </a:rPr>
              <a:t>https://github.com/enzolibronexist/module6/blob/setup/src/main/resources/META-INF/persistence.xml</a:t>
            </a:r>
            <a:endParaRPr sz="2000">
              <a:solidFill>
                <a:schemeClr val="dk1"/>
              </a:solidFill>
              <a:latin typeface="Poppins"/>
              <a:ea typeface="Poppins"/>
              <a:cs typeface="Poppins"/>
              <a:sym typeface="Poppins"/>
            </a:endParaRPr>
          </a:p>
          <a:p>
            <a:pPr indent="0" lvl="0" marL="914400" rtl="0" algn="l">
              <a:lnSpc>
                <a:spcPct val="150000"/>
              </a:lnSpc>
              <a:spcBef>
                <a:spcPts val="0"/>
              </a:spcBef>
              <a:spcAft>
                <a:spcPts val="0"/>
              </a:spcAft>
              <a:buNone/>
            </a:pPr>
            <a:r>
              <a:t/>
            </a:r>
            <a:endParaRPr sz="2000">
              <a:solidFill>
                <a:schemeClr val="dk1"/>
              </a:solidFill>
              <a:latin typeface="Poppins"/>
              <a:ea typeface="Poppins"/>
              <a:cs typeface="Poppins"/>
              <a:sym typeface="Poppins"/>
            </a:endParaRPr>
          </a:p>
        </p:txBody>
      </p:sp>
      <p:sp>
        <p:nvSpPr>
          <p:cNvPr id="270" name="Google Shape;270;p35"/>
          <p:cNvSpPr txBox="1"/>
          <p:nvPr/>
        </p:nvSpPr>
        <p:spPr>
          <a:xfrm>
            <a:off x="571500" y="380275"/>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Setting up - persistence.xml</a:t>
            </a:r>
            <a:endParaRPr/>
          </a:p>
        </p:txBody>
      </p:sp>
      <p:pic>
        <p:nvPicPr>
          <p:cNvPr id="271" name="Google Shape;271;p35"/>
          <p:cNvPicPr preferRelativeResize="0"/>
          <p:nvPr/>
        </p:nvPicPr>
        <p:blipFill>
          <a:blip r:embed="rId5">
            <a:alphaModFix/>
          </a:blip>
          <a:stretch>
            <a:fillRect/>
          </a:stretch>
        </p:blipFill>
        <p:spPr>
          <a:xfrm>
            <a:off x="5693062" y="4254300"/>
            <a:ext cx="5433775" cy="20936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 name="Shape 275"/>
        <p:cNvGrpSpPr/>
        <p:nvPr/>
      </p:nvGrpSpPr>
      <p:grpSpPr>
        <a:xfrm>
          <a:off x="0" y="0"/>
          <a:ext cx="0" cy="0"/>
          <a:chOff x="0" y="0"/>
          <a:chExt cx="0" cy="0"/>
        </a:xfrm>
      </p:grpSpPr>
      <p:pic>
        <p:nvPicPr>
          <p:cNvPr descr="image.png" id="276" name="Google Shape;276;p3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77" name="Google Shape;277;p36"/>
          <p:cNvSpPr/>
          <p:nvPr/>
        </p:nvSpPr>
        <p:spPr>
          <a:xfrm>
            <a:off x="496350" y="86398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8" name="Google Shape;278;p36"/>
          <p:cNvSpPr txBox="1"/>
          <p:nvPr/>
        </p:nvSpPr>
        <p:spPr>
          <a:xfrm>
            <a:off x="922500" y="1442375"/>
            <a:ext cx="10547700" cy="231000"/>
          </a:xfrm>
          <a:prstGeom prst="rect">
            <a:avLst/>
          </a:prstGeom>
          <a:noFill/>
          <a:ln>
            <a:noFill/>
          </a:ln>
        </p:spPr>
        <p:txBody>
          <a:bodyPr anchorCtr="0" anchor="t" bIns="0" lIns="0" spcFirstLastPara="1" rIns="0" wrap="square" tIns="0">
            <a:spAutoFit/>
          </a:bodyPr>
          <a:lstStyle/>
          <a:p>
            <a:pPr indent="0" lvl="0" marL="0" rtl="0" algn="l">
              <a:lnSpc>
                <a:spcPct val="150000"/>
              </a:lnSpc>
              <a:spcBef>
                <a:spcPts val="0"/>
              </a:spcBef>
              <a:spcAft>
                <a:spcPts val="0"/>
              </a:spcAft>
              <a:buNone/>
            </a:pPr>
            <a:r>
              <a:t/>
            </a:r>
            <a:endParaRPr sz="1500">
              <a:solidFill>
                <a:schemeClr val="dk1"/>
              </a:solidFill>
              <a:latin typeface="Poppins"/>
              <a:ea typeface="Poppins"/>
              <a:cs typeface="Poppins"/>
              <a:sym typeface="Poppins"/>
            </a:endParaRPr>
          </a:p>
        </p:txBody>
      </p:sp>
      <p:sp>
        <p:nvSpPr>
          <p:cNvPr id="279" name="Google Shape;279;p36"/>
          <p:cNvSpPr txBox="1"/>
          <p:nvPr/>
        </p:nvSpPr>
        <p:spPr>
          <a:xfrm>
            <a:off x="571500" y="217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Setting up - persistence.xml</a:t>
            </a:r>
            <a:endParaRPr/>
          </a:p>
        </p:txBody>
      </p:sp>
      <p:sp>
        <p:nvSpPr>
          <p:cNvPr id="280" name="Google Shape;280;p36"/>
          <p:cNvSpPr txBox="1"/>
          <p:nvPr/>
        </p:nvSpPr>
        <p:spPr>
          <a:xfrm>
            <a:off x="1345550" y="1025200"/>
            <a:ext cx="9060900" cy="55875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300"/>
              <a:t>&lt;?xml version="1.0" encoding="UTF-8"?&gt;</a:t>
            </a:r>
            <a:endParaRPr sz="1300"/>
          </a:p>
          <a:p>
            <a:pPr indent="0" lvl="0" marL="0" rtl="0" algn="l">
              <a:spcBef>
                <a:spcPts val="0"/>
              </a:spcBef>
              <a:spcAft>
                <a:spcPts val="0"/>
              </a:spcAft>
              <a:buNone/>
            </a:pPr>
            <a:r>
              <a:rPr lang="en-US" sz="1300"/>
              <a:t>&lt;persistence xmlns="https://jakarta.ee/xml/ns/persistence"</a:t>
            </a:r>
            <a:endParaRPr sz="1300"/>
          </a:p>
          <a:p>
            <a:pPr indent="0" lvl="0" marL="0" rtl="0" algn="l">
              <a:spcBef>
                <a:spcPts val="0"/>
              </a:spcBef>
              <a:spcAft>
                <a:spcPts val="0"/>
              </a:spcAft>
              <a:buNone/>
            </a:pPr>
            <a:r>
              <a:rPr lang="en-US" sz="1300"/>
              <a:t>	xmlns:xsi="http://www.w3.org/2001/XMLSchema-instance"</a:t>
            </a:r>
            <a:endParaRPr sz="1300"/>
          </a:p>
          <a:p>
            <a:pPr indent="0" lvl="0" marL="0" rtl="0" algn="l">
              <a:spcBef>
                <a:spcPts val="0"/>
              </a:spcBef>
              <a:spcAft>
                <a:spcPts val="0"/>
              </a:spcAft>
              <a:buNone/>
            </a:pPr>
            <a:r>
              <a:rPr lang="en-US" sz="1300"/>
              <a:t>	xsi:schemaLocation="https://jakarta.ee/xml/ns/persistence</a:t>
            </a:r>
            <a:endParaRPr sz="1300"/>
          </a:p>
          <a:p>
            <a:pPr indent="0" lvl="0" marL="0" rtl="0" algn="l">
              <a:spcBef>
                <a:spcPts val="0"/>
              </a:spcBef>
              <a:spcAft>
                <a:spcPts val="0"/>
              </a:spcAft>
              <a:buNone/>
            </a:pPr>
            <a:r>
              <a:rPr lang="en-US" sz="1300"/>
              <a:t>                                 https://jakarta.ee/xml/ns/persistence/persistence_3_0.xsd"</a:t>
            </a:r>
            <a:endParaRPr sz="1300"/>
          </a:p>
          <a:p>
            <a:pPr indent="0" lvl="0" marL="0" rtl="0" algn="l">
              <a:spcBef>
                <a:spcPts val="0"/>
              </a:spcBef>
              <a:spcAft>
                <a:spcPts val="0"/>
              </a:spcAft>
              <a:buNone/>
            </a:pPr>
            <a:r>
              <a:rPr lang="en-US" sz="1300"/>
              <a:t>	version="3.0"&gt;</a:t>
            </a:r>
            <a:endParaRPr sz="1300"/>
          </a:p>
          <a:p>
            <a:pPr indent="0" lvl="0" marL="0" rtl="0" algn="l">
              <a:spcBef>
                <a:spcPts val="0"/>
              </a:spcBef>
              <a:spcAft>
                <a:spcPts val="0"/>
              </a:spcAft>
              <a:buNone/>
            </a:pPr>
            <a:r>
              <a:rPr lang="en-US" sz="1300"/>
              <a:t>	</a:t>
            </a:r>
            <a:endParaRPr sz="1300"/>
          </a:p>
          <a:p>
            <a:pPr indent="0" lvl="0" marL="0" rtl="0" algn="l">
              <a:spcBef>
                <a:spcPts val="0"/>
              </a:spcBef>
              <a:spcAft>
                <a:spcPts val="0"/>
              </a:spcAft>
              <a:buNone/>
            </a:pPr>
            <a:r>
              <a:rPr lang="en-US" sz="1300"/>
              <a:t>	//persistence unit tells JPA how to connect to the database, which entities to manage, and which settings to use.</a:t>
            </a:r>
            <a:endParaRPr sz="1300"/>
          </a:p>
          <a:p>
            <a:pPr indent="0" lvl="0" marL="0" rtl="0" algn="l">
              <a:spcBef>
                <a:spcPts val="0"/>
              </a:spcBef>
              <a:spcAft>
                <a:spcPts val="0"/>
              </a:spcAft>
              <a:buNone/>
            </a:pPr>
            <a:r>
              <a:rPr lang="en-US" sz="1300"/>
              <a:t>	&lt;persistence-unit name="default"</a:t>
            </a:r>
            <a:endParaRPr sz="1300"/>
          </a:p>
          <a:p>
            <a:pPr indent="0" lvl="0" marL="0" rtl="0" algn="l">
              <a:spcBef>
                <a:spcPts val="0"/>
              </a:spcBef>
              <a:spcAft>
                <a:spcPts val="0"/>
              </a:spcAft>
              <a:buNone/>
            </a:pPr>
            <a:r>
              <a:rPr lang="en-US" sz="1300"/>
              <a:t>		transaction-type="RESOURCE_LOCAL"&gt;</a:t>
            </a:r>
            <a:endParaRPr sz="1300"/>
          </a:p>
          <a:p>
            <a:pPr indent="0" lvl="0" marL="0" rtl="0" algn="l">
              <a:spcBef>
                <a:spcPts val="0"/>
              </a:spcBef>
              <a:spcAft>
                <a:spcPts val="0"/>
              </a:spcAft>
              <a:buNone/>
            </a:pPr>
            <a:r>
              <a:rPr lang="en-US" sz="1300"/>
              <a:t>		&lt;provider&gt;org.hibernate.jpa.HibernatePersistenceProvider&lt;/provider&gt;</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rPr lang="en-US" sz="1300"/>
              <a:t>		&lt;properties&gt;</a:t>
            </a:r>
            <a:endParaRPr sz="1300"/>
          </a:p>
          <a:p>
            <a:pPr indent="0" lvl="0" marL="0" rtl="0" algn="l">
              <a:spcBef>
                <a:spcPts val="0"/>
              </a:spcBef>
              <a:spcAft>
                <a:spcPts val="0"/>
              </a:spcAft>
              <a:buNone/>
            </a:pPr>
            <a:r>
              <a:rPr lang="en-US" sz="1300"/>
              <a:t>			&lt;!-- JDBC connection --&gt;</a:t>
            </a:r>
            <a:endParaRPr sz="1300"/>
          </a:p>
          <a:p>
            <a:pPr indent="0" lvl="0" marL="0" rtl="0" algn="l">
              <a:spcBef>
                <a:spcPts val="0"/>
              </a:spcBef>
              <a:spcAft>
                <a:spcPts val="0"/>
              </a:spcAft>
              <a:buNone/>
            </a:pPr>
            <a:r>
              <a:rPr lang="en-US" sz="1300"/>
              <a:t>			&lt;property name="jakarta.persistence.jdbc.driver" value="org.postgresql.Driver" /&gt;</a:t>
            </a:r>
            <a:endParaRPr sz="1300"/>
          </a:p>
          <a:p>
            <a:pPr indent="0" lvl="0" marL="0" rtl="0" algn="l">
              <a:spcBef>
                <a:spcPts val="0"/>
              </a:spcBef>
              <a:spcAft>
                <a:spcPts val="0"/>
              </a:spcAft>
              <a:buNone/>
            </a:pPr>
            <a:r>
              <a:rPr lang="en-US" sz="1300"/>
              <a:t>			&lt;property name="jakarta.persistence.jdbc.url" value="jdbc:postgresql://localhost:5432/sandboxdb" /&gt;</a:t>
            </a:r>
            <a:endParaRPr sz="1300"/>
          </a:p>
          <a:p>
            <a:pPr indent="0" lvl="0" marL="0" rtl="0" algn="l">
              <a:spcBef>
                <a:spcPts val="0"/>
              </a:spcBef>
              <a:spcAft>
                <a:spcPts val="0"/>
              </a:spcAft>
              <a:buNone/>
            </a:pPr>
            <a:r>
              <a:rPr lang="en-US" sz="1300"/>
              <a:t>			&lt;property name="jakarta.persistence.jdbc.user" value="user" /&gt;</a:t>
            </a:r>
            <a:endParaRPr sz="1300"/>
          </a:p>
          <a:p>
            <a:pPr indent="0" lvl="0" marL="0" rtl="0" algn="l">
              <a:spcBef>
                <a:spcPts val="0"/>
              </a:spcBef>
              <a:spcAft>
                <a:spcPts val="0"/>
              </a:spcAft>
              <a:buNone/>
            </a:pPr>
            <a:r>
              <a:rPr lang="en-US" sz="1300"/>
              <a:t>			&lt;property name="jakarta.persistence.jdbc.password" value="password" /&gt;</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rPr lang="en-US" sz="1300"/>
              <a:t>			&lt;!-- Hibernate dialect --&gt;</a:t>
            </a:r>
            <a:endParaRPr sz="1300"/>
          </a:p>
          <a:p>
            <a:pPr indent="0" lvl="0" marL="0" rtl="0" algn="l">
              <a:spcBef>
                <a:spcPts val="0"/>
              </a:spcBef>
              <a:spcAft>
                <a:spcPts val="0"/>
              </a:spcAft>
              <a:buNone/>
            </a:pPr>
            <a:r>
              <a:rPr lang="en-US" sz="1300"/>
              <a:t>			&lt;property name="hibernate.dialect" value="org.hibernate.dialect.PostgreSQLDialect" /&gt;</a:t>
            </a:r>
            <a:endParaRPr sz="1300"/>
          </a:p>
          <a:p>
            <a:pPr indent="0" lvl="0" marL="0" rtl="0" algn="l">
              <a:spcBef>
                <a:spcPts val="0"/>
              </a:spcBef>
              <a:spcAft>
                <a:spcPts val="0"/>
              </a:spcAft>
              <a:buNone/>
            </a:pPr>
            <a:r>
              <a:rPr lang="en-US" sz="1300"/>
              <a:t>			&lt;property name="hibernate.hbm2ddl.auto" value="none" /&gt;</a:t>
            </a:r>
            <a:endParaRPr sz="1300"/>
          </a:p>
          <a:p>
            <a:pPr indent="0" lvl="0" marL="0" rtl="0" algn="l">
              <a:spcBef>
                <a:spcPts val="0"/>
              </a:spcBef>
              <a:spcAft>
                <a:spcPts val="0"/>
              </a:spcAft>
              <a:buNone/>
            </a:pPr>
            <a:r>
              <a:rPr lang="en-US" sz="1300"/>
              <a:t>			&lt;property name="hibernate.show_sql" value="true" /&gt;</a:t>
            </a:r>
            <a:endParaRPr sz="1300"/>
          </a:p>
          <a:p>
            <a:pPr indent="0" lvl="0" marL="0" rtl="0" algn="l">
              <a:spcBef>
                <a:spcPts val="0"/>
              </a:spcBef>
              <a:spcAft>
                <a:spcPts val="0"/>
              </a:spcAft>
              <a:buNone/>
            </a:pPr>
            <a:r>
              <a:rPr lang="en-US" sz="1300"/>
              <a:t>		&lt;/properties&gt;</a:t>
            </a:r>
            <a:endParaRPr sz="1300"/>
          </a:p>
          <a:p>
            <a:pPr indent="0" lvl="0" marL="0" rtl="0" algn="l">
              <a:spcBef>
                <a:spcPts val="0"/>
              </a:spcBef>
              <a:spcAft>
                <a:spcPts val="0"/>
              </a:spcAft>
              <a:buNone/>
            </a:pPr>
            <a:r>
              <a:rPr lang="en-US" sz="1300"/>
              <a:t>	&lt;/persistence-unit&gt;</a:t>
            </a:r>
            <a:endParaRPr sz="1300"/>
          </a:p>
          <a:p>
            <a:pPr indent="0" lvl="0" marL="0" rtl="0" algn="l">
              <a:spcBef>
                <a:spcPts val="0"/>
              </a:spcBef>
              <a:spcAft>
                <a:spcPts val="0"/>
              </a:spcAft>
              <a:buNone/>
            </a:pPr>
            <a:r>
              <a:rPr lang="en-US" sz="1300"/>
              <a:t>&lt;/persistence&gt;</a:t>
            </a:r>
            <a:endParaRPr sz="1300"/>
          </a:p>
          <a:p>
            <a:pPr indent="0" lvl="0" marL="0" rtl="0" algn="l">
              <a:spcBef>
                <a:spcPts val="0"/>
              </a:spcBef>
              <a:spcAft>
                <a:spcPts val="0"/>
              </a:spcAft>
              <a:buNone/>
            </a:pPr>
            <a:r>
              <a:t/>
            </a:r>
            <a:endParaRPr sz="13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pic>
        <p:nvPicPr>
          <p:cNvPr descr="image.png" id="285" name="Google Shape;285;p3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86" name="Google Shape;286;p37"/>
          <p:cNvSpPr txBox="1"/>
          <p:nvPr/>
        </p:nvSpPr>
        <p:spPr>
          <a:xfrm>
            <a:off x="571500" y="228350"/>
            <a:ext cx="4857000" cy="1169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200">
                <a:solidFill>
                  <a:srgbClr val="7F1D1D"/>
                </a:solidFill>
                <a:latin typeface="Poppins"/>
                <a:ea typeface="Poppins"/>
                <a:cs typeface="Poppins"/>
                <a:sym typeface="Poppins"/>
              </a:rPr>
              <a:t>Create a Utility class for Entity Manager</a:t>
            </a:r>
            <a:endParaRPr sz="1600"/>
          </a:p>
        </p:txBody>
      </p:sp>
      <p:sp>
        <p:nvSpPr>
          <p:cNvPr id="287" name="Google Shape;287;p37"/>
          <p:cNvSpPr txBox="1"/>
          <p:nvPr/>
        </p:nvSpPr>
        <p:spPr>
          <a:xfrm>
            <a:off x="5544425" y="228350"/>
            <a:ext cx="6152400" cy="6058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class</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EntityManagerUtil</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static</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EntityManagerUtil</a:t>
            </a:r>
            <a:r>
              <a:rPr lang="en-US" sz="900">
                <a:solidFill>
                  <a:srgbClr val="D9E8F7"/>
                </a:solidFill>
                <a:highlight>
                  <a:srgbClr val="1E1F22"/>
                </a:highlight>
                <a:latin typeface="Courier New"/>
                <a:ea typeface="Courier New"/>
                <a:cs typeface="Courier New"/>
                <a:sym typeface="Courier New"/>
              </a:rPr>
              <a:t> </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final</a:t>
            </a:r>
            <a:r>
              <a:rPr lang="en-US" sz="900">
                <a:solidFill>
                  <a:srgbClr val="D9E8F7"/>
                </a:solidFill>
                <a:highlight>
                  <a:srgbClr val="1E1F22"/>
                </a:highlight>
                <a:latin typeface="Courier New"/>
                <a:ea typeface="Courier New"/>
                <a:cs typeface="Courier New"/>
                <a:sym typeface="Courier New"/>
              </a:rPr>
              <a:t> </a:t>
            </a:r>
            <a:r>
              <a:rPr lang="en-US" sz="900">
                <a:solidFill>
                  <a:srgbClr val="80F2F6"/>
                </a:solidFill>
                <a:highlight>
                  <a:srgbClr val="1E1F22"/>
                </a:highlight>
                <a:latin typeface="Courier New"/>
                <a:ea typeface="Courier New"/>
                <a:cs typeface="Courier New"/>
                <a:sym typeface="Courier New"/>
              </a:rPr>
              <a:t>EntityManagerFactory</a:t>
            </a:r>
            <a:r>
              <a:rPr lang="en-US" sz="900">
                <a:solidFill>
                  <a:srgbClr val="D9E8F7"/>
                </a:solidFill>
                <a:highlight>
                  <a:srgbClr val="1E1F22"/>
                </a:highlight>
                <a:latin typeface="Courier New"/>
                <a:ea typeface="Courier New"/>
                <a:cs typeface="Courier New"/>
                <a:sym typeface="Courier New"/>
              </a:rPr>
              <a:t> </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EntityManagerUtil</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this</a:t>
            </a:r>
            <a:r>
              <a:rPr lang="en-US" sz="900">
                <a:solidFill>
                  <a:srgbClr val="E6E6FA"/>
                </a:solidFill>
                <a:highlight>
                  <a:srgbClr val="1E1F22"/>
                </a:highlight>
                <a:latin typeface="Courier New"/>
                <a:ea typeface="Courier New"/>
                <a:cs typeface="Courier New"/>
                <a:sym typeface="Courier New"/>
              </a:rPr>
              <a:t>.</a:t>
            </a:r>
            <a:r>
              <a:rPr lang="en-US" sz="900">
                <a:solidFill>
                  <a:srgbClr val="66E1F8"/>
                </a:solidFill>
                <a:highlight>
                  <a:srgbClr val="1E1F22"/>
                </a:highlight>
                <a:latin typeface="Courier New"/>
                <a:ea typeface="Courier New"/>
                <a:cs typeface="Courier New"/>
                <a:sym typeface="Courier New"/>
              </a:rPr>
              <a:t>emf</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Persistence</a:t>
            </a:r>
            <a:r>
              <a:rPr lang="en-US" sz="900">
                <a:solidFill>
                  <a:srgbClr val="E6E6FA"/>
                </a:solidFill>
                <a:highlight>
                  <a:srgbClr val="1E1F22"/>
                </a:highlight>
                <a:latin typeface="Courier New"/>
                <a:ea typeface="Courier New"/>
                <a:cs typeface="Courier New"/>
                <a:sym typeface="Courier New"/>
              </a:rPr>
              <a:t>.</a:t>
            </a:r>
            <a:r>
              <a:rPr i="1" lang="en-US" sz="900">
                <a:solidFill>
                  <a:srgbClr val="96EC3F"/>
                </a:solidFill>
                <a:highlight>
                  <a:srgbClr val="1E1F22"/>
                </a:highlight>
                <a:latin typeface="Courier New"/>
                <a:ea typeface="Courier New"/>
                <a:cs typeface="Courier New"/>
                <a:sym typeface="Courier New"/>
              </a:rPr>
              <a:t>createEntityManagerFactory</a:t>
            </a:r>
            <a:r>
              <a:rPr lang="en-US" sz="900">
                <a:solidFill>
                  <a:srgbClr val="F9FAF4"/>
                </a:solidFill>
                <a:highlight>
                  <a:srgbClr val="1E1F22"/>
                </a:highlight>
                <a:latin typeface="Courier New"/>
                <a:ea typeface="Courier New"/>
                <a:cs typeface="Courier New"/>
                <a:sym typeface="Courier New"/>
              </a:rPr>
              <a:t>(</a:t>
            </a:r>
            <a:r>
              <a:rPr lang="en-US" sz="900">
                <a:solidFill>
                  <a:srgbClr val="17C6A3"/>
                </a:solidFill>
                <a:highlight>
                  <a:srgbClr val="1E1F22"/>
                </a:highlight>
                <a:latin typeface="Courier New"/>
                <a:ea typeface="Courier New"/>
                <a:cs typeface="Courier New"/>
                <a:sym typeface="Courier New"/>
              </a:rPr>
              <a:t>"default"</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static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synchronized</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EntityManagerUtil</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getInstance</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if</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null</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new</a:t>
            </a:r>
            <a:r>
              <a:rPr lang="en-US" sz="900">
                <a:solidFill>
                  <a:srgbClr val="D9E8F7"/>
                </a:solidFill>
                <a:highlight>
                  <a:srgbClr val="1E1F22"/>
                </a:highlight>
                <a:latin typeface="Courier New"/>
                <a:ea typeface="Courier New"/>
                <a:cs typeface="Courier New"/>
                <a:sym typeface="Courier New"/>
              </a:rPr>
              <a:t> </a:t>
            </a:r>
            <a:r>
              <a:rPr lang="en-US" sz="900">
                <a:solidFill>
                  <a:srgbClr val="A7EC21"/>
                </a:solidFill>
                <a:highlight>
                  <a:srgbClr val="1E1F22"/>
                </a:highlight>
                <a:latin typeface="Courier New"/>
                <a:ea typeface="Courier New"/>
                <a:cs typeface="Courier New"/>
                <a:sym typeface="Courier New"/>
              </a:rPr>
              <a:t>EntityManagerUtil</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return</a:t>
            </a:r>
            <a:r>
              <a:rPr lang="en-US" sz="900">
                <a:solidFill>
                  <a:srgbClr val="D9E8F7"/>
                </a:solidFill>
                <a:highlight>
                  <a:srgbClr val="1E1F22"/>
                </a:highlight>
                <a:latin typeface="Courier New"/>
                <a:ea typeface="Courier New"/>
                <a:cs typeface="Courier New"/>
                <a:sym typeface="Courier New"/>
              </a:rPr>
              <a:t> </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80F2F6"/>
                </a:solidFill>
                <a:highlight>
                  <a:srgbClr val="1E1F22"/>
                </a:highlight>
                <a:latin typeface="Courier New"/>
                <a:ea typeface="Courier New"/>
                <a:cs typeface="Courier New"/>
                <a:sym typeface="Courier New"/>
              </a:rPr>
              <a:t>EntityManager</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createEntityManager</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return</a:t>
            </a:r>
            <a:r>
              <a:rPr lang="en-US" sz="900">
                <a:solidFill>
                  <a:srgbClr val="D9E8F7"/>
                </a:solidFill>
                <a:highlight>
                  <a:srgbClr val="1E1F22"/>
                </a:highlight>
                <a:latin typeface="Courier New"/>
                <a:ea typeface="Courier New"/>
                <a:cs typeface="Courier New"/>
                <a:sym typeface="Courier New"/>
              </a:rPr>
              <a:t> </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createEntityManager</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boolean</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80F2F6"/>
                </a:solidFill>
                <a:highlight>
                  <a:srgbClr val="1E1F22"/>
                </a:highlight>
                <a:latin typeface="Courier New"/>
                <a:ea typeface="Courier New"/>
                <a:cs typeface="Courier New"/>
                <a:sym typeface="Courier New"/>
              </a:rPr>
              <a:t>EntityManager</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return</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null</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&amp;&amp;</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void</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closeEntityManager</a:t>
            </a:r>
            <a:r>
              <a:rPr lang="en-US" sz="900">
                <a:solidFill>
                  <a:srgbClr val="F9FAF4"/>
                </a:solidFill>
                <a:highlight>
                  <a:srgbClr val="1E1F22"/>
                </a:highlight>
                <a:latin typeface="Courier New"/>
                <a:ea typeface="Courier New"/>
                <a:cs typeface="Courier New"/>
                <a:sym typeface="Courier New"/>
              </a:rPr>
              <a:t>(</a:t>
            </a:r>
            <a:r>
              <a:rPr lang="en-US" sz="900">
                <a:solidFill>
                  <a:srgbClr val="80F2F6"/>
                </a:solidFill>
                <a:highlight>
                  <a:srgbClr val="1E1F22"/>
                </a:highlight>
                <a:latin typeface="Courier New"/>
                <a:ea typeface="Courier New"/>
                <a:cs typeface="Courier New"/>
                <a:sym typeface="Courier New"/>
              </a:rPr>
              <a:t>EntityManager</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if</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r>
              <a:rPr lang="en-US" sz="900">
                <a:solidFill>
                  <a:srgbClr val="A7EC21"/>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79ABFF"/>
                </a:solidFill>
                <a:highlight>
                  <a:srgbClr val="1E1F22"/>
                </a:highlight>
                <a:latin typeface="Courier New"/>
                <a:ea typeface="Courier New"/>
                <a:cs typeface="Courier New"/>
                <a:sym typeface="Courier New"/>
              </a:rPr>
              <a:t>em</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close</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void</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shutdownFactory</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if</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close</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pic>
        <p:nvPicPr>
          <p:cNvPr descr="image.png" id="292" name="Google Shape;292;p3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93" name="Google Shape;293;p38"/>
          <p:cNvSpPr/>
          <p:nvPr/>
        </p:nvSpPr>
        <p:spPr>
          <a:xfrm>
            <a:off x="496350" y="8748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4" name="Google Shape;294;p38"/>
          <p:cNvSpPr txBox="1"/>
          <p:nvPr/>
        </p:nvSpPr>
        <p:spPr>
          <a:xfrm>
            <a:off x="571500" y="22835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In the main application</a:t>
            </a:r>
            <a:endParaRPr/>
          </a:p>
        </p:txBody>
      </p:sp>
      <p:sp>
        <p:nvSpPr>
          <p:cNvPr id="295" name="Google Shape;295;p38"/>
          <p:cNvSpPr txBox="1"/>
          <p:nvPr/>
        </p:nvSpPr>
        <p:spPr>
          <a:xfrm>
            <a:off x="496350" y="1393025"/>
            <a:ext cx="11049000" cy="4405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App</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main</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args</a:t>
            </a:r>
            <a:r>
              <a:rPr lang="en-US" sz="1200">
                <a:solidFill>
                  <a:srgbClr val="F9FAF4"/>
                </a:solidFill>
                <a:highlight>
                  <a:srgbClr val="1E1F22"/>
                </a:highlight>
                <a:latin typeface="Courier New"/>
                <a:ea typeface="Courier New"/>
                <a:cs typeface="Courier New"/>
                <a:sym typeface="Courier New"/>
              </a:rPr>
              <a:t>)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96EC3F"/>
                </a:solidFill>
                <a:highlight>
                  <a:srgbClr val="1E1F22"/>
                </a:highlight>
                <a:latin typeface="Courier New"/>
                <a:ea typeface="Courier New"/>
                <a:cs typeface="Courier New"/>
                <a:sym typeface="Courier New"/>
              </a:rPr>
              <a:t>testConnection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testConnection</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createEntityManager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isOpen</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"entity manager open, ready to create 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finally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closeEntityManager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shutdownFactory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pic>
        <p:nvPicPr>
          <p:cNvPr descr="image.png" id="300" name="Google Shape;300;p3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01" name="Google Shape;301;p39"/>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2" name="Google Shape;302;p39"/>
          <p:cNvSpPr txBox="1"/>
          <p:nvPr/>
        </p:nvSpPr>
        <p:spPr>
          <a:xfrm>
            <a:off x="571500" y="402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Run the application</a:t>
            </a:r>
            <a:endParaRPr/>
          </a:p>
        </p:txBody>
      </p:sp>
      <p:sp>
        <p:nvSpPr>
          <p:cNvPr id="303" name="Google Shape;303;p39"/>
          <p:cNvSpPr txBox="1"/>
          <p:nvPr/>
        </p:nvSpPr>
        <p:spPr>
          <a:xfrm>
            <a:off x="571500" y="1317650"/>
            <a:ext cx="10974000" cy="915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US" sz="1900">
                <a:solidFill>
                  <a:schemeClr val="dk1"/>
                </a:solidFill>
                <a:latin typeface="Poppins"/>
                <a:ea typeface="Poppins"/>
                <a:cs typeface="Poppins"/>
                <a:sym typeface="Poppins"/>
              </a:rPr>
              <a:t>Run the application and check if it works. You should see the following in the console log:</a:t>
            </a:r>
            <a:endParaRPr sz="1900">
              <a:solidFill>
                <a:schemeClr val="dk1"/>
              </a:solidFill>
              <a:latin typeface="Poppins"/>
              <a:ea typeface="Poppins"/>
              <a:cs typeface="Poppins"/>
              <a:sym typeface="Poppins"/>
            </a:endParaRPr>
          </a:p>
        </p:txBody>
      </p:sp>
      <p:sp>
        <p:nvSpPr>
          <p:cNvPr id="304" name="Google Shape;304;p39"/>
          <p:cNvSpPr txBox="1"/>
          <p:nvPr/>
        </p:nvSpPr>
        <p:spPr>
          <a:xfrm>
            <a:off x="323250" y="2358275"/>
            <a:ext cx="11545500" cy="4056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org.hibernate.jpa.internal.util.LogHelper logPersistenceUnitInformation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HHH008540: Processing PersistenceUnitInfo [name: default]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org.hibernate.Version logVersion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HHH000001: Hibernate ORM core version 7.2.0.Final</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org.hibernate.engine.jdbc.connections.internal.DriverManagerConnectionProvider configure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WARN: HHH10001002: Using built-in connection pool (not intended for production use)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org.hibernate.engine.jdbc.env.internal.JdbcEnvironmentInitiator logConnectionInfo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HHH10001005: Database 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JDBC URL [jdbc:postgresql://localhost:5432/sandboxdb]</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driver: PostgreSQL JDBC Driver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dialect: PostgreSQLDialect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version: 18.0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Default catalog/schema: sandboxdb/public</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Autocommit mode: false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Isolation level: READ_COMMITTED</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JDBC fetch size: none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Pool: DriverManagerConnectionProvider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Minimum pool size: 1</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Maximum pool size: 20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org.hibernate.engine.transaction.jta.platform.internal.JtaPlatformInitiator initiateService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HHH000489: No JTA platform available (set 'hibernate.transaction.jta.platform' to enable JTA platform integration)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BEBEB"/>
                </a:solidFill>
                <a:highlight>
                  <a:srgbClr val="2F2F2F"/>
                </a:highlight>
                <a:latin typeface="Courier New"/>
                <a:ea typeface="Courier New"/>
                <a:cs typeface="Courier New"/>
                <a:sym typeface="Courier New"/>
              </a:rPr>
              <a:t>entity manager open, ready to create transaction</a:t>
            </a:r>
            <a:endParaRPr sz="10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8" name="Shape 308"/>
        <p:cNvGrpSpPr/>
        <p:nvPr/>
      </p:nvGrpSpPr>
      <p:grpSpPr>
        <a:xfrm>
          <a:off x="0" y="0"/>
          <a:ext cx="0" cy="0"/>
          <a:chOff x="0" y="0"/>
          <a:chExt cx="0" cy="0"/>
        </a:xfrm>
      </p:grpSpPr>
      <p:pic>
        <p:nvPicPr>
          <p:cNvPr descr="image.png" id="309" name="Google Shape;309;p4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10" name="Google Shape;310;p40"/>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1" name="Google Shape;311;p40"/>
          <p:cNvSpPr txBox="1"/>
          <p:nvPr/>
        </p:nvSpPr>
        <p:spPr>
          <a:xfrm>
            <a:off x="571500" y="402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M6_Activity1 - Project Setup</a:t>
            </a:r>
            <a:endParaRPr/>
          </a:p>
        </p:txBody>
      </p:sp>
      <p:sp>
        <p:nvSpPr>
          <p:cNvPr id="312" name="Google Shape;312;p40"/>
          <p:cNvSpPr txBox="1"/>
          <p:nvPr/>
        </p:nvSpPr>
        <p:spPr>
          <a:xfrm>
            <a:off x="571500" y="1475775"/>
            <a:ext cx="10974000" cy="4787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US" sz="2600">
                <a:solidFill>
                  <a:schemeClr val="dk1"/>
                </a:solidFill>
                <a:latin typeface="Poppins"/>
                <a:ea typeface="Poppins"/>
                <a:cs typeface="Poppins"/>
                <a:sym typeface="Poppins"/>
              </a:rPr>
              <a:t>Objective: </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Create a Maven project.</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Add the Hibernate ORM and PostgreSQL driver dependencies to the pom.xml file.</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Configure the persistence.xml file.</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Create a utility class responsible for managing the EntityManager.</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Use the utility class to test creating a entity manager.</a:t>
            </a:r>
            <a:endParaRPr sz="1900">
              <a:solidFill>
                <a:schemeClr val="dk1"/>
              </a:solidFill>
              <a:latin typeface="Poppins"/>
              <a:ea typeface="Poppins"/>
              <a:cs typeface="Poppins"/>
              <a:sym typeface="Poppi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pic>
        <p:nvPicPr>
          <p:cNvPr descr="image.png" id="317" name="Google Shape;317;p4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18" name="Google Shape;318;p41"/>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41"/>
          <p:cNvSpPr txBox="1"/>
          <p:nvPr/>
        </p:nvSpPr>
        <p:spPr>
          <a:xfrm>
            <a:off x="571500" y="402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M6_Activity1 - Output</a:t>
            </a:r>
            <a:endParaRPr/>
          </a:p>
        </p:txBody>
      </p:sp>
      <p:sp>
        <p:nvSpPr>
          <p:cNvPr id="320" name="Google Shape;320;p41"/>
          <p:cNvSpPr txBox="1"/>
          <p:nvPr/>
        </p:nvSpPr>
        <p:spPr>
          <a:xfrm>
            <a:off x="323250" y="1679625"/>
            <a:ext cx="11545500" cy="4056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org.hibernate.jpa.internal.util.LogHelper logPersistenceUnitInformation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HHH008540: Processing PersistenceUnitInfo [name: default]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org.hibernate.Version logVersion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HHH000001: Hibernate ORM core version 7.2.0.Final</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org.hibernate.engine.jdbc.connections.internal.DriverManagerConnectionProvider configure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WARN: HHH10001002: Using built-in connection pool (not intended for production use)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org.hibernate.engine.jdbc.env.internal.JdbcEnvironmentInitiator logConnectionInfo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HHH10001005: Database 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JDBC URL [jdbc:postgresql://localhost:5432/sandboxdb]</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driver: PostgreSQL JDBC Driver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dialect: PostgreSQLDialect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version: 18.0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Default catalog/schema: sandboxdb/public</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Autocommit mode: false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Isolation level: READ_COMMITTED</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JDBC fetch size: none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Pool: DriverManagerConnectionProvider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Minimum pool size: 1</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Maximum pool size: 20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org.hibernate.engine.transaction.jta.platform.internal.JtaPlatformInitiator initiateService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HHH000489: No JTA platform available (set 'hibernate.transaction.jta.platform' to enable JTA platform integration)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BEBEB"/>
                </a:solidFill>
                <a:highlight>
                  <a:srgbClr val="2F2F2F"/>
                </a:highlight>
                <a:latin typeface="Courier New"/>
                <a:ea typeface="Courier New"/>
                <a:cs typeface="Courier New"/>
                <a:sym typeface="Courier New"/>
              </a:rPr>
              <a:t>entity manager open, ready to create transaction</a:t>
            </a:r>
            <a:endParaRPr sz="10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4" name="Shape 324"/>
        <p:cNvGrpSpPr/>
        <p:nvPr/>
      </p:nvGrpSpPr>
      <p:grpSpPr>
        <a:xfrm>
          <a:off x="0" y="0"/>
          <a:ext cx="0" cy="0"/>
          <a:chOff x="0" y="0"/>
          <a:chExt cx="0" cy="0"/>
        </a:xfrm>
      </p:grpSpPr>
      <p:pic>
        <p:nvPicPr>
          <p:cNvPr descr="image.png" id="325" name="Google Shape;325;p4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26" name="Google Shape;326;p42"/>
          <p:cNvSpPr txBox="1"/>
          <p:nvPr/>
        </p:nvSpPr>
        <p:spPr>
          <a:xfrm>
            <a:off x="784350" y="3013350"/>
            <a:ext cx="10623300" cy="8313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400">
                <a:solidFill>
                  <a:srgbClr val="B91C1C"/>
                </a:solidFill>
                <a:latin typeface="Poppins"/>
                <a:ea typeface="Poppins"/>
                <a:cs typeface="Poppins"/>
                <a:sym typeface="Poppins"/>
              </a:rPr>
              <a:t>JPA Annotations</a:t>
            </a:r>
            <a:endParaRPr b="1" sz="5400">
              <a:solidFill>
                <a:srgbClr val="B91C1C"/>
              </a:solidFill>
              <a:latin typeface="Poppins"/>
              <a:ea typeface="Poppins"/>
              <a:cs typeface="Poppins"/>
              <a:sym typeface="Poppin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pic>
        <p:nvPicPr>
          <p:cNvPr descr="image.png" id="331" name="Google Shape;331;p4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32" name="Google Shape;332;p43"/>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Objectives</a:t>
            </a:r>
            <a:endParaRPr>
              <a:solidFill>
                <a:srgbClr val="B91C1C"/>
              </a:solidFill>
            </a:endParaRPr>
          </a:p>
        </p:txBody>
      </p:sp>
      <p:sp>
        <p:nvSpPr>
          <p:cNvPr id="333" name="Google Shape;333;p4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4" name="Google Shape;334;p43"/>
          <p:cNvSpPr txBox="1"/>
          <p:nvPr/>
        </p:nvSpPr>
        <p:spPr>
          <a:xfrm>
            <a:off x="822150" y="1989750"/>
            <a:ext cx="10582500" cy="2706000"/>
          </a:xfrm>
          <a:prstGeom prst="rect">
            <a:avLst/>
          </a:prstGeom>
          <a:noFill/>
          <a:ln>
            <a:noFill/>
          </a:ln>
        </p:spPr>
        <p:txBody>
          <a:bodyPr anchorCtr="0" anchor="t" bIns="0" lIns="0" spcFirstLastPara="1" rIns="0" wrap="square" tIns="0">
            <a:spAutoFit/>
          </a:bodyPr>
          <a:lstStyle/>
          <a:p>
            <a:pPr indent="-419100" lvl="0" marL="457200" marR="0" rtl="0" algn="l">
              <a:lnSpc>
                <a:spcPct val="150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Understand what Entities are</a:t>
            </a:r>
            <a:endParaRPr b="1" sz="3000">
              <a:solidFill>
                <a:schemeClr val="dk1"/>
              </a:solidFill>
              <a:latin typeface="Poppins"/>
              <a:ea typeface="Poppins"/>
              <a:cs typeface="Poppins"/>
              <a:sym typeface="Poppins"/>
            </a:endParaRPr>
          </a:p>
          <a:p>
            <a:pPr indent="-419100" lvl="0" marL="457200" marR="0" rtl="0" algn="l">
              <a:lnSpc>
                <a:spcPct val="150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Learn to use JPA Annotations to:</a:t>
            </a:r>
            <a:endParaRPr b="1" sz="3000">
              <a:solidFill>
                <a:schemeClr val="dk1"/>
              </a:solidFill>
              <a:latin typeface="Poppins"/>
              <a:ea typeface="Poppins"/>
              <a:cs typeface="Poppins"/>
              <a:sym typeface="Poppins"/>
            </a:endParaRPr>
          </a:p>
          <a:p>
            <a:pPr indent="-393700" lvl="0" marL="914400" marR="0" rtl="0" algn="l">
              <a:lnSpc>
                <a:spcPct val="115000"/>
              </a:lnSpc>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Create Entities</a:t>
            </a:r>
            <a:endParaRPr sz="2600">
              <a:solidFill>
                <a:schemeClr val="dk1"/>
              </a:solidFill>
              <a:latin typeface="Poppins"/>
              <a:ea typeface="Poppins"/>
              <a:cs typeface="Poppins"/>
              <a:sym typeface="Poppins"/>
            </a:endParaRPr>
          </a:p>
          <a:p>
            <a:pPr indent="-393700" lvl="0" marL="914400" marR="0" rtl="0" algn="l">
              <a:lnSpc>
                <a:spcPct val="115000"/>
              </a:lnSpc>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Map entity fields to table columns</a:t>
            </a:r>
            <a:endParaRPr sz="2600">
              <a:solidFill>
                <a:schemeClr val="dk1"/>
              </a:solidFill>
              <a:latin typeface="Poppins"/>
              <a:ea typeface="Poppins"/>
              <a:cs typeface="Poppins"/>
              <a:sym typeface="Poppins"/>
            </a:endParaRPr>
          </a:p>
          <a:p>
            <a:pPr indent="-393700" lvl="0" marL="914400" marR="0" rtl="0" algn="l">
              <a:lnSpc>
                <a:spcPct val="115000"/>
              </a:lnSpc>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Model entity relationships</a:t>
            </a:r>
            <a:endParaRPr sz="2600">
              <a:solidFill>
                <a:schemeClr val="dk1"/>
              </a:solidFill>
              <a:latin typeface="Poppins"/>
              <a:ea typeface="Poppins"/>
              <a:cs typeface="Poppins"/>
              <a:sym typeface="Poppi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pic>
        <p:nvPicPr>
          <p:cNvPr descr="image.png" id="339" name="Google Shape;339;p4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40" name="Google Shape;340;p44"/>
          <p:cNvSpPr txBox="1"/>
          <p:nvPr/>
        </p:nvSpPr>
        <p:spPr>
          <a:xfrm>
            <a:off x="495525" y="47382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600">
                <a:solidFill>
                  <a:srgbClr val="B91C1C"/>
                </a:solidFill>
                <a:latin typeface="Poppins"/>
                <a:ea typeface="Poppins"/>
                <a:cs typeface="Poppins"/>
                <a:sym typeface="Poppins"/>
              </a:rPr>
              <a:t>Java Annotations</a:t>
            </a:r>
            <a:endParaRPr b="1" sz="3600">
              <a:solidFill>
                <a:srgbClr val="B91C1C"/>
              </a:solidFill>
              <a:latin typeface="Poppins"/>
              <a:ea typeface="Poppins"/>
              <a:cs typeface="Poppins"/>
              <a:sym typeface="Poppins"/>
            </a:endParaRPr>
          </a:p>
        </p:txBody>
      </p:sp>
      <p:sp>
        <p:nvSpPr>
          <p:cNvPr id="341" name="Google Shape;341;p44"/>
          <p:cNvSpPr/>
          <p:nvPr/>
        </p:nvSpPr>
        <p:spPr>
          <a:xfrm>
            <a:off x="495525" y="1139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2" name="Google Shape;342;p44"/>
          <p:cNvSpPr txBox="1"/>
          <p:nvPr/>
        </p:nvSpPr>
        <p:spPr>
          <a:xfrm>
            <a:off x="522075" y="1270725"/>
            <a:ext cx="10995900" cy="5124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Java annotations are labels you attach to code (classes, methods, fields, etc.) to provide extra information to the compiler or frameworks/libraries (Hibernate).</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rPr lang="en-US" sz="2100">
                <a:solidFill>
                  <a:schemeClr val="dk1"/>
                </a:solidFill>
                <a:latin typeface="Poppins"/>
                <a:ea typeface="Poppins"/>
                <a:cs typeface="Poppins"/>
                <a:sym typeface="Poppins"/>
              </a:rPr>
              <a:t>They do not change the logic of the code.</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rPr lang="en-US" sz="2100">
                <a:solidFill>
                  <a:schemeClr val="dk1"/>
                </a:solidFill>
                <a:latin typeface="Poppins"/>
                <a:ea typeface="Poppins"/>
                <a:cs typeface="Poppins"/>
                <a:sym typeface="Poppins"/>
              </a:rPr>
              <a:t>Instead, they tell the compiler, tools and frameworks(like Hibernate) how to treat your code.</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t/>
            </a:r>
            <a:endParaRPr sz="2100">
              <a:solidFill>
                <a:schemeClr val="dk1"/>
              </a:solidFill>
              <a:latin typeface="Poppins"/>
              <a:ea typeface="Poppins"/>
              <a:cs typeface="Poppins"/>
              <a:sym typeface="Poppins"/>
            </a:endParaRPr>
          </a:p>
          <a:p>
            <a:pPr indent="0" lvl="0" marL="0" marR="0" rtl="0" algn="l">
              <a:lnSpc>
                <a:spcPct val="115000"/>
              </a:lnSpc>
              <a:spcBef>
                <a:spcPts val="1200"/>
              </a:spcBef>
              <a:spcAft>
                <a:spcPts val="0"/>
              </a:spcAft>
              <a:buNone/>
            </a:pPr>
            <a:r>
              <a:rPr lang="en-US" sz="2100">
                <a:solidFill>
                  <a:schemeClr val="dk1"/>
                </a:solidFill>
                <a:latin typeface="Poppins"/>
                <a:ea typeface="Poppins"/>
                <a:cs typeface="Poppins"/>
                <a:sym typeface="Poppins"/>
              </a:rPr>
              <a:t>By using annotations, you can significantly reduce boilerplate code—they replace repetitive configuration and setup (like XML or manual wiring) with simple, declarative metadata, making the code cleaner, shorter, and easier to maintain.</a:t>
            </a:r>
            <a:endParaRPr sz="2100">
              <a:solidFill>
                <a:schemeClr val="dk1"/>
              </a:solidFill>
              <a:latin typeface="Poppins"/>
              <a:ea typeface="Poppins"/>
              <a:cs typeface="Poppins"/>
              <a:sym typeface="Poppin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pic>
        <p:nvPicPr>
          <p:cNvPr descr="image.png" id="347" name="Google Shape;347;p4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48" name="Google Shape;348;p45"/>
          <p:cNvSpPr txBox="1"/>
          <p:nvPr/>
        </p:nvSpPr>
        <p:spPr>
          <a:xfrm>
            <a:off x="571500" y="3436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Java Annotations Sample</a:t>
            </a:r>
            <a:endParaRPr b="1" sz="3600">
              <a:solidFill>
                <a:srgbClr val="B91C1C"/>
              </a:solidFill>
              <a:latin typeface="Poppins"/>
              <a:ea typeface="Poppins"/>
              <a:cs typeface="Poppins"/>
              <a:sym typeface="Poppins"/>
            </a:endParaRPr>
          </a:p>
        </p:txBody>
      </p:sp>
      <p:sp>
        <p:nvSpPr>
          <p:cNvPr id="349" name="Google Shape;349;p45"/>
          <p:cNvSpPr/>
          <p:nvPr/>
        </p:nvSpPr>
        <p:spPr>
          <a:xfrm>
            <a:off x="571500" y="897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0" name="Google Shape;350;p45"/>
          <p:cNvSpPr txBox="1"/>
          <p:nvPr/>
        </p:nvSpPr>
        <p:spPr>
          <a:xfrm>
            <a:off x="571500" y="1076325"/>
            <a:ext cx="110490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808080"/>
                </a:solidFill>
                <a:highlight>
                  <a:srgbClr val="1E1F22"/>
                </a:highlight>
                <a:latin typeface="Courier New"/>
                <a:ea typeface="Courier New"/>
                <a:cs typeface="Courier New"/>
                <a:sym typeface="Courier New"/>
              </a:rPr>
              <a:t>//Class-level annotation</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@SuppressWarnings</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suppress compiler warnings for the whole class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Calculator</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Field-level annotation</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@Deprecated</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marks the field as </a:t>
            </a:r>
            <a:r>
              <a:rPr lang="en-US" sz="1200" u="sng">
                <a:solidFill>
                  <a:srgbClr val="808080"/>
                </a:solidFill>
                <a:highlight>
                  <a:srgbClr val="1E1F22"/>
                </a:highlight>
                <a:latin typeface="Courier New"/>
                <a:ea typeface="Courier New"/>
                <a:cs typeface="Courier New"/>
                <a:sym typeface="Courier New"/>
              </a:rPr>
              <a:t>outdated</a:t>
            </a:r>
            <a:endParaRPr sz="1200" u="sng">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"Simple Calculator"</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Method-level annotations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indicates we are overriding a method from Object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 (lastResult="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@Deprecated</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mark method as outdated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@SuppressWarnings</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"unused"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suppress warnings in this method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multiply</a:t>
            </a:r>
            <a:r>
              <a:rPr lang="en-US" sz="1200">
                <a:solidFill>
                  <a:srgbClr val="F9FAF4"/>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4" name="Shape 354"/>
        <p:cNvGrpSpPr/>
        <p:nvPr/>
      </p:nvGrpSpPr>
      <p:grpSpPr>
        <a:xfrm>
          <a:off x="0" y="0"/>
          <a:ext cx="0" cy="0"/>
          <a:chOff x="0" y="0"/>
          <a:chExt cx="0" cy="0"/>
        </a:xfrm>
      </p:grpSpPr>
      <p:pic>
        <p:nvPicPr>
          <p:cNvPr descr="image.png" id="355" name="Google Shape;355;p4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56" name="Google Shape;356;p46"/>
          <p:cNvSpPr txBox="1"/>
          <p:nvPr/>
        </p:nvSpPr>
        <p:spPr>
          <a:xfrm>
            <a:off x="495525" y="2829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600">
                <a:solidFill>
                  <a:srgbClr val="B91C1C"/>
                </a:solidFill>
                <a:latin typeface="Poppins"/>
                <a:ea typeface="Poppins"/>
                <a:cs typeface="Poppins"/>
                <a:sym typeface="Poppins"/>
              </a:rPr>
              <a:t>JPA Annotations</a:t>
            </a:r>
            <a:endParaRPr b="1" sz="3600">
              <a:solidFill>
                <a:srgbClr val="B91C1C"/>
              </a:solidFill>
              <a:latin typeface="Poppins"/>
              <a:ea typeface="Poppins"/>
              <a:cs typeface="Poppins"/>
              <a:sym typeface="Poppins"/>
            </a:endParaRPr>
          </a:p>
        </p:txBody>
      </p:sp>
      <p:sp>
        <p:nvSpPr>
          <p:cNvPr id="357" name="Google Shape;357;p46"/>
          <p:cNvSpPr/>
          <p:nvPr/>
        </p:nvSpPr>
        <p:spPr>
          <a:xfrm>
            <a:off x="495525" y="9250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8" name="Google Shape;358;p46"/>
          <p:cNvSpPr txBox="1"/>
          <p:nvPr/>
        </p:nvSpPr>
        <p:spPr>
          <a:xfrm>
            <a:off x="522075" y="1032150"/>
            <a:ext cx="10995900" cy="5652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JPA annotations are used to map Java classes to database tables and define relationships, constraints, and behaviors for entity classes.</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What are Entities in JPA?</a:t>
            </a:r>
            <a:endParaRPr b="1"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Entities in JPA are java objects representing data that can be persisted in the database. </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An entity class represents a table. Every instance of an entity class represents a row in the table.</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Representation</a:t>
            </a:r>
            <a:r>
              <a:rPr lang="en-US" sz="2400">
                <a:solidFill>
                  <a:schemeClr val="dk1"/>
                </a:solidFill>
                <a:latin typeface="Poppins"/>
                <a:ea typeface="Poppins"/>
                <a:cs typeface="Poppins"/>
                <a:sym typeface="Poppins"/>
              </a:rPr>
              <a:t>:</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class</a:t>
            </a:r>
            <a:r>
              <a:rPr lang="en-US" sz="2400">
                <a:solidFill>
                  <a:schemeClr val="dk1"/>
                </a:solidFill>
                <a:latin typeface="Poppins"/>
                <a:ea typeface="Poppins"/>
                <a:cs typeface="Poppins"/>
                <a:sym typeface="Poppins"/>
              </a:rPr>
              <a:t> → Database table</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fields</a:t>
            </a:r>
            <a:r>
              <a:rPr lang="en-US" sz="2400">
                <a:solidFill>
                  <a:schemeClr val="dk1"/>
                </a:solidFill>
                <a:latin typeface="Poppins"/>
                <a:ea typeface="Poppins"/>
                <a:cs typeface="Poppins"/>
                <a:sym typeface="Poppins"/>
              </a:rPr>
              <a:t> inside the entity class → Table column</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object</a:t>
            </a:r>
            <a:r>
              <a:rPr lang="en-US" sz="2400">
                <a:solidFill>
                  <a:schemeClr val="dk1"/>
                </a:solidFill>
                <a:latin typeface="Poppins"/>
                <a:ea typeface="Poppins"/>
                <a:cs typeface="Poppins"/>
                <a:sym typeface="Poppins"/>
              </a:rPr>
              <a:t> (instance of entity class) → A row in the table</a:t>
            </a:r>
            <a:endParaRPr sz="2400">
              <a:solidFill>
                <a:schemeClr val="dk1"/>
              </a:solidFill>
              <a:latin typeface="Poppins"/>
              <a:ea typeface="Poppins"/>
              <a:cs typeface="Poppins"/>
              <a:sym typeface="Poppins"/>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2" name="Shape 362"/>
        <p:cNvGrpSpPr/>
        <p:nvPr/>
      </p:nvGrpSpPr>
      <p:grpSpPr>
        <a:xfrm>
          <a:off x="0" y="0"/>
          <a:ext cx="0" cy="0"/>
          <a:chOff x="0" y="0"/>
          <a:chExt cx="0" cy="0"/>
        </a:xfrm>
      </p:grpSpPr>
      <p:pic>
        <p:nvPicPr>
          <p:cNvPr descr="image.png" id="363" name="Google Shape;363;p4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64" name="Google Shape;364;p47"/>
          <p:cNvSpPr txBox="1"/>
          <p:nvPr/>
        </p:nvSpPr>
        <p:spPr>
          <a:xfrm>
            <a:off x="495525" y="354300"/>
            <a:ext cx="11601600" cy="56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700">
                <a:solidFill>
                  <a:srgbClr val="B91C1C"/>
                </a:solidFill>
                <a:latin typeface="Poppins"/>
                <a:ea typeface="Poppins"/>
                <a:cs typeface="Poppins"/>
                <a:sym typeface="Poppins"/>
              </a:rPr>
              <a:t>Entity class</a:t>
            </a:r>
            <a:endParaRPr b="1" sz="3700">
              <a:solidFill>
                <a:srgbClr val="B91C1C"/>
              </a:solidFill>
              <a:latin typeface="Poppins"/>
              <a:ea typeface="Poppins"/>
              <a:cs typeface="Poppins"/>
              <a:sym typeface="Poppins"/>
            </a:endParaRPr>
          </a:p>
        </p:txBody>
      </p:sp>
      <p:sp>
        <p:nvSpPr>
          <p:cNvPr id="365" name="Google Shape;365;p47"/>
          <p:cNvSpPr/>
          <p:nvPr/>
        </p:nvSpPr>
        <p:spPr>
          <a:xfrm>
            <a:off x="495525" y="1065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6" name="Google Shape;366;p47"/>
          <p:cNvSpPr txBox="1"/>
          <p:nvPr/>
        </p:nvSpPr>
        <p:spPr>
          <a:xfrm>
            <a:off x="495525" y="3884575"/>
            <a:ext cx="11049000" cy="945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300">
                <a:solidFill>
                  <a:schemeClr val="dk1"/>
                </a:solidFill>
                <a:latin typeface="Poppins"/>
                <a:ea typeface="Poppins"/>
                <a:cs typeface="Poppins"/>
                <a:sym typeface="Poppins"/>
              </a:rPr>
              <a:t>For example, Student class is an </a:t>
            </a:r>
            <a:r>
              <a:rPr b="1" lang="en-US" sz="2300">
                <a:solidFill>
                  <a:schemeClr val="dk1"/>
                </a:solidFill>
                <a:latin typeface="Poppins"/>
                <a:ea typeface="Poppins"/>
                <a:cs typeface="Poppins"/>
                <a:sym typeface="Poppins"/>
              </a:rPr>
              <a:t>entity class</a:t>
            </a:r>
            <a:r>
              <a:rPr lang="en-US" sz="2300">
                <a:solidFill>
                  <a:schemeClr val="dk1"/>
                </a:solidFill>
                <a:latin typeface="Poppins"/>
                <a:ea typeface="Poppins"/>
                <a:cs typeface="Poppins"/>
                <a:sym typeface="Poppins"/>
              </a:rPr>
              <a:t> because it represents the students table in the database</a:t>
            </a:r>
            <a:endParaRPr sz="2300">
              <a:solidFill>
                <a:schemeClr val="dk1"/>
              </a:solidFill>
              <a:latin typeface="Poppins"/>
              <a:ea typeface="Poppins"/>
              <a:cs typeface="Poppins"/>
              <a:sym typeface="Poppins"/>
            </a:endParaRPr>
          </a:p>
        </p:txBody>
      </p:sp>
      <p:sp>
        <p:nvSpPr>
          <p:cNvPr id="367" name="Google Shape;367;p47"/>
          <p:cNvSpPr txBox="1"/>
          <p:nvPr/>
        </p:nvSpPr>
        <p:spPr>
          <a:xfrm>
            <a:off x="3924300" y="1281638"/>
            <a:ext cx="4343400" cy="2495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100">
                <a:solidFill>
                  <a:srgbClr val="A0A0A0"/>
                </a:solidFill>
                <a:highlight>
                  <a:srgbClr val="1E1F22"/>
                </a:highlight>
                <a:latin typeface="Courier New"/>
                <a:ea typeface="Courier New"/>
                <a:cs typeface="Courier New"/>
                <a:sym typeface="Courier New"/>
              </a:rPr>
              <a:t>@Entity</a:t>
            </a:r>
            <a:endParaRPr i="1" sz="11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100">
                <a:solidFill>
                  <a:srgbClr val="A0A0A0"/>
                </a:solidFill>
                <a:highlight>
                  <a:srgbClr val="1E1F22"/>
                </a:highlight>
                <a:latin typeface="Courier New"/>
                <a:ea typeface="Courier New"/>
                <a:cs typeface="Courier New"/>
                <a:sym typeface="Courier New"/>
              </a:rPr>
              <a:t>@Table</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"students"</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CC6C1D"/>
                </a:solidFill>
                <a:highlight>
                  <a:srgbClr val="1E1F22"/>
                </a:highlight>
                <a:latin typeface="Courier New"/>
                <a:ea typeface="Courier New"/>
                <a:cs typeface="Courier New"/>
                <a:sym typeface="Courier New"/>
              </a:rPr>
              <a:t>public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class</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@Id</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Long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id</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name</a:t>
            </a:r>
            <a:r>
              <a:rPr lang="en-US" sz="1100">
                <a:solidFill>
                  <a:srgbClr val="E6E6FA"/>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int</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age</a:t>
            </a:r>
            <a:r>
              <a:rPr lang="en-US" sz="1100">
                <a:solidFill>
                  <a:srgbClr val="E6E6FA"/>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email</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p:txBody>
      </p:sp>
      <p:pic>
        <p:nvPicPr>
          <p:cNvPr id="368" name="Google Shape;368;p47" title="students.drawio.png"/>
          <p:cNvPicPr preferRelativeResize="0"/>
          <p:nvPr/>
        </p:nvPicPr>
        <p:blipFill>
          <a:blip r:embed="rId4">
            <a:alphaModFix/>
          </a:blip>
          <a:stretch>
            <a:fillRect/>
          </a:stretch>
        </p:blipFill>
        <p:spPr>
          <a:xfrm>
            <a:off x="4749925" y="4830475"/>
            <a:ext cx="2241100" cy="186965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pic>
        <p:nvPicPr>
          <p:cNvPr descr="image.png" id="373" name="Google Shape;373;p4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74" name="Google Shape;374;p48"/>
          <p:cNvSpPr txBox="1"/>
          <p:nvPr/>
        </p:nvSpPr>
        <p:spPr>
          <a:xfrm>
            <a:off x="495525" y="354300"/>
            <a:ext cx="11601600" cy="56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700">
                <a:solidFill>
                  <a:srgbClr val="B91C1C"/>
                </a:solidFill>
                <a:latin typeface="Poppins"/>
                <a:ea typeface="Poppins"/>
                <a:cs typeface="Poppins"/>
                <a:sym typeface="Poppins"/>
              </a:rPr>
              <a:t>Entity object</a:t>
            </a:r>
            <a:endParaRPr b="1" sz="3700">
              <a:solidFill>
                <a:srgbClr val="B91C1C"/>
              </a:solidFill>
              <a:latin typeface="Poppins"/>
              <a:ea typeface="Poppins"/>
              <a:cs typeface="Poppins"/>
              <a:sym typeface="Poppins"/>
            </a:endParaRPr>
          </a:p>
        </p:txBody>
      </p:sp>
      <p:sp>
        <p:nvSpPr>
          <p:cNvPr id="375" name="Google Shape;375;p48"/>
          <p:cNvSpPr/>
          <p:nvPr/>
        </p:nvSpPr>
        <p:spPr>
          <a:xfrm>
            <a:off x="495525" y="1065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6" name="Google Shape;376;p48"/>
          <p:cNvSpPr txBox="1"/>
          <p:nvPr/>
        </p:nvSpPr>
        <p:spPr>
          <a:xfrm>
            <a:off x="495525" y="2655800"/>
            <a:ext cx="11049000" cy="978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400">
                <a:solidFill>
                  <a:schemeClr val="dk1"/>
                </a:solidFill>
                <a:latin typeface="Poppins"/>
                <a:ea typeface="Poppins"/>
                <a:cs typeface="Poppins"/>
                <a:sym typeface="Poppins"/>
              </a:rPr>
              <a:t>The object newStudent, instantiated from the Student entity class, is an </a:t>
            </a:r>
            <a:r>
              <a:rPr b="1" lang="en-US" sz="2400">
                <a:solidFill>
                  <a:schemeClr val="dk1"/>
                </a:solidFill>
                <a:latin typeface="Poppins"/>
                <a:ea typeface="Poppins"/>
                <a:cs typeface="Poppins"/>
                <a:sym typeface="Poppins"/>
              </a:rPr>
              <a:t>entity object</a:t>
            </a:r>
            <a:r>
              <a:rPr lang="en-US" sz="2400">
                <a:solidFill>
                  <a:schemeClr val="dk1"/>
                </a:solidFill>
                <a:latin typeface="Poppins"/>
                <a:ea typeface="Poppins"/>
                <a:cs typeface="Poppins"/>
                <a:sym typeface="Poppins"/>
              </a:rPr>
              <a:t> and represents a row in the database when it is persisted.</a:t>
            </a:r>
            <a:endParaRPr sz="2400">
              <a:solidFill>
                <a:schemeClr val="dk1"/>
              </a:solidFill>
              <a:latin typeface="Poppins"/>
              <a:ea typeface="Poppins"/>
              <a:cs typeface="Poppins"/>
              <a:sym typeface="Poppins"/>
            </a:endParaRPr>
          </a:p>
        </p:txBody>
      </p:sp>
      <p:sp>
        <p:nvSpPr>
          <p:cNvPr id="377" name="Google Shape;377;p48"/>
          <p:cNvSpPr txBox="1"/>
          <p:nvPr/>
        </p:nvSpPr>
        <p:spPr>
          <a:xfrm>
            <a:off x="2019375" y="1553775"/>
            <a:ext cx="8553900" cy="100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 Dela Cruz"</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"juandelacruz@gmail.com"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pic>
        <p:nvPicPr>
          <p:cNvPr id="378" name="Google Shape;378;p48"/>
          <p:cNvPicPr preferRelativeResize="0"/>
          <p:nvPr/>
        </p:nvPicPr>
        <p:blipFill>
          <a:blip r:embed="rId4">
            <a:alphaModFix/>
          </a:blip>
          <a:stretch>
            <a:fillRect/>
          </a:stretch>
        </p:blipFill>
        <p:spPr>
          <a:xfrm>
            <a:off x="3819825" y="3694500"/>
            <a:ext cx="4953000" cy="26670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2" name="Shape 382"/>
        <p:cNvGrpSpPr/>
        <p:nvPr/>
      </p:nvGrpSpPr>
      <p:grpSpPr>
        <a:xfrm>
          <a:off x="0" y="0"/>
          <a:ext cx="0" cy="0"/>
          <a:chOff x="0" y="0"/>
          <a:chExt cx="0" cy="0"/>
        </a:xfrm>
      </p:grpSpPr>
      <p:pic>
        <p:nvPicPr>
          <p:cNvPr descr="image.png" id="383" name="Google Shape;383;p4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84" name="Google Shape;384;p49"/>
          <p:cNvSpPr txBox="1"/>
          <p:nvPr/>
        </p:nvSpPr>
        <p:spPr>
          <a:xfrm>
            <a:off x="571500" y="44027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@Entity</a:t>
            </a:r>
            <a:endParaRPr b="1" sz="3600">
              <a:solidFill>
                <a:srgbClr val="B91C1C"/>
              </a:solidFill>
              <a:latin typeface="Poppins"/>
              <a:ea typeface="Poppins"/>
              <a:cs typeface="Poppins"/>
              <a:sym typeface="Poppins"/>
            </a:endParaRPr>
          </a:p>
        </p:txBody>
      </p:sp>
      <p:sp>
        <p:nvSpPr>
          <p:cNvPr id="385" name="Google Shape;385;p49"/>
          <p:cNvSpPr/>
          <p:nvPr/>
        </p:nvSpPr>
        <p:spPr>
          <a:xfrm>
            <a:off x="571500" y="1137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6" name="Google Shape;386;p49"/>
          <p:cNvSpPr txBox="1"/>
          <p:nvPr/>
        </p:nvSpPr>
        <p:spPr>
          <a:xfrm>
            <a:off x="571501" y="1485325"/>
            <a:ext cx="11049000" cy="4587000"/>
          </a:xfrm>
          <a:prstGeom prst="rect">
            <a:avLst/>
          </a:prstGeom>
          <a:noFill/>
          <a:ln>
            <a:noFill/>
          </a:ln>
        </p:spPr>
        <p:txBody>
          <a:bodyPr anchorCtr="0" anchor="t" bIns="91425" lIns="91425" spcFirstLastPara="1" rIns="91425" wrap="square" tIns="91425">
            <a:spAutoFit/>
          </a:bodyPr>
          <a:lstStyle/>
          <a:p>
            <a:pPr indent="-368300" lvl="0" marL="457200" rtl="0" algn="l">
              <a:spcBef>
                <a:spcPts val="0"/>
              </a:spcBef>
              <a:spcAft>
                <a:spcPts val="0"/>
              </a:spcAft>
              <a:buClr>
                <a:schemeClr val="dk1"/>
              </a:buClr>
              <a:buSzPts val="2200"/>
              <a:buFont typeface="Poppins"/>
              <a:buChar char="●"/>
            </a:pPr>
            <a:r>
              <a:rPr lang="en-US" sz="2200">
                <a:solidFill>
                  <a:schemeClr val="dk1"/>
                </a:solidFill>
                <a:latin typeface="Poppins"/>
                <a:ea typeface="Poppins"/>
                <a:cs typeface="Poppins"/>
                <a:sym typeface="Poppins"/>
              </a:rPr>
              <a:t>Marks a class as an entity class, making objects instantiated from this class eligible for persistence.</a:t>
            </a:r>
            <a:endParaRPr sz="22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2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		Example:</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368300" lvl="0" marL="457200" rtl="0" algn="l">
              <a:spcBef>
                <a:spcPts val="0"/>
              </a:spcBef>
              <a:spcAft>
                <a:spcPts val="0"/>
              </a:spcAft>
              <a:buClr>
                <a:schemeClr val="dk1"/>
              </a:buClr>
              <a:buSzPts val="2200"/>
              <a:buFont typeface="Poppins"/>
              <a:buChar char="●"/>
            </a:pPr>
            <a:r>
              <a:rPr lang="en-US" sz="2200">
                <a:solidFill>
                  <a:schemeClr val="dk1"/>
                </a:solidFill>
                <a:latin typeface="Poppins"/>
                <a:ea typeface="Poppins"/>
                <a:cs typeface="Poppins"/>
                <a:sym typeface="Poppins"/>
              </a:rPr>
              <a:t>By default, hibernate uses the class name as the table and entity name. In our example, hibernate will translate it as “Student”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What if the table in the database have a different name, let say “students”?</a:t>
            </a:r>
            <a:endParaRPr sz="2200">
              <a:solidFill>
                <a:schemeClr val="dk1"/>
              </a:solidFill>
              <a:latin typeface="Poppins"/>
              <a:ea typeface="Poppins"/>
              <a:cs typeface="Poppins"/>
              <a:sym typeface="Poppins"/>
            </a:endParaRPr>
          </a:p>
        </p:txBody>
      </p:sp>
      <p:sp>
        <p:nvSpPr>
          <p:cNvPr id="387" name="Google Shape;387;p49"/>
          <p:cNvSpPr txBox="1"/>
          <p:nvPr/>
        </p:nvSpPr>
        <p:spPr>
          <a:xfrm>
            <a:off x="3330775" y="2847300"/>
            <a:ext cx="3000000" cy="648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@Entity</a:t>
            </a:r>
            <a:endParaRPr i="1">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class</a:t>
            </a: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Student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pic>
        <p:nvPicPr>
          <p:cNvPr descr="image.png" id="392" name="Google Shape;392;p50"/>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393" name="Google Shape;393;p5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@Table</a:t>
            </a:r>
            <a:endParaRPr b="1" sz="3600">
              <a:solidFill>
                <a:srgbClr val="B91C1C"/>
              </a:solidFill>
              <a:latin typeface="Poppins"/>
              <a:ea typeface="Poppins"/>
              <a:cs typeface="Poppins"/>
              <a:sym typeface="Poppins"/>
            </a:endParaRPr>
          </a:p>
        </p:txBody>
      </p:sp>
      <p:sp>
        <p:nvSpPr>
          <p:cNvPr id="394" name="Google Shape;394;p5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50"/>
          <p:cNvSpPr txBox="1"/>
          <p:nvPr/>
        </p:nvSpPr>
        <p:spPr>
          <a:xfrm>
            <a:off x="571500" y="1606000"/>
            <a:ext cx="11049000" cy="2678100"/>
          </a:xfrm>
          <a:prstGeom prst="rect">
            <a:avLst/>
          </a:prstGeom>
          <a:noFill/>
          <a:ln>
            <a:noFill/>
          </a:ln>
        </p:spPr>
        <p:txBody>
          <a:bodyPr anchorCtr="0" anchor="t" bIns="91425" lIns="91425" spcFirstLastPara="1" rIns="91425" wrap="square" tIns="91425">
            <a:spAutoFit/>
          </a:bodyPr>
          <a:lstStyle/>
          <a:p>
            <a:pPr indent="-400050" lvl="0" marL="457200" rtl="0" algn="l">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In most cases, the name of the table in the database and the name of the entity won’t be the same</a:t>
            </a:r>
            <a:endParaRPr sz="2700">
              <a:solidFill>
                <a:schemeClr val="dk1"/>
              </a:solidFill>
              <a:latin typeface="Poppins"/>
              <a:ea typeface="Poppins"/>
              <a:cs typeface="Poppins"/>
              <a:sym typeface="Poppins"/>
            </a:endParaRPr>
          </a:p>
          <a:p>
            <a:pPr indent="-400050" lvl="0" marL="457200" rtl="0" algn="l">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In these cases, we can </a:t>
            </a:r>
            <a:r>
              <a:rPr lang="en-US" sz="2700">
                <a:solidFill>
                  <a:schemeClr val="dk1"/>
                </a:solidFill>
                <a:latin typeface="Poppins"/>
                <a:ea typeface="Poppins"/>
                <a:cs typeface="Poppins"/>
                <a:sym typeface="Poppins"/>
              </a:rPr>
              <a:t>specify</a:t>
            </a:r>
            <a:r>
              <a:rPr lang="en-US" sz="2700">
                <a:solidFill>
                  <a:schemeClr val="dk1"/>
                </a:solidFill>
                <a:latin typeface="Poppins"/>
                <a:ea typeface="Poppins"/>
                <a:cs typeface="Poppins"/>
                <a:sym typeface="Poppins"/>
              </a:rPr>
              <a:t> the table name using this annotation</a:t>
            </a:r>
            <a:endParaRPr sz="2700">
              <a:solidFill>
                <a:schemeClr val="dk1"/>
              </a:solidFill>
              <a:latin typeface="Poppins"/>
              <a:ea typeface="Poppins"/>
              <a:cs typeface="Poppins"/>
              <a:sym typeface="Poppins"/>
            </a:endParaRPr>
          </a:p>
          <a:p>
            <a:pPr indent="0" lvl="0" marL="0" rtl="0" algn="l">
              <a:spcBef>
                <a:spcPts val="0"/>
              </a:spcBef>
              <a:spcAft>
                <a:spcPts val="0"/>
              </a:spcAft>
              <a:buNone/>
            </a:pPr>
            <a:r>
              <a:t/>
            </a:r>
            <a:endParaRPr sz="2700">
              <a:solidFill>
                <a:schemeClr val="dk1"/>
              </a:solidFill>
              <a:latin typeface="Poppins"/>
              <a:ea typeface="Poppins"/>
              <a:cs typeface="Poppins"/>
              <a:sym typeface="Poppins"/>
            </a:endParaRPr>
          </a:p>
          <a:p>
            <a:pPr indent="0" lvl="0" marL="0" rtl="0" algn="l">
              <a:spcBef>
                <a:spcPts val="0"/>
              </a:spcBef>
              <a:spcAft>
                <a:spcPts val="0"/>
              </a:spcAft>
              <a:buNone/>
            </a:pPr>
            <a:r>
              <a:rPr lang="en-US" sz="2700">
                <a:solidFill>
                  <a:schemeClr val="dk1"/>
                </a:solidFill>
                <a:latin typeface="Poppins"/>
                <a:ea typeface="Poppins"/>
                <a:cs typeface="Poppins"/>
                <a:sym typeface="Poppins"/>
              </a:rPr>
              <a:t>for example: </a:t>
            </a:r>
            <a:endParaRPr sz="2700">
              <a:solidFill>
                <a:schemeClr val="dk1"/>
              </a:solidFill>
              <a:latin typeface="Poppins"/>
              <a:ea typeface="Poppins"/>
              <a:cs typeface="Poppins"/>
              <a:sym typeface="Poppins"/>
            </a:endParaRPr>
          </a:p>
        </p:txBody>
      </p:sp>
      <p:sp>
        <p:nvSpPr>
          <p:cNvPr id="396" name="Google Shape;396;p50"/>
          <p:cNvSpPr txBox="1"/>
          <p:nvPr/>
        </p:nvSpPr>
        <p:spPr>
          <a:xfrm>
            <a:off x="3250400" y="3661175"/>
            <a:ext cx="4205100" cy="94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500">
                <a:solidFill>
                  <a:srgbClr val="A0A0A0"/>
                </a:solidFill>
                <a:highlight>
                  <a:srgbClr val="1E1F22"/>
                </a:highlight>
                <a:latin typeface="Courier New"/>
                <a:ea typeface="Courier New"/>
                <a:cs typeface="Courier New"/>
                <a:sym typeface="Courier New"/>
              </a:rPr>
              <a:t>@Entity</a:t>
            </a:r>
            <a:endParaRPr i="1" sz="15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500">
                <a:solidFill>
                  <a:srgbClr val="A0A0A0"/>
                </a:solidFill>
                <a:highlight>
                  <a:srgbClr val="1E1F22"/>
                </a:highlight>
                <a:latin typeface="Courier New"/>
                <a:ea typeface="Courier New"/>
                <a:cs typeface="Courier New"/>
                <a:sym typeface="Courier New"/>
              </a:rPr>
              <a:t>@Table</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name</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"students"</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CC6C1D"/>
                </a:solidFill>
                <a:highlight>
                  <a:srgbClr val="1E1F22"/>
                </a:highlight>
                <a:latin typeface="Courier New"/>
                <a:ea typeface="Courier New"/>
                <a:cs typeface="Courier New"/>
                <a:sym typeface="Courier New"/>
              </a:rPr>
              <a:t>public</a:t>
            </a:r>
            <a:r>
              <a:rPr lang="en-US" sz="1500">
                <a:solidFill>
                  <a:srgbClr val="D9E8F7"/>
                </a:solidFill>
                <a:highlight>
                  <a:srgbClr val="1E1F22"/>
                </a:highlight>
                <a:latin typeface="Courier New"/>
                <a:ea typeface="Courier New"/>
                <a:cs typeface="Courier New"/>
                <a:sym typeface="Courier New"/>
              </a:rPr>
              <a:t> </a:t>
            </a:r>
            <a:r>
              <a:rPr lang="en-US" sz="1500">
                <a:solidFill>
                  <a:srgbClr val="CC6C1D"/>
                </a:solidFill>
                <a:highlight>
                  <a:srgbClr val="1E1F22"/>
                </a:highlight>
                <a:latin typeface="Courier New"/>
                <a:ea typeface="Courier New"/>
                <a:cs typeface="Courier New"/>
                <a:sym typeface="Courier New"/>
              </a:rPr>
              <a:t>class</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Student</a:t>
            </a:r>
            <a:r>
              <a:rPr lang="en-US" sz="1500">
                <a:solidFill>
                  <a:srgbClr val="D9E8F7"/>
                </a:solidFill>
                <a:highlight>
                  <a:srgbClr val="1E1F22"/>
                </a:highlight>
                <a:latin typeface="Courier New"/>
                <a:ea typeface="Courier New"/>
                <a:cs typeface="Courier New"/>
                <a:sym typeface="Courier New"/>
              </a:rPr>
              <a:t> </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0" name="Shape 400"/>
        <p:cNvGrpSpPr/>
        <p:nvPr/>
      </p:nvGrpSpPr>
      <p:grpSpPr>
        <a:xfrm>
          <a:off x="0" y="0"/>
          <a:ext cx="0" cy="0"/>
          <a:chOff x="0" y="0"/>
          <a:chExt cx="0" cy="0"/>
        </a:xfrm>
      </p:grpSpPr>
      <p:pic>
        <p:nvPicPr>
          <p:cNvPr descr="image.png" id="401" name="Google Shape;401;p51"/>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402" name="Google Shape;402;p51"/>
          <p:cNvSpPr txBox="1"/>
          <p:nvPr/>
        </p:nvSpPr>
        <p:spPr>
          <a:xfrm>
            <a:off x="571500" y="3806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@Id</a:t>
            </a:r>
            <a:endParaRPr b="1" sz="3600">
              <a:solidFill>
                <a:srgbClr val="B91C1C"/>
              </a:solidFill>
              <a:latin typeface="Poppins"/>
              <a:ea typeface="Poppins"/>
              <a:cs typeface="Poppins"/>
              <a:sym typeface="Poppins"/>
            </a:endParaRPr>
          </a:p>
        </p:txBody>
      </p:sp>
      <p:sp>
        <p:nvSpPr>
          <p:cNvPr id="403" name="Google Shape;403;p51"/>
          <p:cNvSpPr/>
          <p:nvPr/>
        </p:nvSpPr>
        <p:spPr>
          <a:xfrm>
            <a:off x="571500" y="1137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4" name="Google Shape;404;p51"/>
          <p:cNvSpPr txBox="1"/>
          <p:nvPr/>
        </p:nvSpPr>
        <p:spPr>
          <a:xfrm>
            <a:off x="571500" y="1343550"/>
            <a:ext cx="11049000" cy="4617600"/>
          </a:xfrm>
          <a:prstGeom prst="rect">
            <a:avLst/>
          </a:prstGeom>
          <a:noFill/>
          <a:ln>
            <a:noFill/>
          </a:ln>
        </p:spPr>
        <p:txBody>
          <a:bodyPr anchorCtr="0" anchor="t" bIns="91425" lIns="91425" spcFirstLastPara="1" rIns="91425" wrap="square" tIns="91425">
            <a:spAutoFit/>
          </a:bodyPr>
          <a:lstStyle/>
          <a:p>
            <a:pPr indent="-381000" lvl="0" marL="457200" rtl="0" algn="l">
              <a:spcBef>
                <a:spcPts val="0"/>
              </a:spcBef>
              <a:spcAft>
                <a:spcPts val="0"/>
              </a:spcAft>
              <a:buClr>
                <a:schemeClr val="dk1"/>
              </a:buClr>
              <a:buSzPts val="2400"/>
              <a:buFont typeface="Poppins"/>
              <a:buChar char="●"/>
            </a:pPr>
            <a:r>
              <a:rPr b="1" lang="en-US" sz="2400">
                <a:solidFill>
                  <a:schemeClr val="dk1"/>
                </a:solidFill>
                <a:latin typeface="Poppins"/>
                <a:ea typeface="Poppins"/>
                <a:cs typeface="Poppins"/>
                <a:sym typeface="Poppins"/>
              </a:rPr>
              <a:t>@Id</a:t>
            </a:r>
            <a:r>
              <a:rPr lang="en-US" sz="2400">
                <a:solidFill>
                  <a:schemeClr val="dk1"/>
                </a:solidFill>
                <a:latin typeface="Poppins"/>
                <a:ea typeface="Poppins"/>
                <a:cs typeface="Poppins"/>
                <a:sym typeface="Poppins"/>
              </a:rPr>
              <a:t> is a JPA annotation used to mark the </a:t>
            </a:r>
            <a:r>
              <a:rPr b="1" lang="en-US" sz="2400">
                <a:solidFill>
                  <a:schemeClr val="dk1"/>
                </a:solidFill>
                <a:latin typeface="Poppins"/>
                <a:ea typeface="Poppins"/>
                <a:cs typeface="Poppins"/>
                <a:sym typeface="Poppins"/>
              </a:rPr>
              <a:t>primary key</a:t>
            </a:r>
            <a:r>
              <a:rPr lang="en-US" sz="2400">
                <a:solidFill>
                  <a:schemeClr val="dk1"/>
                </a:solidFill>
                <a:latin typeface="Poppins"/>
                <a:ea typeface="Poppins"/>
                <a:cs typeface="Poppins"/>
                <a:sym typeface="Poppins"/>
              </a:rPr>
              <a:t> of an entity.</a:t>
            </a:r>
            <a:endParaRPr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b="1" lang="en-US" sz="2400">
                <a:solidFill>
                  <a:schemeClr val="dk1"/>
                </a:solidFill>
                <a:latin typeface="Poppins"/>
                <a:ea typeface="Poppins"/>
                <a:cs typeface="Poppins"/>
                <a:sym typeface="Poppins"/>
              </a:rPr>
              <a:t>Every JPA entity class must have exactly one primary key because JPA uses it to:</a:t>
            </a:r>
            <a:endParaRPr b="1"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Identify each entity instance</a:t>
            </a:r>
            <a:endParaRPr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Track changes</a:t>
            </a:r>
            <a:endParaRPr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Manage caching</a:t>
            </a:r>
            <a:endParaRPr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Perform updates and deletion correctly</a:t>
            </a:r>
            <a:endParaRPr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An error will occur if the entity does not have a field annotated with @Id.</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t/>
            </a:r>
            <a:endParaRPr b="1" sz="2400">
              <a:solidFill>
                <a:schemeClr val="dk1"/>
              </a:solidFill>
              <a:latin typeface="Poppins"/>
              <a:ea typeface="Poppins"/>
              <a:cs typeface="Poppins"/>
              <a:sym typeface="Poppins"/>
            </a:endParaRPr>
          </a:p>
        </p:txBody>
      </p:sp>
      <p:sp>
        <p:nvSpPr>
          <p:cNvPr id="405" name="Google Shape;405;p51"/>
          <p:cNvSpPr txBox="1"/>
          <p:nvPr/>
        </p:nvSpPr>
        <p:spPr>
          <a:xfrm>
            <a:off x="571500" y="5592400"/>
            <a:ext cx="11049000" cy="877200"/>
          </a:xfrm>
          <a:prstGeom prst="rect">
            <a:avLst/>
          </a:prstGeom>
          <a:solidFill>
            <a:srgbClr val="2F2F2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rgbClr val="E11E46"/>
                </a:solidFill>
                <a:highlight>
                  <a:srgbClr val="2F2F2F"/>
                </a:highlight>
                <a:latin typeface="Courier New"/>
                <a:ea typeface="Courier New"/>
                <a:cs typeface="Courier New"/>
                <a:sym typeface="Courier New"/>
              </a:rPr>
              <a:t>Caused by: </a:t>
            </a:r>
            <a:r>
              <a:rPr lang="en-US" sz="1500" u="sng">
                <a:solidFill>
                  <a:srgbClr val="6FC5EE"/>
                </a:solidFill>
                <a:highlight>
                  <a:srgbClr val="2F2F2F"/>
                </a:highlight>
                <a:latin typeface="Courier New"/>
                <a:ea typeface="Courier New"/>
                <a:cs typeface="Courier New"/>
                <a:sym typeface="Courier New"/>
              </a:rPr>
              <a:t>org.hibernate.AnnotationException</a:t>
            </a:r>
            <a:r>
              <a:rPr lang="en-US" sz="1500">
                <a:solidFill>
                  <a:srgbClr val="E11E46"/>
                </a:solidFill>
                <a:highlight>
                  <a:srgbClr val="2F2F2F"/>
                </a:highlight>
                <a:latin typeface="Courier New"/>
                <a:ea typeface="Courier New"/>
                <a:cs typeface="Courier New"/>
                <a:sym typeface="Courier New"/>
              </a:rPr>
              <a:t>: Entity 'com.bpi.module6.model.Product' has no identifier (every '@Entity' class must declare or inherit at least one '@Id' or '@EmbeddedId' property)</a:t>
            </a:r>
            <a:endParaRPr b="1" sz="2700">
              <a:solidFill>
                <a:schemeClr val="dk1"/>
              </a:solidFill>
              <a:latin typeface="Poppins"/>
              <a:ea typeface="Poppins"/>
              <a:cs typeface="Poppins"/>
              <a:sym typeface="Poppins"/>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9" name="Shape 409"/>
        <p:cNvGrpSpPr/>
        <p:nvPr/>
      </p:nvGrpSpPr>
      <p:grpSpPr>
        <a:xfrm>
          <a:off x="0" y="0"/>
          <a:ext cx="0" cy="0"/>
          <a:chOff x="0" y="0"/>
          <a:chExt cx="0" cy="0"/>
        </a:xfrm>
      </p:grpSpPr>
      <p:pic>
        <p:nvPicPr>
          <p:cNvPr descr="image.png" id="410" name="Google Shape;410;p5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11" name="Google Shape;411;p52"/>
          <p:cNvSpPr txBox="1"/>
          <p:nvPr/>
        </p:nvSpPr>
        <p:spPr>
          <a:xfrm>
            <a:off x="571500" y="3806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@Id</a:t>
            </a:r>
            <a:endParaRPr b="1" sz="3600">
              <a:solidFill>
                <a:srgbClr val="B91C1C"/>
              </a:solidFill>
              <a:latin typeface="Poppins"/>
              <a:ea typeface="Poppins"/>
              <a:cs typeface="Poppins"/>
              <a:sym typeface="Poppins"/>
            </a:endParaRPr>
          </a:p>
        </p:txBody>
      </p:sp>
      <p:sp>
        <p:nvSpPr>
          <p:cNvPr id="412" name="Google Shape;412;p52"/>
          <p:cNvSpPr/>
          <p:nvPr/>
        </p:nvSpPr>
        <p:spPr>
          <a:xfrm>
            <a:off x="571500" y="1137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52"/>
          <p:cNvSpPr txBox="1"/>
          <p:nvPr/>
        </p:nvSpPr>
        <p:spPr>
          <a:xfrm>
            <a:off x="571500" y="1343550"/>
            <a:ext cx="11049000" cy="923400"/>
          </a:xfrm>
          <a:prstGeom prst="rect">
            <a:avLst/>
          </a:prstGeom>
          <a:noFill/>
          <a:ln>
            <a:noFill/>
          </a:ln>
        </p:spPr>
        <p:txBody>
          <a:bodyPr anchorCtr="0" anchor="t" bIns="91425" lIns="91425" spcFirstLastPara="1" rIns="91425" wrap="square" tIns="91425">
            <a:spAutoFit/>
          </a:bodyPr>
          <a:lstStyle/>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Example:</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t/>
            </a:r>
            <a:endParaRPr b="1" sz="2400">
              <a:solidFill>
                <a:schemeClr val="dk1"/>
              </a:solidFill>
              <a:latin typeface="Poppins"/>
              <a:ea typeface="Poppins"/>
              <a:cs typeface="Poppins"/>
              <a:sym typeface="Poppins"/>
            </a:endParaRPr>
          </a:p>
        </p:txBody>
      </p:sp>
      <p:sp>
        <p:nvSpPr>
          <p:cNvPr id="414" name="Google Shape;414;p52"/>
          <p:cNvSpPr txBox="1"/>
          <p:nvPr/>
        </p:nvSpPr>
        <p:spPr>
          <a:xfrm>
            <a:off x="571500" y="3948625"/>
            <a:ext cx="10911300" cy="2401200"/>
          </a:xfrm>
          <a:prstGeom prst="rect">
            <a:avLst/>
          </a:prstGeom>
          <a:noFill/>
          <a:ln>
            <a:noFill/>
          </a:ln>
        </p:spPr>
        <p:txBody>
          <a:bodyPr anchorCtr="0" anchor="t" bIns="91425" lIns="91425" spcFirstLastPara="1" rIns="91425" wrap="square" tIns="91425">
            <a:spAutoFit/>
          </a:bodyPr>
          <a:lstStyle/>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What if the primary key in the students table has a different name? For example, “student_id”</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rPr lang="en-US" sz="2400">
                <a:solidFill>
                  <a:schemeClr val="dk1"/>
                </a:solidFill>
                <a:latin typeface="Poppins"/>
                <a:ea typeface="Poppins"/>
                <a:cs typeface="Poppins"/>
                <a:sym typeface="Poppins"/>
              </a:rPr>
              <a:t>We can </a:t>
            </a:r>
            <a:r>
              <a:rPr b="1" lang="en-US" sz="2400">
                <a:solidFill>
                  <a:schemeClr val="dk1"/>
                </a:solidFill>
                <a:latin typeface="Poppins"/>
                <a:ea typeface="Poppins"/>
                <a:cs typeface="Poppins"/>
                <a:sym typeface="Poppins"/>
              </a:rPr>
              <a:t>explicitly </a:t>
            </a:r>
            <a:r>
              <a:rPr lang="en-US" sz="2400">
                <a:solidFill>
                  <a:schemeClr val="dk1"/>
                </a:solidFill>
                <a:latin typeface="Poppins"/>
                <a:ea typeface="Poppins"/>
                <a:cs typeface="Poppins"/>
                <a:sym typeface="Poppins"/>
              </a:rPr>
              <a:t>map the entity field detail to the table column detail by using </a:t>
            </a:r>
            <a:r>
              <a:rPr b="1" lang="en-US" sz="2400">
                <a:solidFill>
                  <a:schemeClr val="dk1"/>
                </a:solidFill>
                <a:latin typeface="Poppins"/>
                <a:ea typeface="Poppins"/>
                <a:cs typeface="Poppins"/>
                <a:sym typeface="Poppins"/>
              </a:rPr>
              <a:t>@Column</a:t>
            </a:r>
            <a:endParaRPr b="1"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p:txBody>
      </p:sp>
      <p:sp>
        <p:nvSpPr>
          <p:cNvPr id="415" name="Google Shape;415;p52"/>
          <p:cNvSpPr txBox="1"/>
          <p:nvPr/>
        </p:nvSpPr>
        <p:spPr>
          <a:xfrm>
            <a:off x="2839650" y="1683150"/>
            <a:ext cx="29013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pic>
        <p:nvPicPr>
          <p:cNvPr descr="image.png" id="420" name="Google Shape;420;p5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21" name="Google Shape;421;p53"/>
          <p:cNvSpPr txBox="1"/>
          <p:nvPr/>
        </p:nvSpPr>
        <p:spPr>
          <a:xfrm>
            <a:off x="571500" y="3859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@Column</a:t>
            </a:r>
            <a:endParaRPr b="1" sz="3600">
              <a:solidFill>
                <a:srgbClr val="B91C1C"/>
              </a:solidFill>
              <a:latin typeface="Poppins"/>
              <a:ea typeface="Poppins"/>
              <a:cs typeface="Poppins"/>
              <a:sym typeface="Poppins"/>
            </a:endParaRPr>
          </a:p>
        </p:txBody>
      </p:sp>
      <p:sp>
        <p:nvSpPr>
          <p:cNvPr id="422" name="Google Shape;422;p53"/>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53"/>
          <p:cNvSpPr txBox="1"/>
          <p:nvPr/>
        </p:nvSpPr>
        <p:spPr>
          <a:xfrm>
            <a:off x="571500" y="1389150"/>
            <a:ext cx="11049000" cy="418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600">
                <a:solidFill>
                  <a:schemeClr val="dk1"/>
                </a:solidFill>
                <a:latin typeface="Poppins"/>
                <a:ea typeface="Poppins"/>
                <a:cs typeface="Poppins"/>
                <a:sym typeface="Poppins"/>
              </a:rPr>
              <a:t>@Column is a JPA annotation </a:t>
            </a:r>
            <a:r>
              <a:rPr lang="en-US" sz="2600">
                <a:solidFill>
                  <a:schemeClr val="dk1"/>
                </a:solidFill>
                <a:latin typeface="Poppins"/>
                <a:ea typeface="Poppins"/>
                <a:cs typeface="Poppins"/>
                <a:sym typeface="Poppins"/>
              </a:rPr>
              <a:t>used to explicitly specify the mapping of a entity field to a database column.</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rPr lang="en-US" sz="2600">
                <a:solidFill>
                  <a:schemeClr val="dk1"/>
                </a:solidFill>
                <a:latin typeface="Poppins"/>
                <a:ea typeface="Poppins"/>
                <a:cs typeface="Poppins"/>
                <a:sym typeface="Poppins"/>
              </a:rPr>
              <a:t>By default, Hibernate maps entity fields to columns with the same name, but @Column lets you:</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Specify a different column name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Define constraints like nullable or unique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Specify the length, precision, and scale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Specify SQL type with columnDefinition</a:t>
            </a:r>
            <a:endParaRPr sz="2600">
              <a:solidFill>
                <a:schemeClr val="dk1"/>
              </a:solidFill>
              <a:latin typeface="Poppins"/>
              <a:ea typeface="Poppins"/>
              <a:cs typeface="Poppins"/>
              <a:sym typeface="Poppins"/>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pic>
        <p:nvPicPr>
          <p:cNvPr descr="image.png" id="428" name="Google Shape;428;p54"/>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429" name="Google Shape;429;p54"/>
          <p:cNvSpPr txBox="1"/>
          <p:nvPr/>
        </p:nvSpPr>
        <p:spPr>
          <a:xfrm>
            <a:off x="571500" y="3859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@Column</a:t>
            </a:r>
            <a:endParaRPr b="1" sz="3600">
              <a:solidFill>
                <a:srgbClr val="B91C1C"/>
              </a:solidFill>
              <a:latin typeface="Poppins"/>
              <a:ea typeface="Poppins"/>
              <a:cs typeface="Poppins"/>
              <a:sym typeface="Poppins"/>
            </a:endParaRPr>
          </a:p>
        </p:txBody>
      </p:sp>
      <p:sp>
        <p:nvSpPr>
          <p:cNvPr id="430" name="Google Shape;430;p54"/>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1" name="Google Shape;431;p54"/>
          <p:cNvSpPr txBox="1"/>
          <p:nvPr/>
        </p:nvSpPr>
        <p:spPr>
          <a:xfrm>
            <a:off x="571500" y="1184038"/>
            <a:ext cx="11049000" cy="492600"/>
          </a:xfrm>
          <a:prstGeom prst="rect">
            <a:avLst/>
          </a:prstGeom>
          <a:noFill/>
          <a:ln>
            <a:noFill/>
          </a:ln>
        </p:spPr>
        <p:txBody>
          <a:bodyPr anchorCtr="0" anchor="t" bIns="91425" lIns="91425" spcFirstLastPara="1" rIns="91425" wrap="square" tIns="91425">
            <a:spAutoFit/>
          </a:bodyPr>
          <a:lstStyle/>
          <a:p>
            <a:pPr indent="-355600" lvl="0" marL="457200" marR="0" rtl="0" algn="l">
              <a:lnSpc>
                <a:spcPct val="100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For example our columns look like this:</a:t>
            </a:r>
            <a:endParaRPr sz="2000">
              <a:solidFill>
                <a:schemeClr val="dk1"/>
              </a:solidFill>
              <a:latin typeface="Poppins"/>
              <a:ea typeface="Poppins"/>
              <a:cs typeface="Poppins"/>
              <a:sym typeface="Poppins"/>
            </a:endParaRPr>
          </a:p>
        </p:txBody>
      </p:sp>
      <p:sp>
        <p:nvSpPr>
          <p:cNvPr id="432" name="Google Shape;432;p54"/>
          <p:cNvSpPr txBox="1"/>
          <p:nvPr/>
        </p:nvSpPr>
        <p:spPr>
          <a:xfrm>
            <a:off x="1158300" y="3800688"/>
            <a:ext cx="9875400" cy="2690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@Id</a:t>
            </a:r>
            <a:endParaRPr i="1" sz="11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a:t>
            </a:r>
            <a:r>
              <a:rPr lang="en-US" sz="1100">
                <a:solidFill>
                  <a:srgbClr val="00B8B8"/>
                </a:solidFill>
                <a:highlight>
                  <a:srgbClr val="2F2F2F"/>
                </a:highlight>
                <a:latin typeface="Courier New"/>
                <a:ea typeface="Courier New"/>
                <a:cs typeface="Courier New"/>
                <a:sym typeface="Courier New"/>
              </a:rPr>
              <a:t>student_id</a:t>
            </a:r>
            <a:r>
              <a:rPr lang="en-US" sz="1100">
                <a:solidFill>
                  <a:srgbClr val="17C6A3"/>
                </a:solidFill>
                <a:highlight>
                  <a:srgbClr val="1E1F22"/>
                </a:highlight>
                <a:latin typeface="Courier New"/>
                <a:ea typeface="Courier New"/>
                <a:cs typeface="Courier New"/>
                <a:sym typeface="Courier New"/>
              </a:rPr>
              <a:t>"</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Long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id</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a:t>
            </a:r>
            <a:r>
              <a:rPr lang="en-US" sz="1100">
                <a:solidFill>
                  <a:srgbClr val="00B8B8"/>
                </a:solidFill>
                <a:highlight>
                  <a:srgbClr val="2F2F2F"/>
                </a:highlight>
                <a:latin typeface="Courier New"/>
                <a:ea typeface="Courier New"/>
                <a:cs typeface="Courier New"/>
                <a:sym typeface="Courier New"/>
              </a:rPr>
              <a:t>student_name</a:t>
            </a:r>
            <a:r>
              <a:rPr lang="en-US" sz="1100">
                <a:solidFill>
                  <a:srgbClr val="17C6A3"/>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nullable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false</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length</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6897BB"/>
                </a:solidFill>
                <a:highlight>
                  <a:srgbClr val="1E1F22"/>
                </a:highlight>
                <a:latin typeface="Courier New"/>
                <a:ea typeface="Courier New"/>
                <a:cs typeface="Courier New"/>
                <a:sym typeface="Courier New"/>
              </a:rPr>
              <a:t>50</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columnDefinition</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"VARCHAR(50)"</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name</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"age"</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columnDefinition</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"INT"</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int</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age</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"email"</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unique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true</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length</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6897BB"/>
                </a:solidFill>
                <a:highlight>
                  <a:srgbClr val="1E1F22"/>
                </a:highlight>
                <a:latin typeface="Courier New"/>
                <a:ea typeface="Courier New"/>
                <a:cs typeface="Courier New"/>
                <a:sym typeface="Courier New"/>
              </a:rPr>
              <a:t>100</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columnDefinition</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"VARCHAR(100)"</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email</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D9E8F7"/>
              </a:solidFill>
              <a:highlight>
                <a:srgbClr val="1E1F22"/>
              </a:highlight>
              <a:latin typeface="Courier New"/>
              <a:ea typeface="Courier New"/>
              <a:cs typeface="Courier New"/>
              <a:sym typeface="Courier New"/>
            </a:endParaRPr>
          </a:p>
        </p:txBody>
      </p:sp>
      <p:sp>
        <p:nvSpPr>
          <p:cNvPr id="433" name="Google Shape;433;p54"/>
          <p:cNvSpPr txBox="1"/>
          <p:nvPr/>
        </p:nvSpPr>
        <p:spPr>
          <a:xfrm>
            <a:off x="3773100" y="1795550"/>
            <a:ext cx="4457700" cy="14316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b="1" lang="en-US" sz="1200">
                <a:solidFill>
                  <a:srgbClr val="739ECA"/>
                </a:solidFill>
                <a:highlight>
                  <a:srgbClr val="2F2F2F"/>
                </a:highlight>
                <a:latin typeface="Courier New"/>
                <a:ea typeface="Courier New"/>
                <a:cs typeface="Courier New"/>
                <a:sym typeface="Courier New"/>
              </a:rPr>
              <a:t>CREATE</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TABLE</a:t>
            </a:r>
            <a:r>
              <a:rPr lang="en-US" sz="1200">
                <a:solidFill>
                  <a:srgbClr val="CCCCCC"/>
                </a:solidFill>
                <a:highlight>
                  <a:srgbClr val="2F2F2F"/>
                </a:highlight>
                <a:latin typeface="Courier New"/>
                <a:ea typeface="Courier New"/>
                <a:cs typeface="Courier New"/>
                <a:sym typeface="Courier New"/>
              </a:rPr>
              <a:t> </a:t>
            </a:r>
            <a:r>
              <a:rPr lang="en-US" sz="1200">
                <a:solidFill>
                  <a:srgbClr val="B788D3"/>
                </a:solidFill>
                <a:highlight>
                  <a:srgbClr val="2F2F2F"/>
                </a:highlight>
                <a:latin typeface="Courier New"/>
                <a:ea typeface="Courier New"/>
                <a:cs typeface="Courier New"/>
                <a:sym typeface="Courier New"/>
              </a:rPr>
              <a:t>students</a:t>
            </a:r>
            <a:r>
              <a:rPr lang="en-US" sz="1200">
                <a:solidFill>
                  <a:srgbClr val="CCCCCC"/>
                </a:solidFill>
                <a:highlight>
                  <a:srgbClr val="2F2F2F"/>
                </a:highlight>
                <a:latin typeface="Courier New"/>
                <a:ea typeface="Courier New"/>
                <a:cs typeface="Courier New"/>
                <a:sym typeface="Courier New"/>
              </a:rPr>
              <a:t> (</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student_id</a:t>
            </a:r>
            <a:r>
              <a:rPr lang="en-US" sz="1200">
                <a:solidFill>
                  <a:srgbClr val="CCCCCC"/>
                </a:solidFill>
                <a:highlight>
                  <a:srgbClr val="2F2F2F"/>
                </a:highlight>
                <a:latin typeface="Courier New"/>
                <a:ea typeface="Courier New"/>
                <a:cs typeface="Courier New"/>
                <a:sym typeface="Courier New"/>
              </a:rPr>
              <a:t> </a:t>
            </a:r>
            <a:r>
              <a:rPr lang="en-US" sz="1200">
                <a:solidFill>
                  <a:srgbClr val="9E9E9E"/>
                </a:solidFill>
                <a:highlight>
                  <a:srgbClr val="2F2F2F"/>
                </a:highlight>
                <a:latin typeface="Courier New"/>
                <a:ea typeface="Courier New"/>
                <a:cs typeface="Courier New"/>
                <a:sym typeface="Courier New"/>
              </a:rPr>
              <a:t>SERIAL</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PRIMARY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KEY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student_name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50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student_age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INT</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email</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100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UNIQUE</a:t>
            </a:r>
            <a:endParaRPr b="1" sz="1200">
              <a:solidFill>
                <a:srgbClr val="739ECA"/>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a:t>
            </a:r>
            <a:r>
              <a:rPr lang="en-US" sz="1200">
                <a:solidFill>
                  <a:srgbClr val="EECC64"/>
                </a:solidFill>
                <a:highlight>
                  <a:srgbClr val="2F2F2F"/>
                </a:highlight>
                <a:latin typeface="Courier New"/>
                <a:ea typeface="Courier New"/>
                <a:cs typeface="Courier New"/>
                <a:sym typeface="Courier New"/>
              </a:rPr>
              <a:t>;</a:t>
            </a:r>
            <a:endParaRPr sz="1200">
              <a:solidFill>
                <a:srgbClr val="EECC64"/>
              </a:solidFill>
              <a:highlight>
                <a:srgbClr val="2F2F2F"/>
              </a:highlight>
              <a:latin typeface="Courier New"/>
              <a:ea typeface="Courier New"/>
              <a:cs typeface="Courier New"/>
              <a:sym typeface="Courier New"/>
            </a:endParaRPr>
          </a:p>
        </p:txBody>
      </p:sp>
      <p:sp>
        <p:nvSpPr>
          <p:cNvPr id="434" name="Google Shape;434;p54"/>
          <p:cNvSpPr txBox="1"/>
          <p:nvPr/>
        </p:nvSpPr>
        <p:spPr>
          <a:xfrm>
            <a:off x="571500" y="3267613"/>
            <a:ext cx="10860900" cy="4926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We will explicitly map the details using @Column attributes</a:t>
            </a:r>
            <a:endParaRPr sz="800"/>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8" name="Shape 438"/>
        <p:cNvGrpSpPr/>
        <p:nvPr/>
      </p:nvGrpSpPr>
      <p:grpSpPr>
        <a:xfrm>
          <a:off x="0" y="0"/>
          <a:ext cx="0" cy="0"/>
          <a:chOff x="0" y="0"/>
          <a:chExt cx="0" cy="0"/>
        </a:xfrm>
      </p:grpSpPr>
      <p:pic>
        <p:nvPicPr>
          <p:cNvPr descr="image.png" id="439" name="Google Shape;439;p5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40" name="Google Shape;440;p55"/>
          <p:cNvSpPr txBox="1"/>
          <p:nvPr/>
        </p:nvSpPr>
        <p:spPr>
          <a:xfrm>
            <a:off x="571500" y="3859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@Column</a:t>
            </a:r>
            <a:endParaRPr b="1" sz="3600">
              <a:solidFill>
                <a:srgbClr val="B91C1C"/>
              </a:solidFill>
              <a:latin typeface="Poppins"/>
              <a:ea typeface="Poppins"/>
              <a:cs typeface="Poppins"/>
              <a:sym typeface="Poppins"/>
            </a:endParaRPr>
          </a:p>
        </p:txBody>
      </p:sp>
      <p:sp>
        <p:nvSpPr>
          <p:cNvPr id="441" name="Google Shape;441;p55"/>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442" name="Google Shape;442;p55"/>
          <p:cNvGraphicFramePr/>
          <p:nvPr/>
        </p:nvGraphicFramePr>
        <p:xfrm>
          <a:off x="571500" y="1322875"/>
          <a:ext cx="3000000" cy="3000000"/>
        </p:xfrm>
        <a:graphic>
          <a:graphicData uri="http://schemas.openxmlformats.org/drawingml/2006/table">
            <a:tbl>
              <a:tblPr>
                <a:noFill/>
                <a:tableStyleId>{4B106EDE-8917-4D5C-A709-884EA9C3CE55}</a:tableStyleId>
              </a:tblPr>
              <a:tblGrid>
                <a:gridCol w="3084450"/>
                <a:gridCol w="7964550"/>
              </a:tblGrid>
              <a:tr h="451725">
                <a:tc>
                  <a:txBody>
                    <a:bodyPr/>
                    <a:lstStyle/>
                    <a:p>
                      <a:pPr indent="0" lvl="0" marL="0" rtl="0" algn="ctr">
                        <a:lnSpc>
                          <a:spcPct val="115000"/>
                        </a:lnSpc>
                        <a:spcBef>
                          <a:spcPts val="0"/>
                        </a:spcBef>
                        <a:spcAft>
                          <a:spcPts val="0"/>
                        </a:spcAft>
                        <a:buNone/>
                      </a:pPr>
                      <a:r>
                        <a:rPr b="1" lang="en-US" sz="1900">
                          <a:solidFill>
                            <a:schemeClr val="dk1"/>
                          </a:solidFill>
                          <a:latin typeface="Poppins"/>
                          <a:ea typeface="Poppins"/>
                          <a:cs typeface="Poppins"/>
                          <a:sym typeface="Poppins"/>
                        </a:rPr>
                        <a:t>Attribute</a:t>
                      </a:r>
                      <a:endParaRPr b="1"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900">
                          <a:solidFill>
                            <a:schemeClr val="dk1"/>
                          </a:solidFill>
                          <a:latin typeface="Poppins"/>
                          <a:ea typeface="Poppins"/>
                          <a:cs typeface="Poppins"/>
                          <a:sym typeface="Poppins"/>
                        </a:rPr>
                        <a:t>Purpose</a:t>
                      </a:r>
                      <a:endParaRPr b="1"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361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name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Maps the field to a specific column name (product_name in this case).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361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nullable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Whether the column can accept NULL values (false means NOT NULL).</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28675">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length</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Maximum length of String fields.</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283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unique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Whether the column should have a UNIQUE constraint.</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74775">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precision</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Total number of digits for numeric fields.</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283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scale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Number of digits after the decimal point for numeric fields.</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283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columnDefinition</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Custom SQL column type (overrides default mapping).</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pic>
        <p:nvPicPr>
          <p:cNvPr descr="image.png" id="447" name="Google Shape;447;p5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48" name="Google Shape;448;p56"/>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Implicit vs Explicit Mapping</a:t>
            </a:r>
            <a:endParaRPr b="1" sz="3600">
              <a:solidFill>
                <a:srgbClr val="B91C1C"/>
              </a:solidFill>
              <a:latin typeface="Poppins"/>
              <a:ea typeface="Poppins"/>
              <a:cs typeface="Poppins"/>
              <a:sym typeface="Poppins"/>
            </a:endParaRPr>
          </a:p>
        </p:txBody>
      </p:sp>
      <p:sp>
        <p:nvSpPr>
          <p:cNvPr id="449" name="Google Shape;449;p56"/>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0" name="Google Shape;450;p56"/>
          <p:cNvSpPr txBox="1"/>
          <p:nvPr/>
        </p:nvSpPr>
        <p:spPr>
          <a:xfrm>
            <a:off x="571500" y="1338050"/>
            <a:ext cx="11049000" cy="985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solidFill>
                  <a:schemeClr val="dk1"/>
                </a:solidFill>
                <a:latin typeface="Poppins"/>
                <a:ea typeface="Poppins"/>
                <a:cs typeface="Poppins"/>
                <a:sym typeface="Poppins"/>
              </a:rPr>
              <a:t>Implicit mapping</a:t>
            </a:r>
            <a:r>
              <a:rPr lang="en-US" sz="2600">
                <a:solidFill>
                  <a:schemeClr val="dk1"/>
                </a:solidFill>
                <a:latin typeface="Poppins"/>
                <a:ea typeface="Poppins"/>
                <a:cs typeface="Poppins"/>
                <a:sym typeface="Poppins"/>
              </a:rPr>
              <a:t> means you do not specify mapping details, and Hibernate uses default conventions.</a:t>
            </a:r>
            <a:endParaRPr sz="2600">
              <a:solidFill>
                <a:schemeClr val="dk1"/>
              </a:solidFill>
              <a:latin typeface="Poppins"/>
              <a:ea typeface="Poppins"/>
              <a:cs typeface="Poppins"/>
              <a:sym typeface="Poppins"/>
            </a:endParaRPr>
          </a:p>
        </p:txBody>
      </p:sp>
      <p:sp>
        <p:nvSpPr>
          <p:cNvPr id="451" name="Google Shape;451;p56"/>
          <p:cNvSpPr txBox="1"/>
          <p:nvPr/>
        </p:nvSpPr>
        <p:spPr>
          <a:xfrm>
            <a:off x="571500" y="2373040"/>
            <a:ext cx="48975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400">
                <a:solidFill>
                  <a:schemeClr val="dk1"/>
                </a:solidFill>
                <a:latin typeface="Poppins"/>
                <a:ea typeface="Poppins"/>
                <a:cs typeface="Poppins"/>
                <a:sym typeface="Poppins"/>
              </a:rPr>
              <a:t>For example: </a:t>
            </a:r>
            <a:endParaRPr sz="2400">
              <a:solidFill>
                <a:schemeClr val="dk1"/>
              </a:solidFill>
              <a:latin typeface="Poppins"/>
              <a:ea typeface="Poppins"/>
              <a:cs typeface="Poppins"/>
              <a:sym typeface="Poppins"/>
            </a:endParaRPr>
          </a:p>
        </p:txBody>
      </p:sp>
      <p:sp>
        <p:nvSpPr>
          <p:cNvPr id="452" name="Google Shape;452;p56"/>
          <p:cNvSpPr txBox="1"/>
          <p:nvPr/>
        </p:nvSpPr>
        <p:spPr>
          <a:xfrm>
            <a:off x="5469000" y="2373050"/>
            <a:ext cx="5808300" cy="4248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400">
                <a:solidFill>
                  <a:schemeClr val="dk1"/>
                </a:solidFill>
                <a:latin typeface="Poppins"/>
                <a:ea typeface="Poppins"/>
                <a:cs typeface="Poppins"/>
                <a:sym typeface="Poppins"/>
              </a:rPr>
              <a:t>What Hibernate assumes (by default)</a:t>
            </a:r>
            <a:r>
              <a:rPr lang="en-US" sz="2400">
                <a:solidFill>
                  <a:schemeClr val="dk1"/>
                </a:solidFill>
                <a:latin typeface="Poppins"/>
                <a:ea typeface="Poppins"/>
                <a:cs typeface="Poppins"/>
                <a:sym typeface="Poppins"/>
              </a:rPr>
              <a:t>:</a:t>
            </a:r>
            <a:endParaRPr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Table name → </a:t>
            </a:r>
            <a:r>
              <a:rPr b="1" lang="en-US" sz="2400">
                <a:solidFill>
                  <a:schemeClr val="dk1"/>
                </a:solidFill>
                <a:latin typeface="Poppins"/>
                <a:ea typeface="Poppins"/>
                <a:cs typeface="Poppins"/>
                <a:sym typeface="Poppins"/>
              </a:rPr>
              <a:t>Student</a:t>
            </a:r>
            <a:endParaRPr b="1"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Column name → </a:t>
            </a:r>
            <a:r>
              <a:rPr b="1" lang="en-US" sz="2400">
                <a:solidFill>
                  <a:schemeClr val="dk1"/>
                </a:solidFill>
                <a:latin typeface="Poppins"/>
                <a:ea typeface="Poppins"/>
                <a:cs typeface="Poppins"/>
                <a:sym typeface="Poppins"/>
              </a:rPr>
              <a:t>id</a:t>
            </a:r>
            <a:r>
              <a:rPr b="1" lang="en-US" sz="2400">
                <a:solidFill>
                  <a:schemeClr val="dk1"/>
                </a:solidFill>
                <a:latin typeface="Poppins"/>
                <a:ea typeface="Poppins"/>
                <a:cs typeface="Poppins"/>
                <a:sym typeface="Poppins"/>
              </a:rPr>
              <a:t>, name, age, email</a:t>
            </a:r>
            <a:endParaRPr b="1"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Column type: inferred from Java type </a:t>
            </a:r>
            <a:endParaRPr sz="2400">
              <a:solidFill>
                <a:schemeClr val="dk1"/>
              </a:solidFill>
              <a:latin typeface="Poppins"/>
              <a:ea typeface="Poppins"/>
              <a:cs typeface="Poppins"/>
              <a:sym typeface="Poppins"/>
            </a:endParaRPr>
          </a:p>
          <a:p>
            <a:pPr indent="-381000" lvl="1"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String → </a:t>
            </a:r>
            <a:r>
              <a:rPr b="1" lang="en-US" sz="2400">
                <a:solidFill>
                  <a:schemeClr val="dk1"/>
                </a:solidFill>
                <a:latin typeface="Poppins"/>
                <a:ea typeface="Poppins"/>
                <a:cs typeface="Poppins"/>
                <a:sym typeface="Poppins"/>
              </a:rPr>
              <a:t>VARCHAR(255)</a:t>
            </a:r>
            <a:endParaRPr sz="2400">
              <a:solidFill>
                <a:schemeClr val="dk1"/>
              </a:solidFill>
              <a:latin typeface="Poppins"/>
              <a:ea typeface="Poppins"/>
              <a:cs typeface="Poppins"/>
              <a:sym typeface="Poppins"/>
            </a:endParaRPr>
          </a:p>
          <a:p>
            <a:pPr indent="-381000" lvl="1"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int </a:t>
            </a:r>
            <a:r>
              <a:rPr lang="en-US" sz="2400">
                <a:solidFill>
                  <a:schemeClr val="dk1"/>
                </a:solidFill>
                <a:latin typeface="Poppins"/>
                <a:ea typeface="Poppins"/>
                <a:cs typeface="Poppins"/>
                <a:sym typeface="Poppins"/>
              </a:rPr>
              <a:t>→ </a:t>
            </a:r>
            <a:r>
              <a:rPr b="1" lang="en-US" sz="2400">
                <a:solidFill>
                  <a:schemeClr val="dk1"/>
                </a:solidFill>
                <a:latin typeface="Poppins"/>
                <a:ea typeface="Poppins"/>
                <a:cs typeface="Poppins"/>
                <a:sym typeface="Poppins"/>
              </a:rPr>
              <a:t>INTEGER</a:t>
            </a:r>
            <a:endParaRPr b="1" sz="2400">
              <a:solidFill>
                <a:schemeClr val="dk1"/>
              </a:solidFill>
              <a:latin typeface="Poppins"/>
              <a:ea typeface="Poppins"/>
              <a:cs typeface="Poppins"/>
              <a:sym typeface="Poppins"/>
            </a:endParaRPr>
          </a:p>
          <a:p>
            <a:pPr indent="-381000" lvl="1"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Long → </a:t>
            </a:r>
            <a:r>
              <a:rPr b="1" lang="en-US" sz="2400">
                <a:solidFill>
                  <a:schemeClr val="dk1"/>
                </a:solidFill>
                <a:latin typeface="Poppins"/>
                <a:ea typeface="Poppins"/>
                <a:cs typeface="Poppins"/>
                <a:sym typeface="Poppins"/>
              </a:rPr>
              <a:t>BIGINT</a:t>
            </a:r>
            <a:endParaRPr sz="2400">
              <a:solidFill>
                <a:schemeClr val="dk1"/>
              </a:solidFill>
              <a:latin typeface="Poppins"/>
              <a:ea typeface="Poppins"/>
              <a:cs typeface="Poppins"/>
              <a:sym typeface="Poppins"/>
            </a:endParaRPr>
          </a:p>
        </p:txBody>
      </p:sp>
      <p:sp>
        <p:nvSpPr>
          <p:cNvPr id="453" name="Google Shape;453;p56"/>
          <p:cNvSpPr txBox="1"/>
          <p:nvPr/>
        </p:nvSpPr>
        <p:spPr>
          <a:xfrm>
            <a:off x="446500" y="2976950"/>
            <a:ext cx="4897500" cy="2281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pic>
        <p:nvPicPr>
          <p:cNvPr descr="image.png" id="458" name="Google Shape;458;p5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59" name="Google Shape;459;p57"/>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Implicit</a:t>
            </a:r>
            <a:endParaRPr b="1" sz="3600">
              <a:solidFill>
                <a:srgbClr val="B91C1C"/>
              </a:solidFill>
              <a:latin typeface="Poppins"/>
              <a:ea typeface="Poppins"/>
              <a:cs typeface="Poppins"/>
              <a:sym typeface="Poppins"/>
            </a:endParaRPr>
          </a:p>
        </p:txBody>
      </p:sp>
      <p:sp>
        <p:nvSpPr>
          <p:cNvPr id="460" name="Google Shape;460;p57"/>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1" name="Google Shape;461;p57"/>
          <p:cNvSpPr txBox="1"/>
          <p:nvPr/>
        </p:nvSpPr>
        <p:spPr>
          <a:xfrm>
            <a:off x="571500" y="1338050"/>
            <a:ext cx="11049000" cy="418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solidFill>
                  <a:schemeClr val="dk1"/>
                </a:solidFill>
                <a:latin typeface="Poppins"/>
                <a:ea typeface="Poppins"/>
                <a:cs typeface="Poppins"/>
                <a:sym typeface="Poppins"/>
              </a:rPr>
              <a:t>Pros of implicit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Less code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Faster to write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Good for simple projects or prototype</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rPr b="1" lang="en-US" sz="2600">
                <a:solidFill>
                  <a:schemeClr val="dk1"/>
                </a:solidFill>
                <a:latin typeface="Poppins"/>
                <a:ea typeface="Poppins"/>
                <a:cs typeface="Poppins"/>
                <a:sym typeface="Poppins"/>
              </a:rPr>
              <a:t>Cons of implicit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Less Control</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Defaults vary between providers (Hibernate, EclipseLink)</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Unpredictable in naming strategy, unless naming strategy is configured in persistence.xml</a:t>
            </a:r>
            <a:endParaRPr sz="2600">
              <a:solidFill>
                <a:schemeClr val="dk1"/>
              </a:solidFill>
              <a:latin typeface="Poppins"/>
              <a:ea typeface="Poppins"/>
              <a:cs typeface="Poppins"/>
              <a:sym typeface="Poppins"/>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pic>
        <p:nvPicPr>
          <p:cNvPr descr="image.png" id="466" name="Google Shape;466;p5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67" name="Google Shape;467;p58"/>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Explicit</a:t>
            </a:r>
            <a:endParaRPr b="1" sz="3600">
              <a:solidFill>
                <a:srgbClr val="B91C1C"/>
              </a:solidFill>
              <a:latin typeface="Poppins"/>
              <a:ea typeface="Poppins"/>
              <a:cs typeface="Poppins"/>
              <a:sym typeface="Poppins"/>
            </a:endParaRPr>
          </a:p>
        </p:txBody>
      </p:sp>
      <p:sp>
        <p:nvSpPr>
          <p:cNvPr id="468" name="Google Shape;468;p58"/>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58"/>
          <p:cNvSpPr txBox="1"/>
          <p:nvPr/>
        </p:nvSpPr>
        <p:spPr>
          <a:xfrm>
            <a:off x="571500" y="1338050"/>
            <a:ext cx="110490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1"/>
                </a:solidFill>
                <a:latin typeface="Poppins"/>
                <a:ea typeface="Poppins"/>
                <a:cs typeface="Poppins"/>
                <a:sym typeface="Poppins"/>
              </a:rPr>
              <a:t>Explicit mapping</a:t>
            </a:r>
            <a:r>
              <a:rPr lang="en-US" sz="2500">
                <a:solidFill>
                  <a:schemeClr val="dk1"/>
                </a:solidFill>
                <a:latin typeface="Poppins"/>
                <a:ea typeface="Poppins"/>
                <a:cs typeface="Poppins"/>
                <a:sym typeface="Poppins"/>
              </a:rPr>
              <a:t> means you specify how entity classes and fields map to database tables and columns using annotations.</a:t>
            </a:r>
            <a:endParaRPr sz="2500">
              <a:solidFill>
                <a:schemeClr val="dk1"/>
              </a:solidFill>
              <a:latin typeface="Poppins"/>
              <a:ea typeface="Poppins"/>
              <a:cs typeface="Poppins"/>
              <a:sym typeface="Poppins"/>
            </a:endParaRPr>
          </a:p>
        </p:txBody>
      </p:sp>
      <p:sp>
        <p:nvSpPr>
          <p:cNvPr id="470" name="Google Shape;470;p58"/>
          <p:cNvSpPr txBox="1"/>
          <p:nvPr/>
        </p:nvSpPr>
        <p:spPr>
          <a:xfrm>
            <a:off x="571500" y="2373040"/>
            <a:ext cx="48975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400">
                <a:solidFill>
                  <a:schemeClr val="dk1"/>
                </a:solidFill>
                <a:latin typeface="Poppins"/>
                <a:ea typeface="Poppins"/>
                <a:cs typeface="Poppins"/>
                <a:sym typeface="Poppins"/>
              </a:rPr>
              <a:t>For example: </a:t>
            </a:r>
            <a:endParaRPr sz="2400">
              <a:solidFill>
                <a:schemeClr val="dk1"/>
              </a:solidFill>
              <a:latin typeface="Poppins"/>
              <a:ea typeface="Poppins"/>
              <a:cs typeface="Poppins"/>
              <a:sym typeface="Poppins"/>
            </a:endParaRPr>
          </a:p>
        </p:txBody>
      </p:sp>
      <p:sp>
        <p:nvSpPr>
          <p:cNvPr id="471" name="Google Shape;471;p58"/>
          <p:cNvSpPr txBox="1"/>
          <p:nvPr/>
        </p:nvSpPr>
        <p:spPr>
          <a:xfrm>
            <a:off x="642925" y="2927150"/>
            <a:ext cx="10977600" cy="3701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000">
                <a:solidFill>
                  <a:srgbClr val="A0A0A0"/>
                </a:solidFill>
                <a:highlight>
                  <a:srgbClr val="1E1F22"/>
                </a:highlight>
                <a:latin typeface="Courier New"/>
                <a:ea typeface="Courier New"/>
                <a:cs typeface="Courier New"/>
                <a:sym typeface="Courier New"/>
              </a:rPr>
              <a:t>@Entity</a:t>
            </a:r>
            <a:endParaRPr i="1" sz="10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000">
                <a:solidFill>
                  <a:srgbClr val="A0A0A0"/>
                </a:solidFill>
                <a:highlight>
                  <a:srgbClr val="1E1F22"/>
                </a:highlight>
                <a:latin typeface="Courier New"/>
                <a:ea typeface="Courier New"/>
                <a:cs typeface="Courier New"/>
                <a:sym typeface="Courier New"/>
              </a:rPr>
              <a:t>@Table</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"students"</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CC6C1D"/>
                </a:solidFill>
                <a:highlight>
                  <a:srgbClr val="1E1F22"/>
                </a:highlight>
                <a:latin typeface="Courier New"/>
                <a:ea typeface="Courier New"/>
                <a:cs typeface="Courier New"/>
                <a:sym typeface="Courier New"/>
              </a:rPr>
              <a:t>public</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class</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Student</a:t>
            </a:r>
            <a:r>
              <a:rPr lang="en-US" sz="1000">
                <a:solidFill>
                  <a:srgbClr val="D9E8F7"/>
                </a:solidFill>
                <a:highlight>
                  <a:srgbClr val="1E1F22"/>
                </a:highlight>
                <a:latin typeface="Courier New"/>
                <a:ea typeface="Courier New"/>
                <a:cs typeface="Courier New"/>
                <a:sym typeface="Courier New"/>
              </a:rPr>
              <a:t> </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@Id</a:t>
            </a:r>
            <a:endParaRPr i="1" sz="10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"id"</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@GeneratedValue</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strategy</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i="1" lang="en-US" sz="1000">
                <a:solidFill>
                  <a:srgbClr val="CC81BA"/>
                </a:solidFill>
                <a:highlight>
                  <a:srgbClr val="1E1F22"/>
                </a:highlight>
                <a:latin typeface="Courier New"/>
                <a:ea typeface="Courier New"/>
                <a:cs typeface="Courier New"/>
                <a:sym typeface="Courier New"/>
              </a:rPr>
              <a:t>GenerationType</a:t>
            </a:r>
            <a:r>
              <a:rPr lang="en-US" sz="1000">
                <a:solidFill>
                  <a:srgbClr val="E6E6FA"/>
                </a:solidFill>
                <a:highlight>
                  <a:srgbClr val="1E1F22"/>
                </a:highlight>
                <a:latin typeface="Courier New"/>
                <a:ea typeface="Courier New"/>
                <a:cs typeface="Courier New"/>
                <a:sym typeface="Courier New"/>
              </a:rPr>
              <a:t>.</a:t>
            </a:r>
            <a:r>
              <a:rPr b="1" i="1" lang="en-US" sz="1000">
                <a:solidFill>
                  <a:srgbClr val="8DDAF8"/>
                </a:solidFill>
                <a:highlight>
                  <a:srgbClr val="1E1F22"/>
                </a:highlight>
                <a:latin typeface="Courier New"/>
                <a:ea typeface="Courier New"/>
                <a:cs typeface="Courier New"/>
                <a:sym typeface="Courier New"/>
              </a:rPr>
              <a:t>IDENTITY</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Long</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id</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"name"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nullable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false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length</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6897BB"/>
                </a:solidFill>
                <a:highlight>
                  <a:srgbClr val="1E1F22"/>
                </a:highlight>
                <a:latin typeface="Courier New"/>
                <a:ea typeface="Courier New"/>
                <a:cs typeface="Courier New"/>
                <a:sym typeface="Courier New"/>
              </a:rPr>
              <a:t>50</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columnDefinition</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"VARCHAR(50)"</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String</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name</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"age"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columnDefinition</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"INT"</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int</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age</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"email"</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unique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true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length</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6897BB"/>
                </a:solidFill>
                <a:highlight>
                  <a:srgbClr val="1E1F22"/>
                </a:highlight>
                <a:latin typeface="Courier New"/>
                <a:ea typeface="Courier New"/>
                <a:cs typeface="Courier New"/>
                <a:sym typeface="Courier New"/>
              </a:rPr>
              <a:t>100</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columnDefinition</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"VARCHAR(100)"</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String</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email</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6E6FA"/>
                </a:solidFill>
                <a:highlight>
                  <a:srgbClr val="1E1F22"/>
                </a:highlight>
                <a:latin typeface="Courier New"/>
                <a:ea typeface="Courier New"/>
                <a:cs typeface="Courier New"/>
                <a:sym typeface="Courier New"/>
              </a:rPr>
              <a:t>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6E6FA"/>
                </a:solidFill>
                <a:highlight>
                  <a:srgbClr val="1E1F22"/>
                </a:highlight>
                <a:latin typeface="Courier New"/>
                <a:ea typeface="Courier New"/>
                <a:cs typeface="Courier New"/>
                <a:sym typeface="Courier New"/>
              </a:rPr>
              <a:t>	//getters and setters</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5" name="Shape 475"/>
        <p:cNvGrpSpPr/>
        <p:nvPr/>
      </p:nvGrpSpPr>
      <p:grpSpPr>
        <a:xfrm>
          <a:off x="0" y="0"/>
          <a:ext cx="0" cy="0"/>
          <a:chOff x="0" y="0"/>
          <a:chExt cx="0" cy="0"/>
        </a:xfrm>
      </p:grpSpPr>
      <p:pic>
        <p:nvPicPr>
          <p:cNvPr descr="image.png" id="476" name="Google Shape;476;p5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77" name="Google Shape;477;p59"/>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Explicit</a:t>
            </a:r>
            <a:endParaRPr b="1" sz="3600">
              <a:solidFill>
                <a:srgbClr val="B91C1C"/>
              </a:solidFill>
              <a:latin typeface="Poppins"/>
              <a:ea typeface="Poppins"/>
              <a:cs typeface="Poppins"/>
              <a:sym typeface="Poppins"/>
            </a:endParaRPr>
          </a:p>
        </p:txBody>
      </p:sp>
      <p:sp>
        <p:nvSpPr>
          <p:cNvPr id="478" name="Google Shape;478;p59"/>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59"/>
          <p:cNvSpPr txBox="1"/>
          <p:nvPr/>
        </p:nvSpPr>
        <p:spPr>
          <a:xfrm>
            <a:off x="571500" y="1338050"/>
            <a:ext cx="11049000" cy="3786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solidFill>
                  <a:schemeClr val="dk1"/>
                </a:solidFill>
                <a:latin typeface="Poppins"/>
                <a:ea typeface="Poppins"/>
                <a:cs typeface="Poppins"/>
                <a:sym typeface="Poppins"/>
              </a:rPr>
              <a:t>Pros of explicit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Predictable behavior</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Database-friendly naming</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Safer for production</a:t>
            </a:r>
            <a:endParaRPr sz="26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rPr b="1" lang="en-US" sz="2600">
                <a:solidFill>
                  <a:schemeClr val="dk1"/>
                </a:solidFill>
                <a:latin typeface="Poppins"/>
                <a:ea typeface="Poppins"/>
                <a:cs typeface="Poppins"/>
                <a:sym typeface="Poppins"/>
              </a:rPr>
              <a:t>Cons of implicit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More annotations</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More boilerplate/code</a:t>
            </a:r>
            <a:endParaRPr sz="2600">
              <a:solidFill>
                <a:schemeClr val="dk1"/>
              </a:solidFill>
              <a:latin typeface="Poppins"/>
              <a:ea typeface="Poppins"/>
              <a:cs typeface="Poppins"/>
              <a:sym typeface="Poppins"/>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3" name="Shape 483"/>
        <p:cNvGrpSpPr/>
        <p:nvPr/>
      </p:nvGrpSpPr>
      <p:grpSpPr>
        <a:xfrm>
          <a:off x="0" y="0"/>
          <a:ext cx="0" cy="0"/>
          <a:chOff x="0" y="0"/>
          <a:chExt cx="0" cy="0"/>
        </a:xfrm>
      </p:grpSpPr>
      <p:pic>
        <p:nvPicPr>
          <p:cNvPr descr="image.png" id="484" name="Google Shape;484;p6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85" name="Google Shape;485;p6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@GeneratedValue</a:t>
            </a:r>
            <a:endParaRPr b="1" sz="3600">
              <a:solidFill>
                <a:srgbClr val="B91C1C"/>
              </a:solidFill>
              <a:latin typeface="Poppins"/>
              <a:ea typeface="Poppins"/>
              <a:cs typeface="Poppins"/>
              <a:sym typeface="Poppins"/>
            </a:endParaRPr>
          </a:p>
        </p:txBody>
      </p:sp>
      <p:sp>
        <p:nvSpPr>
          <p:cNvPr id="486" name="Google Shape;486;p6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7" name="Google Shape;487;p60"/>
          <p:cNvSpPr txBox="1"/>
          <p:nvPr/>
        </p:nvSpPr>
        <p:spPr>
          <a:xfrm>
            <a:off x="571500" y="1606000"/>
            <a:ext cx="11049000" cy="4925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200">
                <a:solidFill>
                  <a:schemeClr val="dk1"/>
                </a:solidFill>
                <a:latin typeface="Poppins"/>
                <a:ea typeface="Poppins"/>
                <a:cs typeface="Poppins"/>
                <a:sym typeface="Poppins"/>
              </a:rPr>
              <a:t>@GeneratedValue is a annotation used on primary key fields of an entity </a:t>
            </a:r>
            <a:r>
              <a:rPr b="1" lang="en-US" sz="2200">
                <a:solidFill>
                  <a:schemeClr val="dk1"/>
                </a:solidFill>
                <a:latin typeface="Poppins"/>
                <a:ea typeface="Poppins"/>
                <a:cs typeface="Poppins"/>
                <a:sym typeface="Poppins"/>
              </a:rPr>
              <a:t>to indicate that the value of the primary key should be generated automatically by the persistence provider (like Hibernate) or the database.</a:t>
            </a:r>
            <a:endParaRPr b="1"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Without it, you would need to manually assign a unique ID to each entity.</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For Example:</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Here, you don’t have to set id manually when creating a new Product. When the entity is persisted, JPA automatically generates it.</a:t>
            </a:r>
            <a:endParaRPr sz="2200">
              <a:solidFill>
                <a:schemeClr val="dk1"/>
              </a:solidFill>
              <a:latin typeface="Poppins"/>
              <a:ea typeface="Poppins"/>
              <a:cs typeface="Poppins"/>
              <a:sym typeface="Poppins"/>
            </a:endParaRPr>
          </a:p>
        </p:txBody>
      </p:sp>
      <p:sp>
        <p:nvSpPr>
          <p:cNvPr id="488" name="Google Shape;488;p60"/>
          <p:cNvSpPr txBox="1"/>
          <p:nvPr/>
        </p:nvSpPr>
        <p:spPr>
          <a:xfrm>
            <a:off x="669725" y="4232675"/>
            <a:ext cx="10950900" cy="100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pic>
        <p:nvPicPr>
          <p:cNvPr descr="image.png" id="493" name="Google Shape;493;p6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94" name="Google Shape;494;p6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@GeneratedValue GenerationType </a:t>
            </a:r>
            <a:endParaRPr b="1" sz="3600">
              <a:solidFill>
                <a:srgbClr val="B91C1C"/>
              </a:solidFill>
              <a:latin typeface="Poppins"/>
              <a:ea typeface="Poppins"/>
              <a:cs typeface="Poppins"/>
              <a:sym typeface="Poppins"/>
            </a:endParaRPr>
          </a:p>
        </p:txBody>
      </p:sp>
      <p:sp>
        <p:nvSpPr>
          <p:cNvPr id="495" name="Google Shape;495;p6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496" name="Google Shape;496;p61"/>
          <p:cNvGraphicFramePr/>
          <p:nvPr/>
        </p:nvGraphicFramePr>
        <p:xfrm>
          <a:off x="502963" y="1861875"/>
          <a:ext cx="3000000" cy="3000000"/>
        </p:xfrm>
        <a:graphic>
          <a:graphicData uri="http://schemas.openxmlformats.org/drawingml/2006/table">
            <a:tbl>
              <a:tblPr>
                <a:noFill/>
                <a:tableStyleId>{4B106EDE-8917-4D5C-A709-884EA9C3CE55}</a:tableStyleId>
              </a:tblPr>
              <a:tblGrid>
                <a:gridCol w="2432900"/>
                <a:gridCol w="2388825"/>
                <a:gridCol w="2891275"/>
                <a:gridCol w="3473050"/>
              </a:tblGrid>
              <a:tr h="337800">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GenerationType / Method</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How it works</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Database Example / Notes</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When to use</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AUTO</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JPA chooses the strategy based on database dialect</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MySQL → IDENTITY, PostgreSQL → SEQUENCE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Database portability if you don’t care about exact strategy</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IDENTITY</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Database auto-increments the value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MySQL AUTO_INCREMENT, SQL Server IDENTITY, POSTGRES SERIAL</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Simple numeric PKs; may affect batch inserts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SEQUENCE</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Uses a database sequence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Oracle, PostgreSQL</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Control over sequences; supports prefetching for performance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TABLE</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Uses a special table to generate unique IDs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Any DB, slower than SEQUENCE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For DBs that don’t support sequences or identity columns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30800">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UUID</a:t>
                      </a:r>
                      <a:r>
                        <a:rPr lang="en-US" sz="1300">
                          <a:solidFill>
                            <a:schemeClr val="dk1"/>
                          </a:solidFill>
                          <a:latin typeface="Poppins"/>
                          <a:ea typeface="Poppins"/>
                          <a:cs typeface="Poppins"/>
                          <a:sym typeface="Poppins"/>
                        </a:rPr>
                        <a:t> </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Generates a 128-bit globally unique identifier</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Can use Hibernate UUIDGenerator or Java UUID.randomUUID()</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When you need unique IDs across systems, or you want non-guessable IDs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pic>
        <p:nvPicPr>
          <p:cNvPr descr="image.png" id="501" name="Google Shape;501;p6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02" name="Google Shape;502;p6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Explicitly Set GenerationType</a:t>
            </a:r>
            <a:endParaRPr b="1" sz="3600">
              <a:solidFill>
                <a:srgbClr val="B91C1C"/>
              </a:solidFill>
              <a:latin typeface="Poppins"/>
              <a:ea typeface="Poppins"/>
              <a:cs typeface="Poppins"/>
              <a:sym typeface="Poppins"/>
            </a:endParaRPr>
          </a:p>
        </p:txBody>
      </p:sp>
      <p:sp>
        <p:nvSpPr>
          <p:cNvPr id="503" name="Google Shape;503;p6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4" name="Google Shape;504;p62"/>
          <p:cNvSpPr txBox="1"/>
          <p:nvPr/>
        </p:nvSpPr>
        <p:spPr>
          <a:xfrm>
            <a:off x="571500" y="1693950"/>
            <a:ext cx="3000000" cy="585000"/>
          </a:xfrm>
          <a:prstGeom prst="rect">
            <a:avLst/>
          </a:prstGeom>
          <a:noFill/>
          <a:ln>
            <a:noFill/>
          </a:ln>
        </p:spPr>
        <p:txBody>
          <a:bodyPr anchorCtr="0" anchor="t" bIns="91425" lIns="91425" spcFirstLastPara="1" rIns="91425" wrap="square" tIns="91425">
            <a:spAutoFit/>
          </a:bodyPr>
          <a:lstStyle/>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For example:</a:t>
            </a:r>
            <a:endParaRPr/>
          </a:p>
        </p:txBody>
      </p:sp>
      <p:sp>
        <p:nvSpPr>
          <p:cNvPr id="505" name="Google Shape;505;p62"/>
          <p:cNvSpPr txBox="1"/>
          <p:nvPr/>
        </p:nvSpPr>
        <p:spPr>
          <a:xfrm>
            <a:off x="2902150" y="2324300"/>
            <a:ext cx="6991200" cy="1212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@Id</a:t>
            </a:r>
            <a:endParaRPr i="1" sz="15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@Column</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name</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"id"</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@GeneratedValue</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strategy</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i="1" lang="en-US" sz="1500">
                <a:solidFill>
                  <a:srgbClr val="CC81BA"/>
                </a:solidFill>
                <a:highlight>
                  <a:srgbClr val="1E1F22"/>
                </a:highlight>
                <a:latin typeface="Courier New"/>
                <a:ea typeface="Courier New"/>
                <a:cs typeface="Courier New"/>
                <a:sym typeface="Courier New"/>
              </a:rPr>
              <a:t>GenerationType</a:t>
            </a:r>
            <a:r>
              <a:rPr lang="en-US" sz="1500">
                <a:solidFill>
                  <a:srgbClr val="E6E6FA"/>
                </a:solidFill>
                <a:highlight>
                  <a:srgbClr val="1E1F22"/>
                </a:highlight>
                <a:latin typeface="Courier New"/>
                <a:ea typeface="Courier New"/>
                <a:cs typeface="Courier New"/>
                <a:sym typeface="Courier New"/>
              </a:rPr>
              <a:t>.</a:t>
            </a:r>
            <a:r>
              <a:rPr b="1" i="1" lang="en-US" sz="1500">
                <a:solidFill>
                  <a:srgbClr val="8DDAF8"/>
                </a:solidFill>
                <a:highlight>
                  <a:srgbClr val="1E1F22"/>
                </a:highlight>
                <a:latin typeface="Courier New"/>
                <a:ea typeface="Courier New"/>
                <a:cs typeface="Courier New"/>
                <a:sym typeface="Courier New"/>
              </a:rPr>
              <a:t>IDENTITY</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CC6C1D"/>
                </a:solidFill>
                <a:highlight>
                  <a:srgbClr val="1E1F22"/>
                </a:highlight>
                <a:latin typeface="Courier New"/>
                <a:ea typeface="Courier New"/>
                <a:cs typeface="Courier New"/>
                <a:sym typeface="Courier New"/>
              </a:rPr>
              <a:t>private</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Long</a:t>
            </a:r>
            <a:r>
              <a:rPr lang="en-US" sz="1500">
                <a:solidFill>
                  <a:srgbClr val="D9E8F7"/>
                </a:solidFill>
                <a:highlight>
                  <a:srgbClr val="1E1F22"/>
                </a:highlight>
                <a:latin typeface="Courier New"/>
                <a:ea typeface="Courier New"/>
                <a:cs typeface="Courier New"/>
                <a:sym typeface="Courier New"/>
              </a:rPr>
              <a:t> </a:t>
            </a:r>
            <a:r>
              <a:rPr lang="en-US" sz="1500">
                <a:solidFill>
                  <a:srgbClr val="66E1F8"/>
                </a:solidFill>
                <a:highlight>
                  <a:srgbClr val="1E1F22"/>
                </a:highlight>
                <a:latin typeface="Courier New"/>
                <a:ea typeface="Courier New"/>
                <a:cs typeface="Courier New"/>
                <a:sym typeface="Courier New"/>
              </a:rPr>
              <a:t>id</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p:txBody>
      </p:sp>
      <p:sp>
        <p:nvSpPr>
          <p:cNvPr id="506" name="Google Shape;506;p62"/>
          <p:cNvSpPr txBox="1"/>
          <p:nvPr/>
        </p:nvSpPr>
        <p:spPr>
          <a:xfrm>
            <a:off x="2902150" y="4771450"/>
            <a:ext cx="6991200" cy="1212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@Id</a:t>
            </a:r>
            <a:endParaRPr i="1" sz="15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@Column</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name</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"id"</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@GeneratedValue</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strategy</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i="1" lang="en-US" sz="1500">
                <a:solidFill>
                  <a:srgbClr val="CC81BA"/>
                </a:solidFill>
                <a:highlight>
                  <a:srgbClr val="1E1F22"/>
                </a:highlight>
                <a:latin typeface="Courier New"/>
                <a:ea typeface="Courier New"/>
                <a:cs typeface="Courier New"/>
                <a:sym typeface="Courier New"/>
              </a:rPr>
              <a:t>GenerationType</a:t>
            </a:r>
            <a:r>
              <a:rPr lang="en-US" sz="1500">
                <a:solidFill>
                  <a:srgbClr val="E6E6FA"/>
                </a:solidFill>
                <a:highlight>
                  <a:srgbClr val="1E1F22"/>
                </a:highlight>
                <a:latin typeface="Courier New"/>
                <a:ea typeface="Courier New"/>
                <a:cs typeface="Courier New"/>
                <a:sym typeface="Courier New"/>
              </a:rPr>
              <a:t>.</a:t>
            </a:r>
            <a:r>
              <a:rPr b="1" i="1" lang="en-US" sz="1500">
                <a:solidFill>
                  <a:srgbClr val="8DDAF8"/>
                </a:solidFill>
                <a:highlight>
                  <a:srgbClr val="1E1F22"/>
                </a:highlight>
                <a:latin typeface="Courier New"/>
                <a:ea typeface="Courier New"/>
                <a:cs typeface="Courier New"/>
                <a:sym typeface="Courier New"/>
              </a:rPr>
              <a:t>UUID</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CC6C1D"/>
                </a:solidFill>
                <a:highlight>
                  <a:srgbClr val="1E1F22"/>
                </a:highlight>
                <a:latin typeface="Courier New"/>
                <a:ea typeface="Courier New"/>
                <a:cs typeface="Courier New"/>
                <a:sym typeface="Courier New"/>
              </a:rPr>
              <a:t>private</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Long</a:t>
            </a:r>
            <a:r>
              <a:rPr lang="en-US" sz="1500">
                <a:solidFill>
                  <a:srgbClr val="D9E8F7"/>
                </a:solidFill>
                <a:highlight>
                  <a:srgbClr val="1E1F22"/>
                </a:highlight>
                <a:latin typeface="Courier New"/>
                <a:ea typeface="Courier New"/>
                <a:cs typeface="Courier New"/>
                <a:sym typeface="Courier New"/>
              </a:rPr>
              <a:t> </a:t>
            </a:r>
            <a:r>
              <a:rPr lang="en-US" sz="1500">
                <a:solidFill>
                  <a:srgbClr val="66E1F8"/>
                </a:solidFill>
                <a:highlight>
                  <a:srgbClr val="1E1F22"/>
                </a:highlight>
                <a:latin typeface="Courier New"/>
                <a:ea typeface="Courier New"/>
                <a:cs typeface="Courier New"/>
                <a:sym typeface="Courier New"/>
              </a:rPr>
              <a:t>id</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p:txBody>
      </p:sp>
      <p:sp>
        <p:nvSpPr>
          <p:cNvPr id="507" name="Google Shape;507;p62"/>
          <p:cNvSpPr txBox="1"/>
          <p:nvPr/>
        </p:nvSpPr>
        <p:spPr>
          <a:xfrm>
            <a:off x="5404600" y="3847125"/>
            <a:ext cx="6468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600">
                <a:solidFill>
                  <a:schemeClr val="dk1"/>
                </a:solidFill>
                <a:latin typeface="Poppins"/>
                <a:ea typeface="Poppins"/>
                <a:cs typeface="Poppins"/>
                <a:sym typeface="Poppins"/>
              </a:rPr>
              <a:t>or</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1" name="Shape 511"/>
        <p:cNvGrpSpPr/>
        <p:nvPr/>
      </p:nvGrpSpPr>
      <p:grpSpPr>
        <a:xfrm>
          <a:off x="0" y="0"/>
          <a:ext cx="0" cy="0"/>
          <a:chOff x="0" y="0"/>
          <a:chExt cx="0" cy="0"/>
        </a:xfrm>
      </p:grpSpPr>
      <p:pic>
        <p:nvPicPr>
          <p:cNvPr descr="image.png" id="512" name="Google Shape;512;p6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13" name="Google Shape;513;p6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Add entity in Persistence.xml</a:t>
            </a:r>
            <a:endParaRPr b="1" sz="3600">
              <a:solidFill>
                <a:srgbClr val="B91C1C"/>
              </a:solidFill>
              <a:latin typeface="Poppins"/>
              <a:ea typeface="Poppins"/>
              <a:cs typeface="Poppins"/>
              <a:sym typeface="Poppins"/>
            </a:endParaRPr>
          </a:p>
        </p:txBody>
      </p:sp>
      <p:sp>
        <p:nvSpPr>
          <p:cNvPr id="514" name="Google Shape;514;p6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5" name="Google Shape;515;p63"/>
          <p:cNvSpPr txBox="1"/>
          <p:nvPr/>
        </p:nvSpPr>
        <p:spPr>
          <a:xfrm>
            <a:off x="571500" y="1535900"/>
            <a:ext cx="11049000" cy="1644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persistence-unit</a:t>
            </a:r>
            <a:r>
              <a:rPr lang="en-US" sz="1200">
                <a:solidFill>
                  <a:srgbClr val="CCCCCC"/>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name</a:t>
            </a:r>
            <a:r>
              <a:rPr lang="en-US" sz="1200">
                <a:solidFill>
                  <a:srgbClr val="52CA11"/>
                </a:solidFill>
                <a:highlight>
                  <a:srgbClr val="1E1F22"/>
                </a:highlight>
                <a:latin typeface="Courier New"/>
                <a:ea typeface="Courier New"/>
                <a:cs typeface="Courier New"/>
                <a:sym typeface="Courier New"/>
              </a:rPr>
              <a:t>=</a:t>
            </a:r>
            <a:r>
              <a:rPr i="1" lang="en-US" sz="1200">
                <a:solidFill>
                  <a:srgbClr val="17C694"/>
                </a:solidFill>
                <a:highlight>
                  <a:srgbClr val="1E1F22"/>
                </a:highlight>
                <a:latin typeface="Courier New"/>
                <a:ea typeface="Courier New"/>
                <a:cs typeface="Courier New"/>
                <a:sym typeface="Courier New"/>
              </a:rPr>
              <a:t>"default"</a:t>
            </a:r>
            <a:r>
              <a:rPr lang="en-US" sz="1200">
                <a:solidFill>
                  <a:srgbClr val="CCCCCC"/>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transaction-type</a:t>
            </a:r>
            <a:r>
              <a:rPr lang="en-US" sz="1200">
                <a:solidFill>
                  <a:srgbClr val="52CA11"/>
                </a:solidFill>
                <a:highlight>
                  <a:srgbClr val="1E1F22"/>
                </a:highlight>
                <a:latin typeface="Courier New"/>
                <a:ea typeface="Courier New"/>
                <a:cs typeface="Courier New"/>
                <a:sym typeface="Courier New"/>
              </a:rPr>
              <a:t>=</a:t>
            </a:r>
            <a:r>
              <a:rPr i="1" lang="en-US" sz="1200">
                <a:solidFill>
                  <a:srgbClr val="17C694"/>
                </a:solidFill>
                <a:highlight>
                  <a:srgbClr val="1E1F22"/>
                </a:highlight>
                <a:latin typeface="Courier New"/>
                <a:ea typeface="Courier New"/>
                <a:cs typeface="Courier New"/>
                <a:sym typeface="Courier New"/>
              </a:rPr>
              <a:t>"RESOURCE_LOCAL"</a:t>
            </a:r>
            <a:r>
              <a:rPr lang="en-US" sz="1200">
                <a:solidFill>
                  <a:srgbClr val="808080"/>
                </a:solidFill>
                <a:highlight>
                  <a:srgbClr val="1E1F22"/>
                </a:highlight>
                <a:latin typeface="Courier New"/>
                <a:ea typeface="Courier New"/>
                <a:cs typeface="Courier New"/>
                <a:sym typeface="Courier New"/>
              </a:rPr>
              <a:t>&gt;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626262"/>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class</a:t>
            </a:r>
            <a:r>
              <a:rPr lang="en-US" sz="1200">
                <a:solidFill>
                  <a:srgbClr val="808080"/>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com.bpi.module6.model.Student</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class</a:t>
            </a:r>
            <a:r>
              <a:rPr lang="en-US" sz="1200">
                <a:solidFill>
                  <a:srgbClr val="808080"/>
                </a:solidFill>
                <a:highlight>
                  <a:srgbClr val="1E1F22"/>
                </a:highlight>
                <a:latin typeface="Courier New"/>
                <a:ea typeface="Courier New"/>
                <a:cs typeface="Courier New"/>
                <a:sym typeface="Courier New"/>
              </a:rPr>
              <a:t>&gt;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persistence-unit</a:t>
            </a:r>
            <a:r>
              <a:rPr lang="en-US" sz="1200">
                <a:solidFill>
                  <a:srgbClr val="808080"/>
                </a:solidFill>
                <a:highlight>
                  <a:srgbClr val="1E1F22"/>
                </a:highlight>
                <a:latin typeface="Courier New"/>
                <a:ea typeface="Courier New"/>
                <a:cs typeface="Courier New"/>
                <a:sym typeface="Courier New"/>
              </a:rPr>
              <a:t>&gt;</a:t>
            </a:r>
            <a:endParaRPr sz="1200">
              <a:solidFill>
                <a:srgbClr val="808080"/>
              </a:solidFill>
              <a:highlight>
                <a:srgbClr val="1E1F22"/>
              </a:highlight>
              <a:latin typeface="Courier New"/>
              <a:ea typeface="Courier New"/>
              <a:cs typeface="Courier New"/>
              <a:sym typeface="Courier New"/>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9" name="Shape 519"/>
        <p:cNvGrpSpPr/>
        <p:nvPr/>
      </p:nvGrpSpPr>
      <p:grpSpPr>
        <a:xfrm>
          <a:off x="0" y="0"/>
          <a:ext cx="0" cy="0"/>
          <a:chOff x="0" y="0"/>
          <a:chExt cx="0" cy="0"/>
        </a:xfrm>
      </p:grpSpPr>
      <p:pic>
        <p:nvPicPr>
          <p:cNvPr descr="image.png" id="520" name="Google Shape;520;p6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21" name="Google Shape;521;p6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M6_Activity2 - JPA Core Annotations</a:t>
            </a:r>
            <a:endParaRPr b="1" sz="3600">
              <a:solidFill>
                <a:srgbClr val="B91C1C"/>
              </a:solidFill>
              <a:latin typeface="Poppins"/>
              <a:ea typeface="Poppins"/>
              <a:cs typeface="Poppins"/>
              <a:sym typeface="Poppins"/>
            </a:endParaRPr>
          </a:p>
        </p:txBody>
      </p:sp>
      <p:sp>
        <p:nvSpPr>
          <p:cNvPr id="522" name="Google Shape;522;p64"/>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64"/>
          <p:cNvSpPr txBox="1"/>
          <p:nvPr/>
        </p:nvSpPr>
        <p:spPr>
          <a:xfrm>
            <a:off x="571500" y="1455200"/>
            <a:ext cx="11049000" cy="38790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Create a </a:t>
            </a:r>
            <a:r>
              <a:rPr lang="en-US" sz="2000">
                <a:solidFill>
                  <a:schemeClr val="dk1"/>
                </a:solidFill>
                <a:latin typeface="Poppins"/>
                <a:ea typeface="Poppins"/>
                <a:cs typeface="Poppins"/>
                <a:sym typeface="Poppins"/>
              </a:rPr>
              <a:t>Student</a:t>
            </a:r>
            <a:r>
              <a:rPr lang="en-US" sz="2000">
                <a:solidFill>
                  <a:schemeClr val="dk1"/>
                </a:solidFill>
                <a:latin typeface="Poppins"/>
                <a:ea typeface="Poppins"/>
                <a:cs typeface="Poppins"/>
                <a:sym typeface="Poppins"/>
              </a:rPr>
              <a:t> entity class, mapping the students table you created in Module 5 Exercise #3</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Explicitly map the database table name using @Table and also </a:t>
            </a:r>
            <a:r>
              <a:rPr lang="en-US" sz="2000">
                <a:solidFill>
                  <a:schemeClr val="dk1"/>
                </a:solidFill>
                <a:latin typeface="Poppins"/>
                <a:ea typeface="Poppins"/>
                <a:cs typeface="Poppins"/>
                <a:sym typeface="Poppins"/>
              </a:rPr>
              <a:t>explicitly</a:t>
            </a:r>
            <a:r>
              <a:rPr lang="en-US" sz="2000">
                <a:solidFill>
                  <a:schemeClr val="dk1"/>
                </a:solidFill>
                <a:latin typeface="Poppins"/>
                <a:ea typeface="Poppins"/>
                <a:cs typeface="Poppins"/>
                <a:sym typeface="Poppins"/>
              </a:rPr>
              <a:t> map the column details using @Column. </a:t>
            </a:r>
            <a:endParaRPr sz="2000">
              <a:solidFill>
                <a:schemeClr val="dk1"/>
              </a:solidFill>
              <a:latin typeface="Poppins"/>
              <a:ea typeface="Poppins"/>
              <a:cs typeface="Poppins"/>
              <a:sym typeface="Poppins"/>
            </a:endParaRPr>
          </a:p>
          <a:p>
            <a:pPr indent="0" lvl="0" marL="914400" rtl="0" algn="l">
              <a:spcBef>
                <a:spcPts val="0"/>
              </a:spcBef>
              <a:spcAft>
                <a:spcPts val="0"/>
              </a:spcAft>
              <a:buNone/>
            </a:pPr>
            <a:r>
              <a:rPr lang="en-US" sz="2000">
                <a:solidFill>
                  <a:schemeClr val="dk1"/>
                </a:solidFill>
                <a:latin typeface="Poppins"/>
                <a:ea typeface="Poppins"/>
                <a:cs typeface="Poppins"/>
                <a:sym typeface="Poppins"/>
              </a:rPr>
              <a:t>( ex. @Column(</a:t>
            </a:r>
            <a:r>
              <a:rPr b="1" lang="en-US" sz="2000">
                <a:solidFill>
                  <a:schemeClr val="dk1"/>
                </a:solidFill>
                <a:latin typeface="Poppins"/>
                <a:ea typeface="Poppins"/>
                <a:cs typeface="Poppins"/>
                <a:sym typeface="Poppins"/>
              </a:rPr>
              <a:t>columnDefinition=”VARCHAR(100)”</a:t>
            </a:r>
            <a:r>
              <a:rPr lang="en-US" sz="2000">
                <a:solidFill>
                  <a:schemeClr val="dk1"/>
                </a:solidFill>
                <a:latin typeface="Poppins"/>
                <a:ea typeface="Poppins"/>
                <a:cs typeface="Poppins"/>
                <a:sym typeface="Poppins"/>
              </a:rPr>
              <a:t>, </a:t>
            </a:r>
            <a:r>
              <a:rPr b="1" lang="en-US" sz="2000">
                <a:solidFill>
                  <a:schemeClr val="dk1"/>
                </a:solidFill>
                <a:latin typeface="Poppins"/>
                <a:ea typeface="Poppins"/>
                <a:cs typeface="Poppins"/>
                <a:sym typeface="Poppins"/>
              </a:rPr>
              <a:t>unique=”true”</a:t>
            </a:r>
            <a:r>
              <a:rPr lang="en-US" sz="2000">
                <a:solidFill>
                  <a:schemeClr val="dk1"/>
                </a:solidFill>
                <a:latin typeface="Poppins"/>
                <a:ea typeface="Poppins"/>
                <a:cs typeface="Poppins"/>
                <a:sym typeface="Poppins"/>
              </a:rPr>
              <a:t>) )</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0" marL="457200" rtl="0" algn="l">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Use @GeneratedValue to automatically generate primary key values.</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Explicitly set the generation type ( ex. strategy = GenerationType.IDENTITY )</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0" marL="457200" rtl="0" algn="l">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Create a transaction using EntityManager and persist a student entity.</a:t>
            </a:r>
            <a:endParaRPr sz="2000">
              <a:solidFill>
                <a:schemeClr val="dk1"/>
              </a:solidFill>
              <a:latin typeface="Poppins"/>
              <a:ea typeface="Poppins"/>
              <a:cs typeface="Poppins"/>
              <a:sym typeface="Poppins"/>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pic>
        <p:nvPicPr>
          <p:cNvPr descr="image.png" id="528" name="Google Shape;528;p6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29" name="Google Shape;529;p65"/>
          <p:cNvSpPr txBox="1"/>
          <p:nvPr/>
        </p:nvSpPr>
        <p:spPr>
          <a:xfrm>
            <a:off x="571500" y="303600"/>
            <a:ext cx="11049000" cy="523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400">
                <a:solidFill>
                  <a:srgbClr val="B91C1C"/>
                </a:solidFill>
                <a:latin typeface="Poppins"/>
                <a:ea typeface="Poppins"/>
                <a:cs typeface="Poppins"/>
                <a:sym typeface="Poppins"/>
              </a:rPr>
              <a:t>Create a transaction and persist a student entity</a:t>
            </a:r>
            <a:endParaRPr b="1" sz="3400">
              <a:solidFill>
                <a:srgbClr val="B91C1C"/>
              </a:solidFill>
              <a:latin typeface="Poppins"/>
              <a:ea typeface="Poppins"/>
              <a:cs typeface="Poppins"/>
              <a:sym typeface="Poppins"/>
            </a:endParaRPr>
          </a:p>
        </p:txBody>
      </p:sp>
      <p:sp>
        <p:nvSpPr>
          <p:cNvPr id="530" name="Google Shape;530;p65"/>
          <p:cNvSpPr/>
          <p:nvPr/>
        </p:nvSpPr>
        <p:spPr>
          <a:xfrm>
            <a:off x="571500" y="968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1" name="Google Shape;531;p65"/>
          <p:cNvSpPr txBox="1"/>
          <p:nvPr/>
        </p:nvSpPr>
        <p:spPr>
          <a:xfrm>
            <a:off x="571500" y="925025"/>
            <a:ext cx="11049000" cy="5805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100">
                <a:solidFill>
                  <a:srgbClr val="CC6C1D"/>
                </a:solidFill>
                <a:highlight>
                  <a:srgbClr val="1E1F22"/>
                </a:highlight>
                <a:latin typeface="Courier New"/>
                <a:ea typeface="Courier New"/>
                <a:cs typeface="Courier New"/>
                <a:sym typeface="Courier New"/>
              </a:rPr>
              <a:t>public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class</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App</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public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static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void</a:t>
            </a:r>
            <a:r>
              <a:rPr lang="en-US" sz="1100">
                <a:solidFill>
                  <a:srgbClr val="D9E8F7"/>
                </a:solidFill>
                <a:highlight>
                  <a:srgbClr val="1E1F22"/>
                </a:highlight>
                <a:latin typeface="Courier New"/>
                <a:ea typeface="Courier New"/>
                <a:cs typeface="Courier New"/>
                <a:sym typeface="Courier New"/>
              </a:rPr>
              <a:t> </a:t>
            </a:r>
            <a:r>
              <a:rPr lang="en-US" sz="1100">
                <a:solidFill>
                  <a:srgbClr val="1EB540"/>
                </a:solidFill>
                <a:highlight>
                  <a:srgbClr val="1E1F22"/>
                </a:highlight>
                <a:latin typeface="Courier New"/>
                <a:ea typeface="Courier New"/>
                <a:cs typeface="Courier New"/>
                <a:sym typeface="Courier New"/>
              </a:rPr>
              <a:t>main</a:t>
            </a:r>
            <a:r>
              <a:rPr lang="en-US" sz="1100">
                <a:solidFill>
                  <a:srgbClr val="F9FAF4"/>
                </a:solidFill>
                <a:highlight>
                  <a:srgbClr val="1E1F22"/>
                </a:highlight>
                <a:latin typeface="Courier New"/>
                <a:ea typeface="Courier New"/>
                <a:cs typeface="Courier New"/>
                <a:sym typeface="Courier New"/>
              </a:rPr>
              <a:t>(</a:t>
            </a:r>
            <a:r>
              <a:rPr lang="en-US" sz="1100">
                <a:solidFill>
                  <a:srgbClr val="1290C3"/>
                </a:solidFill>
                <a:highlight>
                  <a:srgbClr val="1E1F22"/>
                </a:highlight>
                <a:latin typeface="Courier New"/>
                <a:ea typeface="Courier New"/>
                <a:cs typeface="Courier New"/>
                <a:sym typeface="Courier New"/>
              </a:rPr>
              <a:t>String</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args</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F9FAF4"/>
                </a:solidFill>
                <a:highlight>
                  <a:srgbClr val="1E1F22"/>
                </a:highlight>
                <a:latin typeface="Courier New"/>
                <a:ea typeface="Courier New"/>
                <a:cs typeface="Courier New"/>
                <a:sym typeface="Courier New"/>
              </a:rPr>
              <a:t>		</a:t>
            </a:r>
            <a:r>
              <a:rPr lang="en-US" sz="1100">
                <a:solidFill>
                  <a:srgbClr val="80F2F6"/>
                </a:solidFill>
                <a:highlight>
                  <a:srgbClr val="1E1F22"/>
                </a:highlight>
                <a:latin typeface="Courier New"/>
                <a:ea typeface="Courier New"/>
                <a:cs typeface="Courier New"/>
                <a:sym typeface="Courier New"/>
              </a:rPr>
              <a:t>EntityManager</a:t>
            </a:r>
            <a:r>
              <a:rPr lang="en-US" sz="1100">
                <a:solidFill>
                  <a:srgbClr val="D9E8F7"/>
                </a:solidFill>
                <a:highlight>
                  <a:srgbClr val="1E1F22"/>
                </a:highlight>
                <a:latin typeface="Courier New"/>
                <a:ea typeface="Courier New"/>
                <a:cs typeface="Courier New"/>
                <a:sym typeface="Courier New"/>
              </a:rPr>
              <a:t> </a:t>
            </a:r>
            <a:r>
              <a:rPr lang="en-US" sz="1100">
                <a:solidFill>
                  <a:srgbClr val="F2F200"/>
                </a:solidFill>
                <a:highlight>
                  <a:srgbClr val="1E1F22"/>
                </a:highlight>
                <a:latin typeface="Courier New"/>
                <a:ea typeface="Courier New"/>
                <a:cs typeface="Courier New"/>
                <a:sym typeface="Courier New"/>
              </a:rPr>
              <a:t>em</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EntityManagerUtil</a:t>
            </a:r>
            <a:r>
              <a:rPr lang="en-US" sz="1100">
                <a:solidFill>
                  <a:srgbClr val="E6E6FA"/>
                </a:solidFill>
                <a:highlight>
                  <a:srgbClr val="1E1F22"/>
                </a:highlight>
                <a:latin typeface="Courier New"/>
                <a:ea typeface="Courier New"/>
                <a:cs typeface="Courier New"/>
                <a:sym typeface="Courier New"/>
              </a:rPr>
              <a:t>.</a:t>
            </a:r>
            <a:r>
              <a:rPr i="1" lang="en-US" sz="1100">
                <a:solidFill>
                  <a:srgbClr val="96EC3F"/>
                </a:solidFill>
                <a:highlight>
                  <a:srgbClr val="1E1F22"/>
                </a:highlight>
                <a:latin typeface="Courier New"/>
                <a:ea typeface="Courier New"/>
                <a:cs typeface="Courier New"/>
                <a:sym typeface="Courier New"/>
              </a:rPr>
              <a:t>getInstance</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createEntityManager</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E6E6FA"/>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Clr>
                <a:schemeClr val="dk1"/>
              </a:buClr>
              <a:buSzPts val="1100"/>
              <a:buFont typeface="Arial"/>
              <a:buNone/>
            </a:pPr>
            <a:r>
              <a:rPr lang="en-US" sz="1100">
                <a:solidFill>
                  <a:srgbClr val="CC6C1D"/>
                </a:solidFill>
                <a:highlight>
                  <a:srgbClr val="1E1F22"/>
                </a:highlight>
                <a:latin typeface="Courier New"/>
                <a:ea typeface="Courier New"/>
                <a:cs typeface="Courier New"/>
                <a:sym typeface="Courier New"/>
              </a:rPr>
              <a:t>try</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96EC3F"/>
                </a:solidFill>
                <a:highlight>
                  <a:srgbClr val="1E1F22"/>
                </a:highlight>
                <a:latin typeface="Courier New"/>
                <a:ea typeface="Courier New"/>
                <a:cs typeface="Courier New"/>
                <a:sym typeface="Courier New"/>
              </a:rPr>
              <a:t>runM6Activity2</a:t>
            </a:r>
            <a:r>
              <a:rPr lang="en-US" sz="1100">
                <a:solidFill>
                  <a:srgbClr val="F9FAF4"/>
                </a:solidFill>
                <a:highlight>
                  <a:srgbClr val="1E1F22"/>
                </a:highlight>
                <a:latin typeface="Courier New"/>
                <a:ea typeface="Courier New"/>
                <a:cs typeface="Courier New"/>
                <a:sym typeface="Courier New"/>
              </a:rPr>
              <a:t>(</a:t>
            </a:r>
            <a:r>
              <a:rPr lang="en-US" sz="1100">
                <a:solidFill>
                  <a:srgbClr val="F2F200"/>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E6E6FA"/>
                </a:solidFill>
                <a:highlight>
                  <a:srgbClr val="1E1F22"/>
                </a:highlight>
                <a:latin typeface="Courier New"/>
                <a:ea typeface="Courier New"/>
                <a:cs typeface="Courier New"/>
                <a:sym typeface="Courier New"/>
              </a:rPr>
              <a:t>		} </a:t>
            </a:r>
            <a:r>
              <a:rPr lang="en-US" sz="1100">
                <a:solidFill>
                  <a:srgbClr val="CC6C1D"/>
                </a:solidFill>
                <a:highlight>
                  <a:srgbClr val="1E1F22"/>
                </a:highlight>
                <a:latin typeface="Courier New"/>
                <a:ea typeface="Courier New"/>
                <a:cs typeface="Courier New"/>
                <a:sym typeface="Courier New"/>
              </a:rPr>
              <a:t>finally</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EntityManagerUtil</a:t>
            </a:r>
            <a:r>
              <a:rPr lang="en-US" sz="1100">
                <a:solidFill>
                  <a:srgbClr val="E6E6FA"/>
                </a:solidFill>
                <a:highlight>
                  <a:srgbClr val="1E1F22"/>
                </a:highlight>
                <a:latin typeface="Courier New"/>
                <a:ea typeface="Courier New"/>
                <a:cs typeface="Courier New"/>
                <a:sym typeface="Courier New"/>
              </a:rPr>
              <a:t>.</a:t>
            </a:r>
            <a:r>
              <a:rPr i="1" lang="en-US" sz="1100">
                <a:solidFill>
                  <a:srgbClr val="96EC3F"/>
                </a:solidFill>
                <a:highlight>
                  <a:srgbClr val="1E1F22"/>
                </a:highlight>
                <a:latin typeface="Courier New"/>
                <a:ea typeface="Courier New"/>
                <a:cs typeface="Courier New"/>
                <a:sym typeface="Courier New"/>
              </a:rPr>
              <a:t>getInstance</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closeEntityManager</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EntityManagerUtil</a:t>
            </a:r>
            <a:r>
              <a:rPr lang="en-US" sz="1100">
                <a:solidFill>
                  <a:srgbClr val="E6E6FA"/>
                </a:solidFill>
                <a:highlight>
                  <a:srgbClr val="1E1F22"/>
                </a:highlight>
                <a:latin typeface="Courier New"/>
                <a:ea typeface="Courier New"/>
                <a:cs typeface="Courier New"/>
                <a:sym typeface="Courier New"/>
              </a:rPr>
              <a:t>.</a:t>
            </a:r>
            <a:r>
              <a:rPr i="1" lang="en-US" sz="1100">
                <a:solidFill>
                  <a:srgbClr val="96EC3F"/>
                </a:solidFill>
                <a:highlight>
                  <a:srgbClr val="1E1F22"/>
                </a:highlight>
                <a:latin typeface="Courier New"/>
                <a:ea typeface="Courier New"/>
                <a:cs typeface="Courier New"/>
                <a:sym typeface="Courier New"/>
              </a:rPr>
              <a:t>getInstance</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shutdownFactory</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static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void</a:t>
            </a:r>
            <a:r>
              <a:rPr lang="en-US" sz="1100">
                <a:solidFill>
                  <a:srgbClr val="D9E8F7"/>
                </a:solidFill>
                <a:highlight>
                  <a:srgbClr val="1E1F22"/>
                </a:highlight>
                <a:latin typeface="Courier New"/>
                <a:ea typeface="Courier New"/>
                <a:cs typeface="Courier New"/>
                <a:sym typeface="Courier New"/>
              </a:rPr>
              <a:t> </a:t>
            </a:r>
            <a:r>
              <a:rPr lang="en-US" sz="1100">
                <a:solidFill>
                  <a:srgbClr val="1EB540"/>
                </a:solidFill>
                <a:highlight>
                  <a:srgbClr val="1E1F22"/>
                </a:highlight>
                <a:latin typeface="Courier New"/>
                <a:ea typeface="Courier New"/>
                <a:cs typeface="Courier New"/>
                <a:sym typeface="Courier New"/>
              </a:rPr>
              <a:t>runM6Activity2</a:t>
            </a:r>
            <a:r>
              <a:rPr lang="en-US" sz="1100">
                <a:solidFill>
                  <a:srgbClr val="F9FAF4"/>
                </a:solidFill>
                <a:highlight>
                  <a:srgbClr val="1E1F22"/>
                </a:highlight>
                <a:latin typeface="Courier New"/>
                <a:ea typeface="Courier New"/>
                <a:cs typeface="Courier New"/>
                <a:sym typeface="Courier New"/>
              </a:rPr>
              <a:t>(</a:t>
            </a:r>
            <a:r>
              <a:rPr lang="en-US" sz="1100">
                <a:solidFill>
                  <a:srgbClr val="80F2F6"/>
                </a:solidFill>
                <a:highlight>
                  <a:srgbClr val="1E1F22"/>
                </a:highlight>
                <a:latin typeface="Courier New"/>
                <a:ea typeface="Courier New"/>
                <a:cs typeface="Courier New"/>
                <a:sym typeface="Courier New"/>
              </a:rPr>
              <a:t>EntityManager </a:t>
            </a:r>
            <a:r>
              <a:rPr lang="en-US" sz="1100">
                <a:solidFill>
                  <a:srgbClr val="79ABFF"/>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try</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begin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F2F200"/>
                </a:solidFill>
                <a:highlight>
                  <a:srgbClr val="1E1F22"/>
                </a:highlight>
                <a:latin typeface="Courier New"/>
                <a:ea typeface="Courier New"/>
                <a:cs typeface="Courier New"/>
                <a:sym typeface="Courier New"/>
              </a:rPr>
              <a:t>newStudent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new</a:t>
            </a:r>
            <a:r>
              <a:rPr lang="en-US" sz="1100">
                <a:solidFill>
                  <a:srgbClr val="D9E8F7"/>
                </a:solidFill>
                <a:highlight>
                  <a:srgbClr val="1E1F22"/>
                </a:highlight>
                <a:latin typeface="Courier New"/>
                <a:ea typeface="Courier New"/>
                <a:cs typeface="Courier New"/>
                <a:sym typeface="Courier New"/>
              </a:rPr>
              <a:t> </a:t>
            </a:r>
            <a:r>
              <a:rPr lang="en-US" sz="1100">
                <a:solidFill>
                  <a:srgbClr val="A7EC21"/>
                </a:solidFill>
                <a:highlight>
                  <a:srgbClr val="1E1F22"/>
                </a:highlight>
                <a:latin typeface="Courier New"/>
                <a:ea typeface="Courier New"/>
                <a:cs typeface="Courier New"/>
                <a:sym typeface="Courier New"/>
              </a:rPr>
              <a:t>Student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setName</a:t>
            </a:r>
            <a:r>
              <a:rPr lang="en-US" sz="1100">
                <a:solidFill>
                  <a:srgbClr val="F9FAF4"/>
                </a:solidFill>
                <a:highlight>
                  <a:srgbClr val="1E1F22"/>
                </a:highlight>
                <a:latin typeface="Courier New"/>
                <a:ea typeface="Courier New"/>
                <a:cs typeface="Courier New"/>
                <a:sym typeface="Courier New"/>
              </a:rPr>
              <a:t>(</a:t>
            </a:r>
            <a:r>
              <a:rPr lang="en-US" sz="1100">
                <a:solidFill>
                  <a:srgbClr val="17C6A3"/>
                </a:solidFill>
                <a:highlight>
                  <a:srgbClr val="1E1F22"/>
                </a:highlight>
                <a:latin typeface="Courier New"/>
                <a:ea typeface="Courier New"/>
                <a:cs typeface="Courier New"/>
                <a:sym typeface="Courier New"/>
              </a:rPr>
              <a:t>"Juan Dela Cruz"</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setAge</a:t>
            </a:r>
            <a:r>
              <a:rPr lang="en-US" sz="1100">
                <a:solidFill>
                  <a:srgbClr val="F9FAF4"/>
                </a:solidFill>
                <a:highlight>
                  <a:srgbClr val="1E1F22"/>
                </a:highlight>
                <a:latin typeface="Courier New"/>
                <a:ea typeface="Courier New"/>
                <a:cs typeface="Courier New"/>
                <a:sym typeface="Courier New"/>
              </a:rPr>
              <a:t>(</a:t>
            </a:r>
            <a:r>
              <a:rPr lang="en-US" sz="1100">
                <a:solidFill>
                  <a:srgbClr val="6897BB"/>
                </a:solidFill>
                <a:highlight>
                  <a:srgbClr val="1E1F22"/>
                </a:highlight>
                <a:latin typeface="Courier New"/>
                <a:ea typeface="Courier New"/>
                <a:cs typeface="Courier New"/>
                <a:sym typeface="Courier New"/>
              </a:rPr>
              <a:t>50</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setEmail</a:t>
            </a:r>
            <a:r>
              <a:rPr lang="en-US" sz="1100">
                <a:solidFill>
                  <a:srgbClr val="F9FAF4"/>
                </a:solidFill>
                <a:highlight>
                  <a:srgbClr val="1E1F22"/>
                </a:highlight>
                <a:latin typeface="Courier New"/>
                <a:ea typeface="Courier New"/>
                <a:cs typeface="Courier New"/>
                <a:sym typeface="Courier New"/>
              </a:rPr>
              <a:t>(</a:t>
            </a:r>
            <a:r>
              <a:rPr lang="en-US" sz="1100">
                <a:solidFill>
                  <a:srgbClr val="17C6A3"/>
                </a:solidFill>
                <a:highlight>
                  <a:srgbClr val="1E1F22"/>
                </a:highlight>
                <a:latin typeface="Courier New"/>
                <a:ea typeface="Courier New"/>
                <a:cs typeface="Courier New"/>
                <a:sym typeface="Courier New"/>
              </a:rPr>
              <a:t>"</a:t>
            </a:r>
            <a:r>
              <a:rPr lang="en-US" sz="1100" u="sng">
                <a:solidFill>
                  <a:schemeClr val="hlink"/>
                </a:solidFill>
                <a:highlight>
                  <a:srgbClr val="1E1F22"/>
                </a:highlight>
                <a:latin typeface="Courier New"/>
                <a:ea typeface="Courier New"/>
                <a:cs typeface="Courier New"/>
                <a:sym typeface="Courier New"/>
                <a:hlinkClick r:id="rId4"/>
              </a:rPr>
              <a:t>juandelacruz@gmail.com</a:t>
            </a:r>
            <a:r>
              <a:rPr lang="en-US" sz="1100">
                <a:solidFill>
                  <a:srgbClr val="17C6A3"/>
                </a:solidFill>
                <a:highlight>
                  <a:srgbClr val="1E1F22"/>
                </a:highlight>
                <a:latin typeface="Courier New"/>
                <a:ea typeface="Courier New"/>
                <a:cs typeface="Courier New"/>
                <a:sym typeface="Courier New"/>
              </a:rPr>
              <a: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persist</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commit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F9FAF4"/>
                </a:solidFill>
                <a:highlight>
                  <a:srgbClr val="1E1F22"/>
                </a:highlight>
                <a:latin typeface="Courier New"/>
                <a:ea typeface="Courier New"/>
                <a:cs typeface="Courier New"/>
                <a:sym typeface="Courier New"/>
              </a:rPr>
              <a:t>}</a:t>
            </a:r>
            <a:endParaRPr sz="10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pic>
        <p:nvPicPr>
          <p:cNvPr descr="image.png" id="536" name="Google Shape;536;p66"/>
          <p:cNvPicPr preferRelativeResize="0"/>
          <p:nvPr/>
        </p:nvPicPr>
        <p:blipFill rotWithShape="1">
          <a:blip r:embed="rId3">
            <a:alphaModFix/>
          </a:blip>
          <a:srcRect b="0" l="0" r="0" t="0"/>
          <a:stretch/>
        </p:blipFill>
        <p:spPr>
          <a:xfrm>
            <a:off x="0" y="44650"/>
            <a:ext cx="12192000" cy="6858000"/>
          </a:xfrm>
          <a:prstGeom prst="rect">
            <a:avLst/>
          </a:prstGeom>
          <a:noFill/>
          <a:ln>
            <a:noFill/>
          </a:ln>
        </p:spPr>
      </p:pic>
      <p:sp>
        <p:nvSpPr>
          <p:cNvPr id="537" name="Google Shape;537;p6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M6_Activity2 - Expected Output (Console)</a:t>
            </a:r>
            <a:endParaRPr b="1" sz="3600">
              <a:solidFill>
                <a:srgbClr val="B91C1C"/>
              </a:solidFill>
              <a:latin typeface="Poppins"/>
              <a:ea typeface="Poppins"/>
              <a:cs typeface="Poppins"/>
              <a:sym typeface="Poppins"/>
            </a:endParaRPr>
          </a:p>
        </p:txBody>
      </p:sp>
      <p:sp>
        <p:nvSpPr>
          <p:cNvPr id="538" name="Google Shape;538;p66"/>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39" name="Google Shape;539;p66"/>
          <p:cNvPicPr preferRelativeResize="0"/>
          <p:nvPr/>
        </p:nvPicPr>
        <p:blipFill>
          <a:blip r:embed="rId4">
            <a:alphaModFix/>
          </a:blip>
          <a:stretch>
            <a:fillRect/>
          </a:stretch>
        </p:blipFill>
        <p:spPr>
          <a:xfrm>
            <a:off x="290500" y="1368625"/>
            <a:ext cx="11610975" cy="478155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pic>
        <p:nvPicPr>
          <p:cNvPr descr="image.png" id="544" name="Google Shape;544;p67"/>
          <p:cNvPicPr preferRelativeResize="0"/>
          <p:nvPr/>
        </p:nvPicPr>
        <p:blipFill rotWithShape="1">
          <a:blip r:embed="rId3">
            <a:alphaModFix/>
          </a:blip>
          <a:srcRect b="0" l="0" r="0" t="0"/>
          <a:stretch/>
        </p:blipFill>
        <p:spPr>
          <a:xfrm>
            <a:off x="0" y="44650"/>
            <a:ext cx="12192000" cy="6858000"/>
          </a:xfrm>
          <a:prstGeom prst="rect">
            <a:avLst/>
          </a:prstGeom>
          <a:noFill/>
          <a:ln>
            <a:noFill/>
          </a:ln>
        </p:spPr>
      </p:pic>
      <p:sp>
        <p:nvSpPr>
          <p:cNvPr id="545" name="Google Shape;545;p6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M6_Activity2 - Expected Output (Database)</a:t>
            </a:r>
            <a:endParaRPr b="1" sz="3600">
              <a:solidFill>
                <a:srgbClr val="B91C1C"/>
              </a:solidFill>
              <a:latin typeface="Poppins"/>
              <a:ea typeface="Poppins"/>
              <a:cs typeface="Poppins"/>
              <a:sym typeface="Poppins"/>
            </a:endParaRPr>
          </a:p>
        </p:txBody>
      </p:sp>
      <p:sp>
        <p:nvSpPr>
          <p:cNvPr id="546" name="Google Shape;546;p67"/>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47" name="Google Shape;547;p67"/>
          <p:cNvPicPr preferRelativeResize="0"/>
          <p:nvPr/>
        </p:nvPicPr>
        <p:blipFill>
          <a:blip r:embed="rId4">
            <a:alphaModFix/>
          </a:blip>
          <a:stretch>
            <a:fillRect/>
          </a:stretch>
        </p:blipFill>
        <p:spPr>
          <a:xfrm>
            <a:off x="526275" y="1299988"/>
            <a:ext cx="6210300" cy="5229225"/>
          </a:xfrm>
          <a:prstGeom prst="rect">
            <a:avLst/>
          </a:prstGeom>
          <a:noFill/>
          <a:ln>
            <a:noFill/>
          </a:ln>
        </p:spPr>
      </p:pic>
      <p:pic>
        <p:nvPicPr>
          <p:cNvPr id="548" name="Google Shape;548;p67"/>
          <p:cNvPicPr preferRelativeResize="0"/>
          <p:nvPr/>
        </p:nvPicPr>
        <p:blipFill>
          <a:blip r:embed="rId5">
            <a:alphaModFix/>
          </a:blip>
          <a:stretch>
            <a:fillRect/>
          </a:stretch>
        </p:blipFill>
        <p:spPr>
          <a:xfrm>
            <a:off x="7111022" y="3224222"/>
            <a:ext cx="4666350" cy="99300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pic>
        <p:nvPicPr>
          <p:cNvPr descr="image.png" id="553" name="Google Shape;553;p68"/>
          <p:cNvPicPr preferRelativeResize="0"/>
          <p:nvPr/>
        </p:nvPicPr>
        <p:blipFill rotWithShape="1">
          <a:blip r:embed="rId3">
            <a:alphaModFix/>
          </a:blip>
          <a:srcRect b="0" l="0" r="0" t="0"/>
          <a:stretch/>
        </p:blipFill>
        <p:spPr>
          <a:xfrm>
            <a:off x="0" y="23100"/>
            <a:ext cx="12192000" cy="6858000"/>
          </a:xfrm>
          <a:prstGeom prst="rect">
            <a:avLst/>
          </a:prstGeom>
          <a:noFill/>
          <a:ln>
            <a:noFill/>
          </a:ln>
        </p:spPr>
      </p:pic>
      <p:sp>
        <p:nvSpPr>
          <p:cNvPr id="554" name="Google Shape;554;p68"/>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Relationship Annotations</a:t>
            </a:r>
            <a:endParaRPr b="1" sz="5700">
              <a:solidFill>
                <a:srgbClr val="B91C1C"/>
              </a:solidFill>
              <a:latin typeface="Poppins"/>
              <a:ea typeface="Poppins"/>
              <a:cs typeface="Poppins"/>
              <a:sym typeface="Poppins"/>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pic>
        <p:nvPicPr>
          <p:cNvPr descr="image.png" id="559" name="Google Shape;559;p6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60" name="Google Shape;560;p69"/>
          <p:cNvSpPr txBox="1"/>
          <p:nvPr/>
        </p:nvSpPr>
        <p:spPr>
          <a:xfrm>
            <a:off x="571500" y="4067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Relationship Annotations</a:t>
            </a:r>
            <a:endParaRPr b="1" sz="3600">
              <a:solidFill>
                <a:srgbClr val="B91C1C"/>
              </a:solidFill>
              <a:latin typeface="Poppins"/>
              <a:ea typeface="Poppins"/>
              <a:cs typeface="Poppins"/>
              <a:sym typeface="Poppins"/>
            </a:endParaRPr>
          </a:p>
        </p:txBody>
      </p:sp>
      <p:sp>
        <p:nvSpPr>
          <p:cNvPr id="561" name="Google Shape;561;p69"/>
          <p:cNvSpPr/>
          <p:nvPr/>
        </p:nvSpPr>
        <p:spPr>
          <a:xfrm>
            <a:off x="571500" y="1043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2" name="Google Shape;562;p69"/>
          <p:cNvSpPr txBox="1"/>
          <p:nvPr/>
        </p:nvSpPr>
        <p:spPr>
          <a:xfrm>
            <a:off x="571500" y="1645050"/>
            <a:ext cx="11049000" cy="4802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000">
                <a:solidFill>
                  <a:schemeClr val="dk1"/>
                </a:solidFill>
                <a:latin typeface="Poppins"/>
                <a:ea typeface="Poppins"/>
                <a:cs typeface="Poppins"/>
                <a:sym typeface="Poppins"/>
              </a:rPr>
              <a:t>JPA lets you describe how entity classes relate to each other — similar to how database tables have relationships.</a:t>
            </a:r>
            <a:endParaRPr sz="3000">
              <a:solidFill>
                <a:schemeClr val="dk1"/>
              </a:solidFill>
              <a:latin typeface="Poppins"/>
              <a:ea typeface="Poppins"/>
              <a:cs typeface="Poppins"/>
              <a:sym typeface="Poppins"/>
            </a:endParaRPr>
          </a:p>
          <a:p>
            <a:pPr indent="0" lvl="0" marL="0" rtl="0" algn="l">
              <a:spcBef>
                <a:spcPts val="0"/>
              </a:spcBef>
              <a:spcAft>
                <a:spcPts val="0"/>
              </a:spcAft>
              <a:buNone/>
            </a:pPr>
            <a:r>
              <a:t/>
            </a:r>
            <a:endParaRPr sz="3000">
              <a:solidFill>
                <a:schemeClr val="dk1"/>
              </a:solidFill>
              <a:latin typeface="Poppins"/>
              <a:ea typeface="Poppins"/>
              <a:cs typeface="Poppins"/>
              <a:sym typeface="Poppins"/>
            </a:endParaRPr>
          </a:p>
          <a:p>
            <a:pPr indent="0" lvl="0" marL="0" rtl="0" algn="l">
              <a:spcBef>
                <a:spcPts val="0"/>
              </a:spcBef>
              <a:spcAft>
                <a:spcPts val="0"/>
              </a:spcAft>
              <a:buNone/>
            </a:pPr>
            <a:r>
              <a:t/>
            </a:r>
            <a:endParaRPr sz="3000">
              <a:solidFill>
                <a:schemeClr val="dk1"/>
              </a:solidFill>
              <a:latin typeface="Poppins"/>
              <a:ea typeface="Poppins"/>
              <a:cs typeface="Poppins"/>
              <a:sym typeface="Poppins"/>
            </a:endParaRPr>
          </a:p>
          <a:p>
            <a:pPr indent="0" lvl="0" marL="0" rtl="0" algn="l">
              <a:spcBef>
                <a:spcPts val="0"/>
              </a:spcBef>
              <a:spcAft>
                <a:spcPts val="0"/>
              </a:spcAft>
              <a:buNone/>
            </a:pPr>
            <a:r>
              <a:rPr lang="en-US" sz="3000">
                <a:solidFill>
                  <a:schemeClr val="dk1"/>
                </a:solidFill>
                <a:latin typeface="Poppins"/>
                <a:ea typeface="Poppins"/>
                <a:cs typeface="Poppins"/>
                <a:sym typeface="Poppins"/>
              </a:rPr>
              <a:t>The main relationship types are:</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@OneToOne</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@OneToMany</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@ManyToOne</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@ManyToMany</a:t>
            </a:r>
            <a:endParaRPr sz="3000">
              <a:solidFill>
                <a:schemeClr val="dk1"/>
              </a:solidFill>
              <a:latin typeface="Poppins"/>
              <a:ea typeface="Poppins"/>
              <a:cs typeface="Poppins"/>
              <a:sym typeface="Poppins"/>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6" name="Shape 566"/>
        <p:cNvGrpSpPr/>
        <p:nvPr/>
      </p:nvGrpSpPr>
      <p:grpSpPr>
        <a:xfrm>
          <a:off x="0" y="0"/>
          <a:ext cx="0" cy="0"/>
          <a:chOff x="0" y="0"/>
          <a:chExt cx="0" cy="0"/>
        </a:xfrm>
      </p:grpSpPr>
      <p:pic>
        <p:nvPicPr>
          <p:cNvPr descr="image.png" id="567" name="Google Shape;567;p7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68" name="Google Shape;568;p70"/>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@OneToOne</a:t>
            </a:r>
            <a:endParaRPr b="1" sz="3600">
              <a:solidFill>
                <a:srgbClr val="B91C1C"/>
              </a:solidFill>
              <a:latin typeface="Poppins"/>
              <a:ea typeface="Poppins"/>
              <a:cs typeface="Poppins"/>
              <a:sym typeface="Poppins"/>
            </a:endParaRPr>
          </a:p>
        </p:txBody>
      </p:sp>
      <p:sp>
        <p:nvSpPr>
          <p:cNvPr id="569" name="Google Shape;569;p70"/>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0" name="Google Shape;570;p70"/>
          <p:cNvSpPr txBox="1"/>
          <p:nvPr/>
        </p:nvSpPr>
        <p:spPr>
          <a:xfrm>
            <a:off x="571500" y="1407563"/>
            <a:ext cx="11049000" cy="287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2500">
                <a:solidFill>
                  <a:schemeClr val="dk1"/>
                </a:solidFill>
                <a:latin typeface="Poppins"/>
                <a:ea typeface="Poppins"/>
                <a:cs typeface="Poppins"/>
                <a:sym typeface="Poppins"/>
              </a:rPr>
              <a:t>An entity instance may be associated with at most one instance of another entity.</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For example: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Each Student entity instance is associated with at most one Profile entity instance.</a:t>
            </a:r>
            <a:endParaRPr sz="2500">
              <a:solidFill>
                <a:schemeClr val="dk1"/>
              </a:solidFill>
              <a:latin typeface="Poppins"/>
              <a:ea typeface="Poppins"/>
              <a:cs typeface="Poppins"/>
              <a:sym typeface="Poppins"/>
            </a:endParaRPr>
          </a:p>
        </p:txBody>
      </p:sp>
      <p:pic>
        <p:nvPicPr>
          <p:cNvPr id="571" name="Google Shape;571;p70" title="onetoone.drawio (3).png"/>
          <p:cNvPicPr preferRelativeResize="0"/>
          <p:nvPr/>
        </p:nvPicPr>
        <p:blipFill>
          <a:blip r:embed="rId4">
            <a:alphaModFix/>
          </a:blip>
          <a:stretch>
            <a:fillRect/>
          </a:stretch>
        </p:blipFill>
        <p:spPr>
          <a:xfrm>
            <a:off x="3019854" y="4285779"/>
            <a:ext cx="6152300" cy="18542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5" name="Shape 575"/>
        <p:cNvGrpSpPr/>
        <p:nvPr/>
      </p:nvGrpSpPr>
      <p:grpSpPr>
        <a:xfrm>
          <a:off x="0" y="0"/>
          <a:ext cx="0" cy="0"/>
          <a:chOff x="0" y="0"/>
          <a:chExt cx="0" cy="0"/>
        </a:xfrm>
      </p:grpSpPr>
      <p:pic>
        <p:nvPicPr>
          <p:cNvPr descr="image.png" id="576" name="Google Shape;576;p7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77" name="Google Shape;577;p71"/>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@OneToOne</a:t>
            </a:r>
            <a:endParaRPr b="1" sz="3600">
              <a:solidFill>
                <a:srgbClr val="B91C1C"/>
              </a:solidFill>
              <a:latin typeface="Poppins"/>
              <a:ea typeface="Poppins"/>
              <a:cs typeface="Poppins"/>
              <a:sym typeface="Poppins"/>
            </a:endParaRPr>
          </a:p>
        </p:txBody>
      </p:sp>
      <p:sp>
        <p:nvSpPr>
          <p:cNvPr id="578" name="Google Shape;578;p71"/>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79" name="Google Shape;579;p71" title="onetoonemapping.drawio.png"/>
          <p:cNvPicPr preferRelativeResize="0"/>
          <p:nvPr/>
        </p:nvPicPr>
        <p:blipFill>
          <a:blip r:embed="rId4">
            <a:alphaModFix/>
          </a:blip>
          <a:stretch>
            <a:fillRect/>
          </a:stretch>
        </p:blipFill>
        <p:spPr>
          <a:xfrm>
            <a:off x="2164025" y="1436674"/>
            <a:ext cx="7863925" cy="458730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pic>
        <p:nvPicPr>
          <p:cNvPr descr="image.png" id="584" name="Google Shape;584;p72"/>
          <p:cNvPicPr preferRelativeResize="0"/>
          <p:nvPr/>
        </p:nvPicPr>
        <p:blipFill rotWithShape="1">
          <a:blip r:embed="rId3">
            <a:alphaModFix/>
          </a:blip>
          <a:srcRect b="0" l="0" r="0" t="0"/>
          <a:stretch/>
        </p:blipFill>
        <p:spPr>
          <a:xfrm>
            <a:off x="-89300" y="0"/>
            <a:ext cx="12192000" cy="6858000"/>
          </a:xfrm>
          <a:prstGeom prst="rect">
            <a:avLst/>
          </a:prstGeom>
          <a:noFill/>
          <a:ln>
            <a:noFill/>
          </a:ln>
        </p:spPr>
      </p:pic>
      <p:sp>
        <p:nvSpPr>
          <p:cNvPr id="585" name="Google Shape;585;p72"/>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@OneToOne Implementation</a:t>
            </a:r>
            <a:endParaRPr b="1" sz="3600">
              <a:solidFill>
                <a:srgbClr val="B91C1C"/>
              </a:solidFill>
              <a:latin typeface="Poppins"/>
              <a:ea typeface="Poppins"/>
              <a:cs typeface="Poppins"/>
              <a:sym typeface="Poppins"/>
            </a:endParaRPr>
          </a:p>
        </p:txBody>
      </p:sp>
      <p:sp>
        <p:nvSpPr>
          <p:cNvPr id="586" name="Google Shape;586;p72"/>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87" name="Google Shape;587;p72"/>
          <p:cNvPicPr preferRelativeResize="0"/>
          <p:nvPr/>
        </p:nvPicPr>
        <p:blipFill>
          <a:blip r:embed="rId4">
            <a:alphaModFix/>
          </a:blip>
          <a:stretch>
            <a:fillRect/>
          </a:stretch>
        </p:blipFill>
        <p:spPr>
          <a:xfrm>
            <a:off x="1131113" y="2538400"/>
            <a:ext cx="2143125" cy="1781175"/>
          </a:xfrm>
          <a:prstGeom prst="rect">
            <a:avLst/>
          </a:prstGeom>
          <a:noFill/>
          <a:ln>
            <a:noFill/>
          </a:ln>
        </p:spPr>
      </p:pic>
      <p:sp>
        <p:nvSpPr>
          <p:cNvPr id="588" name="Google Shape;588;p72"/>
          <p:cNvSpPr txBox="1"/>
          <p:nvPr/>
        </p:nvSpPr>
        <p:spPr>
          <a:xfrm>
            <a:off x="3865650" y="1586225"/>
            <a:ext cx="7755000" cy="4830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"profiles"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Profile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"address"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address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"nationality"</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nationality</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@OneToOne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//setters and getters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2" name="Shape 592"/>
        <p:cNvGrpSpPr/>
        <p:nvPr/>
      </p:nvGrpSpPr>
      <p:grpSpPr>
        <a:xfrm>
          <a:off x="0" y="0"/>
          <a:ext cx="0" cy="0"/>
          <a:chOff x="0" y="0"/>
          <a:chExt cx="0" cy="0"/>
        </a:xfrm>
      </p:grpSpPr>
      <p:pic>
        <p:nvPicPr>
          <p:cNvPr descr="image.png" id="593" name="Google Shape;593;p73"/>
          <p:cNvPicPr preferRelativeResize="0"/>
          <p:nvPr/>
        </p:nvPicPr>
        <p:blipFill rotWithShape="1">
          <a:blip r:embed="rId3">
            <a:alphaModFix/>
          </a:blip>
          <a:srcRect b="0" l="0" r="0" t="0"/>
          <a:stretch/>
        </p:blipFill>
        <p:spPr>
          <a:xfrm>
            <a:off x="-89300" y="0"/>
            <a:ext cx="12192000" cy="6858000"/>
          </a:xfrm>
          <a:prstGeom prst="rect">
            <a:avLst/>
          </a:prstGeom>
          <a:noFill/>
          <a:ln>
            <a:noFill/>
          </a:ln>
        </p:spPr>
      </p:pic>
      <p:sp>
        <p:nvSpPr>
          <p:cNvPr id="594" name="Google Shape;594;p73"/>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@JoinColumn</a:t>
            </a:r>
            <a:endParaRPr b="1" sz="3600">
              <a:solidFill>
                <a:srgbClr val="B91C1C"/>
              </a:solidFill>
              <a:latin typeface="Poppins"/>
              <a:ea typeface="Poppins"/>
              <a:cs typeface="Poppins"/>
              <a:sym typeface="Poppins"/>
            </a:endParaRPr>
          </a:p>
        </p:txBody>
      </p:sp>
      <p:sp>
        <p:nvSpPr>
          <p:cNvPr id="595" name="Google Shape;595;p73"/>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6" name="Google Shape;596;p73"/>
          <p:cNvSpPr txBox="1"/>
          <p:nvPr/>
        </p:nvSpPr>
        <p:spPr>
          <a:xfrm>
            <a:off x="2129200" y="2229150"/>
            <a:ext cx="7755000" cy="14847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700">
                <a:solidFill>
                  <a:srgbClr val="A0A0A0"/>
                </a:solidFill>
                <a:highlight>
                  <a:srgbClr val="1E1F22"/>
                </a:highlight>
                <a:latin typeface="Courier New"/>
                <a:ea typeface="Courier New"/>
                <a:cs typeface="Courier New"/>
                <a:sym typeface="Courier New"/>
              </a:rPr>
              <a:t>@OneToOne</a:t>
            </a:r>
            <a:endParaRPr i="1" sz="17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700">
                <a:solidFill>
                  <a:srgbClr val="D9E8F7"/>
                </a:solidFill>
                <a:highlight>
                  <a:srgbClr val="1E1F22"/>
                </a:highlight>
                <a:latin typeface="Courier New"/>
                <a:ea typeface="Courier New"/>
                <a:cs typeface="Courier New"/>
                <a:sym typeface="Courier New"/>
              </a:rPr>
              <a:t>	</a:t>
            </a:r>
            <a:r>
              <a:rPr i="1" lang="en-US" sz="1700">
                <a:solidFill>
                  <a:srgbClr val="A0A0A0"/>
                </a:solidFill>
                <a:highlight>
                  <a:srgbClr val="1E1F22"/>
                </a:highlight>
                <a:latin typeface="Courier New"/>
                <a:ea typeface="Courier New"/>
                <a:cs typeface="Courier New"/>
                <a:sym typeface="Courier New"/>
              </a:rPr>
              <a:t>@JoinColumn</a:t>
            </a:r>
            <a:r>
              <a:rPr lang="en-US" sz="1700">
                <a:solidFill>
                  <a:srgbClr val="F9FAF4"/>
                </a:solidFill>
                <a:highlight>
                  <a:srgbClr val="1E1F22"/>
                </a:highlight>
                <a:latin typeface="Courier New"/>
                <a:ea typeface="Courier New"/>
                <a:cs typeface="Courier New"/>
                <a:sym typeface="Courier New"/>
              </a:rPr>
              <a:t>(</a:t>
            </a:r>
            <a:r>
              <a:rPr lang="en-US" sz="1700">
                <a:solidFill>
                  <a:srgbClr val="EB4B64"/>
                </a:solidFill>
                <a:highlight>
                  <a:srgbClr val="1E1F22"/>
                </a:highlight>
                <a:latin typeface="Courier New"/>
                <a:ea typeface="Courier New"/>
                <a:cs typeface="Courier New"/>
                <a:sym typeface="Courier New"/>
              </a:rPr>
              <a:t>name</a:t>
            </a:r>
            <a:r>
              <a:rPr lang="en-US" sz="1700">
                <a:solidFill>
                  <a:srgbClr val="D9E8F7"/>
                </a:solidFill>
                <a:highlight>
                  <a:srgbClr val="1E1F22"/>
                </a:highlight>
                <a:latin typeface="Courier New"/>
                <a:ea typeface="Courier New"/>
                <a:cs typeface="Courier New"/>
                <a:sym typeface="Courier New"/>
              </a:rPr>
              <a:t> </a:t>
            </a:r>
            <a:r>
              <a:rPr lang="en-US" sz="1700">
                <a:solidFill>
                  <a:srgbClr val="E6E6FA"/>
                </a:solidFill>
                <a:highlight>
                  <a:srgbClr val="1E1F22"/>
                </a:highlight>
                <a:latin typeface="Courier New"/>
                <a:ea typeface="Courier New"/>
                <a:cs typeface="Courier New"/>
                <a:sym typeface="Courier New"/>
              </a:rPr>
              <a:t>=</a:t>
            </a:r>
            <a:r>
              <a:rPr lang="en-US" sz="1700">
                <a:solidFill>
                  <a:srgbClr val="D9E8F7"/>
                </a:solidFill>
                <a:highlight>
                  <a:srgbClr val="1E1F22"/>
                </a:highlight>
                <a:latin typeface="Courier New"/>
                <a:ea typeface="Courier New"/>
                <a:cs typeface="Courier New"/>
                <a:sym typeface="Courier New"/>
              </a:rPr>
              <a:t> </a:t>
            </a:r>
            <a:r>
              <a:rPr lang="en-US" sz="1700">
                <a:solidFill>
                  <a:srgbClr val="17C6A3"/>
                </a:solidFill>
                <a:highlight>
                  <a:srgbClr val="1E1F22"/>
                </a:highlight>
                <a:latin typeface="Courier New"/>
                <a:ea typeface="Courier New"/>
                <a:cs typeface="Courier New"/>
                <a:sym typeface="Courier New"/>
              </a:rPr>
              <a:t>"student_id"</a:t>
            </a:r>
            <a:r>
              <a:rPr lang="en-US" sz="1700">
                <a:solidFill>
                  <a:srgbClr val="F9FAF4"/>
                </a:solidFill>
                <a:highlight>
                  <a:srgbClr val="1E1F22"/>
                </a:highlight>
                <a:latin typeface="Courier New"/>
                <a:ea typeface="Courier New"/>
                <a:cs typeface="Courier New"/>
                <a:sym typeface="Courier New"/>
              </a:rPr>
              <a:t>)</a:t>
            </a:r>
            <a:endParaRPr sz="17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700">
                <a:solidFill>
                  <a:srgbClr val="D9E8F7"/>
                </a:solidFill>
                <a:highlight>
                  <a:srgbClr val="1E1F22"/>
                </a:highlight>
                <a:latin typeface="Courier New"/>
                <a:ea typeface="Courier New"/>
                <a:cs typeface="Courier New"/>
                <a:sym typeface="Courier New"/>
              </a:rPr>
              <a:t>	</a:t>
            </a:r>
            <a:r>
              <a:rPr lang="en-US" sz="1700">
                <a:solidFill>
                  <a:srgbClr val="CC6C1D"/>
                </a:solidFill>
                <a:highlight>
                  <a:srgbClr val="1E1F22"/>
                </a:highlight>
                <a:latin typeface="Courier New"/>
                <a:ea typeface="Courier New"/>
                <a:cs typeface="Courier New"/>
                <a:sym typeface="Courier New"/>
              </a:rPr>
              <a:t>private</a:t>
            </a:r>
            <a:r>
              <a:rPr lang="en-US" sz="1700">
                <a:solidFill>
                  <a:srgbClr val="D9E8F7"/>
                </a:solidFill>
                <a:highlight>
                  <a:srgbClr val="1E1F22"/>
                </a:highlight>
                <a:latin typeface="Courier New"/>
                <a:ea typeface="Courier New"/>
                <a:cs typeface="Courier New"/>
                <a:sym typeface="Courier New"/>
              </a:rPr>
              <a:t> </a:t>
            </a:r>
            <a:r>
              <a:rPr lang="en-US" sz="1700">
                <a:solidFill>
                  <a:srgbClr val="1290C3"/>
                </a:solidFill>
                <a:highlight>
                  <a:srgbClr val="1E1F22"/>
                </a:highlight>
                <a:latin typeface="Courier New"/>
                <a:ea typeface="Courier New"/>
                <a:cs typeface="Courier New"/>
                <a:sym typeface="Courier New"/>
              </a:rPr>
              <a:t>Student</a:t>
            </a:r>
            <a:r>
              <a:rPr lang="en-US" sz="1700">
                <a:solidFill>
                  <a:srgbClr val="D9E8F7"/>
                </a:solidFill>
                <a:highlight>
                  <a:srgbClr val="1E1F22"/>
                </a:highlight>
                <a:latin typeface="Courier New"/>
                <a:ea typeface="Courier New"/>
                <a:cs typeface="Courier New"/>
                <a:sym typeface="Courier New"/>
              </a:rPr>
              <a:t> </a:t>
            </a:r>
            <a:r>
              <a:rPr lang="en-US" sz="1700">
                <a:solidFill>
                  <a:srgbClr val="66E1F8"/>
                </a:solidFill>
                <a:highlight>
                  <a:srgbClr val="1E1F22"/>
                </a:highlight>
                <a:latin typeface="Courier New"/>
                <a:ea typeface="Courier New"/>
                <a:cs typeface="Courier New"/>
                <a:sym typeface="Courier New"/>
              </a:rPr>
              <a:t>student</a:t>
            </a:r>
            <a:r>
              <a:rPr lang="en-US" sz="17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p:txBody>
      </p:sp>
      <p:sp>
        <p:nvSpPr>
          <p:cNvPr id="597" name="Google Shape;597;p73"/>
          <p:cNvSpPr txBox="1"/>
          <p:nvPr/>
        </p:nvSpPr>
        <p:spPr>
          <a:xfrm>
            <a:off x="571500" y="4321950"/>
            <a:ext cx="11049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100">
                <a:solidFill>
                  <a:schemeClr val="dk1"/>
                </a:solidFill>
                <a:latin typeface="Poppins"/>
                <a:ea typeface="Poppins"/>
                <a:cs typeface="Poppins"/>
                <a:sym typeface="Poppins"/>
              </a:rPr>
              <a:t>@JoinColumn</a:t>
            </a:r>
            <a:r>
              <a:rPr lang="en-US" sz="2100">
                <a:solidFill>
                  <a:schemeClr val="dk1"/>
                </a:solidFill>
                <a:latin typeface="Poppins"/>
                <a:ea typeface="Poppins"/>
                <a:cs typeface="Poppins"/>
                <a:sym typeface="Poppins"/>
              </a:rPr>
              <a:t> is an annotation that indicates that a given column in the owner entity refers to a primary key in the reference entity.</a:t>
            </a:r>
            <a:endParaRPr sz="2100">
              <a:solidFill>
                <a:schemeClr val="dk1"/>
              </a:solidFill>
              <a:latin typeface="Poppins"/>
              <a:ea typeface="Poppins"/>
              <a:cs typeface="Poppins"/>
              <a:sym typeface="Poppins"/>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pic>
        <p:nvPicPr>
          <p:cNvPr descr="image.png" id="602" name="Google Shape;602;p7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03" name="Google Shape;603;p7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@ManyToOne</a:t>
            </a:r>
            <a:endParaRPr b="1" sz="3600">
              <a:solidFill>
                <a:srgbClr val="B91C1C"/>
              </a:solidFill>
              <a:latin typeface="Poppins"/>
              <a:ea typeface="Poppins"/>
              <a:cs typeface="Poppins"/>
              <a:sym typeface="Poppins"/>
            </a:endParaRPr>
          </a:p>
        </p:txBody>
      </p:sp>
      <p:sp>
        <p:nvSpPr>
          <p:cNvPr id="604" name="Google Shape;604;p7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5" name="Google Shape;605;p74"/>
          <p:cNvSpPr txBox="1"/>
          <p:nvPr/>
        </p:nvSpPr>
        <p:spPr>
          <a:xfrm>
            <a:off x="571500" y="1693950"/>
            <a:ext cx="11049000" cy="326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Many instances of one entity can be associated with a single instance of another entity.</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For example:</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45720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Many instances of courses belongs to one instance of students.</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p:txBody>
      </p:sp>
      <p:pic>
        <p:nvPicPr>
          <p:cNvPr id="606" name="Google Shape;606;p74" title="manytoone.drawio.png"/>
          <p:cNvPicPr preferRelativeResize="0"/>
          <p:nvPr/>
        </p:nvPicPr>
        <p:blipFill>
          <a:blip r:embed="rId4">
            <a:alphaModFix/>
          </a:blip>
          <a:stretch>
            <a:fillRect/>
          </a:stretch>
        </p:blipFill>
        <p:spPr>
          <a:xfrm>
            <a:off x="2829831" y="4058281"/>
            <a:ext cx="7084950" cy="2135375"/>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pic>
        <p:nvPicPr>
          <p:cNvPr descr="image.png" id="611" name="Google Shape;611;p7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12" name="Google Shape;612;p75"/>
          <p:cNvSpPr txBox="1"/>
          <p:nvPr/>
        </p:nvSpPr>
        <p:spPr>
          <a:xfrm>
            <a:off x="571500" y="38397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@ManyToOne</a:t>
            </a:r>
            <a:endParaRPr b="1" sz="3600">
              <a:solidFill>
                <a:srgbClr val="B91C1C"/>
              </a:solidFill>
              <a:latin typeface="Poppins"/>
              <a:ea typeface="Poppins"/>
              <a:cs typeface="Poppins"/>
              <a:sym typeface="Poppins"/>
            </a:endParaRPr>
          </a:p>
        </p:txBody>
      </p:sp>
      <p:sp>
        <p:nvSpPr>
          <p:cNvPr id="613" name="Google Shape;613;p75"/>
          <p:cNvSpPr/>
          <p:nvPr/>
        </p:nvSpPr>
        <p:spPr>
          <a:xfrm>
            <a:off x="571500" y="11412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14" name="Google Shape;614;p75" title="manytoonemapping.drawio.png"/>
          <p:cNvPicPr preferRelativeResize="0"/>
          <p:nvPr/>
        </p:nvPicPr>
        <p:blipFill>
          <a:blip r:embed="rId4">
            <a:alphaModFix/>
          </a:blip>
          <a:stretch>
            <a:fillRect/>
          </a:stretch>
        </p:blipFill>
        <p:spPr>
          <a:xfrm>
            <a:off x="3176124" y="1623425"/>
            <a:ext cx="5839750" cy="4570225"/>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8" name="Shape 618"/>
        <p:cNvGrpSpPr/>
        <p:nvPr/>
      </p:nvGrpSpPr>
      <p:grpSpPr>
        <a:xfrm>
          <a:off x="0" y="0"/>
          <a:ext cx="0" cy="0"/>
          <a:chOff x="0" y="0"/>
          <a:chExt cx="0" cy="0"/>
        </a:xfrm>
      </p:grpSpPr>
      <p:pic>
        <p:nvPicPr>
          <p:cNvPr descr="image.png" id="619" name="Google Shape;619;p7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20" name="Google Shape;620;p76"/>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@ManyToOne</a:t>
            </a:r>
            <a:endParaRPr b="1" sz="3600">
              <a:solidFill>
                <a:srgbClr val="B91C1C"/>
              </a:solidFill>
              <a:latin typeface="Poppins"/>
              <a:ea typeface="Poppins"/>
              <a:cs typeface="Poppins"/>
              <a:sym typeface="Poppins"/>
            </a:endParaRPr>
          </a:p>
        </p:txBody>
      </p:sp>
      <p:sp>
        <p:nvSpPr>
          <p:cNvPr id="621" name="Google Shape;621;p76"/>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22" name="Google Shape;622;p76"/>
          <p:cNvPicPr preferRelativeResize="0"/>
          <p:nvPr/>
        </p:nvPicPr>
        <p:blipFill>
          <a:blip r:embed="rId4">
            <a:alphaModFix/>
          </a:blip>
          <a:stretch>
            <a:fillRect/>
          </a:stretch>
        </p:blipFill>
        <p:spPr>
          <a:xfrm>
            <a:off x="571500" y="2414575"/>
            <a:ext cx="2457450" cy="2028825"/>
          </a:xfrm>
          <a:prstGeom prst="rect">
            <a:avLst/>
          </a:prstGeom>
          <a:noFill/>
          <a:ln>
            <a:noFill/>
          </a:ln>
        </p:spPr>
      </p:pic>
      <p:sp>
        <p:nvSpPr>
          <p:cNvPr id="623" name="Google Shape;623;p76"/>
          <p:cNvSpPr txBox="1"/>
          <p:nvPr/>
        </p:nvSpPr>
        <p:spPr>
          <a:xfrm>
            <a:off x="3482575" y="1285875"/>
            <a:ext cx="8137800" cy="4830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"courses"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"course_name"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courseName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"grade"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"VARCHAR(2)"</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grade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@ManyToOne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7" name="Shape 627"/>
        <p:cNvGrpSpPr/>
        <p:nvPr/>
      </p:nvGrpSpPr>
      <p:grpSpPr>
        <a:xfrm>
          <a:off x="0" y="0"/>
          <a:ext cx="0" cy="0"/>
          <a:chOff x="0" y="0"/>
          <a:chExt cx="0" cy="0"/>
        </a:xfrm>
      </p:grpSpPr>
      <p:pic>
        <p:nvPicPr>
          <p:cNvPr descr="image.png" id="628" name="Google Shape;628;p7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29" name="Google Shape;629;p7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a:t>
            </a:r>
            <a:endParaRPr b="1" sz="3600">
              <a:solidFill>
                <a:srgbClr val="B91C1C"/>
              </a:solidFill>
              <a:latin typeface="Poppins"/>
              <a:ea typeface="Poppins"/>
              <a:cs typeface="Poppins"/>
              <a:sym typeface="Poppins"/>
            </a:endParaRPr>
          </a:p>
        </p:txBody>
      </p:sp>
      <p:sp>
        <p:nvSpPr>
          <p:cNvPr id="630" name="Google Shape;630;p7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1" name="Google Shape;631;p77"/>
          <p:cNvSpPr txBox="1"/>
          <p:nvPr/>
        </p:nvSpPr>
        <p:spPr>
          <a:xfrm>
            <a:off x="571500" y="1693950"/>
            <a:ext cx="11049000" cy="2447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One instance of an entity is associated to many instances of another entity.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For example:</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One Student instance can be associated to many Course instances.</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p:txBody>
      </p:sp>
      <p:pic>
        <p:nvPicPr>
          <p:cNvPr id="632" name="Google Shape;632;p77" title="manytoone.drawio.png"/>
          <p:cNvPicPr preferRelativeResize="0"/>
          <p:nvPr/>
        </p:nvPicPr>
        <p:blipFill>
          <a:blip r:embed="rId4">
            <a:alphaModFix/>
          </a:blip>
          <a:stretch>
            <a:fillRect/>
          </a:stretch>
        </p:blipFill>
        <p:spPr>
          <a:xfrm>
            <a:off x="2490531" y="4076131"/>
            <a:ext cx="7084950" cy="2135375"/>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pic>
        <p:nvPicPr>
          <p:cNvPr descr="image.png" id="637" name="Google Shape;637;p7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38" name="Google Shape;638;p78"/>
          <p:cNvSpPr txBox="1"/>
          <p:nvPr/>
        </p:nvSpPr>
        <p:spPr>
          <a:xfrm>
            <a:off x="571500" y="3761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a:t>
            </a:r>
            <a:endParaRPr b="1" sz="3600">
              <a:solidFill>
                <a:srgbClr val="B91C1C"/>
              </a:solidFill>
              <a:latin typeface="Poppins"/>
              <a:ea typeface="Poppins"/>
              <a:cs typeface="Poppins"/>
              <a:sym typeface="Poppins"/>
            </a:endParaRPr>
          </a:p>
        </p:txBody>
      </p:sp>
      <p:sp>
        <p:nvSpPr>
          <p:cNvPr id="639" name="Google Shape;639;p78"/>
          <p:cNvSpPr/>
          <p:nvPr/>
        </p:nvSpPr>
        <p:spPr>
          <a:xfrm>
            <a:off x="571500" y="1107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0" name="Google Shape;640;p78"/>
          <p:cNvSpPr txBox="1"/>
          <p:nvPr/>
        </p:nvSpPr>
        <p:spPr>
          <a:xfrm>
            <a:off x="625775" y="1303275"/>
            <a:ext cx="10994700" cy="3740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So why use @OneToMany if there is no foreign key in the students table?</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One of the use of using @OneToMany would be to point out that the foreign key is in the Course entity.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Another is to tell JPA that this side of the relationship is the </a:t>
            </a:r>
            <a:r>
              <a:rPr b="1" lang="en-US" sz="2100">
                <a:solidFill>
                  <a:schemeClr val="dk1"/>
                </a:solidFill>
                <a:latin typeface="Poppins"/>
                <a:ea typeface="Poppins"/>
                <a:cs typeface="Poppins"/>
                <a:sym typeface="Poppins"/>
              </a:rPr>
              <a:t>inverse</a:t>
            </a:r>
            <a:r>
              <a:rPr lang="en-US" sz="2100">
                <a:solidFill>
                  <a:schemeClr val="dk1"/>
                </a:solidFill>
                <a:latin typeface="Poppins"/>
                <a:ea typeface="Poppins"/>
                <a:cs typeface="Poppins"/>
                <a:sym typeface="Poppins"/>
              </a:rPr>
              <a:t> side by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defining the </a:t>
            </a:r>
            <a:r>
              <a:rPr b="1" lang="en-US" sz="2100">
                <a:solidFill>
                  <a:schemeClr val="dk1"/>
                </a:solidFill>
                <a:latin typeface="Poppins"/>
                <a:ea typeface="Poppins"/>
                <a:cs typeface="Poppins"/>
                <a:sym typeface="Poppins"/>
              </a:rPr>
              <a:t>mappedBy </a:t>
            </a:r>
            <a:r>
              <a:rPr lang="en-US" sz="2100">
                <a:solidFill>
                  <a:schemeClr val="dk1"/>
                </a:solidFill>
                <a:latin typeface="Poppins"/>
                <a:ea typeface="Poppins"/>
                <a:cs typeface="Poppins"/>
                <a:sym typeface="Poppins"/>
              </a:rPr>
              <a:t>attribute</a:t>
            </a:r>
            <a:r>
              <a:rPr lang="en-US" sz="2100">
                <a:solidFill>
                  <a:schemeClr val="dk1"/>
                </a:solidFill>
                <a:latin typeface="Poppins"/>
                <a:ea typeface="Poppins"/>
                <a:cs typeface="Poppins"/>
                <a:sym typeface="Poppins"/>
              </a:rPr>
              <a:t> in @OneToMany annotation, so JPA doesn’t create another foreign key.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The </a:t>
            </a:r>
            <a:r>
              <a:rPr b="1" lang="en-US" sz="2100">
                <a:solidFill>
                  <a:schemeClr val="dk1"/>
                </a:solidFill>
                <a:latin typeface="Poppins"/>
                <a:ea typeface="Poppins"/>
                <a:cs typeface="Poppins"/>
                <a:sym typeface="Poppins"/>
              </a:rPr>
              <a:t>owning</a:t>
            </a:r>
            <a:r>
              <a:rPr lang="en-US" sz="2100">
                <a:solidFill>
                  <a:schemeClr val="dk1"/>
                </a:solidFill>
                <a:latin typeface="Poppins"/>
                <a:ea typeface="Poppins"/>
                <a:cs typeface="Poppins"/>
                <a:sym typeface="Poppins"/>
              </a:rPr>
              <a:t> side would be the Course which has the foreign key.</a:t>
            </a:r>
            <a:endParaRPr sz="2100">
              <a:solidFill>
                <a:schemeClr val="dk1"/>
              </a:solidFill>
              <a:latin typeface="Poppins"/>
              <a:ea typeface="Poppins"/>
              <a:cs typeface="Poppins"/>
              <a:sym typeface="Poppins"/>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4" name="Shape 644"/>
        <p:cNvGrpSpPr/>
        <p:nvPr/>
      </p:nvGrpSpPr>
      <p:grpSpPr>
        <a:xfrm>
          <a:off x="0" y="0"/>
          <a:ext cx="0" cy="0"/>
          <a:chOff x="0" y="0"/>
          <a:chExt cx="0" cy="0"/>
        </a:xfrm>
      </p:grpSpPr>
      <p:pic>
        <p:nvPicPr>
          <p:cNvPr descr="image.png" id="645" name="Google Shape;645;p7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46" name="Google Shape;646;p79"/>
          <p:cNvSpPr txBox="1"/>
          <p:nvPr/>
        </p:nvSpPr>
        <p:spPr>
          <a:xfrm>
            <a:off x="571500" y="3761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a:t>
            </a:r>
            <a:endParaRPr b="1" sz="3600">
              <a:solidFill>
                <a:srgbClr val="B91C1C"/>
              </a:solidFill>
              <a:latin typeface="Poppins"/>
              <a:ea typeface="Poppins"/>
              <a:cs typeface="Poppins"/>
              <a:sym typeface="Poppins"/>
            </a:endParaRPr>
          </a:p>
        </p:txBody>
      </p:sp>
      <p:sp>
        <p:nvSpPr>
          <p:cNvPr id="647" name="Google Shape;647;p79"/>
          <p:cNvSpPr/>
          <p:nvPr/>
        </p:nvSpPr>
        <p:spPr>
          <a:xfrm>
            <a:off x="571500" y="1107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79"/>
          <p:cNvSpPr txBox="1"/>
          <p:nvPr/>
        </p:nvSpPr>
        <p:spPr>
          <a:xfrm>
            <a:off x="524250" y="1643050"/>
            <a:ext cx="11143500" cy="5042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nullable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false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unique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true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"VARCHAR(100)"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@OneToMany</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mappedBy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2" name="Shape 652"/>
        <p:cNvGrpSpPr/>
        <p:nvPr/>
      </p:nvGrpSpPr>
      <p:grpSpPr>
        <a:xfrm>
          <a:off x="0" y="0"/>
          <a:ext cx="0" cy="0"/>
          <a:chOff x="0" y="0"/>
          <a:chExt cx="0" cy="0"/>
        </a:xfrm>
      </p:grpSpPr>
      <p:pic>
        <p:nvPicPr>
          <p:cNvPr descr="image.png" id="653" name="Google Shape;653;p8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54" name="Google Shape;654;p8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 Bidirectional</a:t>
            </a:r>
            <a:endParaRPr b="1" sz="3600">
              <a:solidFill>
                <a:srgbClr val="B91C1C"/>
              </a:solidFill>
              <a:latin typeface="Poppins"/>
              <a:ea typeface="Poppins"/>
              <a:cs typeface="Poppins"/>
              <a:sym typeface="Poppins"/>
            </a:endParaRPr>
          </a:p>
        </p:txBody>
      </p:sp>
      <p:sp>
        <p:nvSpPr>
          <p:cNvPr id="655" name="Google Shape;655;p8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6" name="Google Shape;656;p80"/>
          <p:cNvSpPr txBox="1"/>
          <p:nvPr/>
        </p:nvSpPr>
        <p:spPr>
          <a:xfrm>
            <a:off x="571500" y="1574700"/>
            <a:ext cx="11049000" cy="110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Another use is to create a </a:t>
            </a:r>
            <a:r>
              <a:rPr b="1" lang="en-US" sz="2000">
                <a:solidFill>
                  <a:schemeClr val="dk1"/>
                </a:solidFill>
                <a:latin typeface="Poppins"/>
                <a:ea typeface="Poppins"/>
                <a:cs typeface="Poppins"/>
                <a:sym typeface="Poppins"/>
              </a:rPr>
              <a:t>Bidirectional mapping</a:t>
            </a:r>
            <a:r>
              <a:rPr lang="en-US" sz="2000">
                <a:solidFill>
                  <a:schemeClr val="dk1"/>
                </a:solidFill>
                <a:latin typeface="Poppins"/>
                <a:ea typeface="Poppins"/>
                <a:cs typeface="Poppins"/>
                <a:sym typeface="Poppins"/>
              </a:rPr>
              <a:t> so both entity classes are aware of each other and can navigate the relationship from either side. For our example, you can </a:t>
            </a:r>
            <a:r>
              <a:rPr lang="en-US" sz="2000">
                <a:solidFill>
                  <a:schemeClr val="dk1"/>
                </a:solidFill>
                <a:latin typeface="Poppins"/>
                <a:ea typeface="Poppins"/>
                <a:cs typeface="Poppins"/>
                <a:sym typeface="Poppins"/>
              </a:rPr>
              <a:t>access all the courses in the student, and vice versa.</a:t>
            </a:r>
            <a:endParaRPr sz="2000">
              <a:solidFill>
                <a:schemeClr val="dk1"/>
              </a:solidFill>
              <a:latin typeface="Poppins"/>
              <a:ea typeface="Poppins"/>
              <a:cs typeface="Poppins"/>
              <a:sym typeface="Poppins"/>
            </a:endParaRPr>
          </a:p>
        </p:txBody>
      </p:sp>
      <p:sp>
        <p:nvSpPr>
          <p:cNvPr id="657" name="Google Shape;657;p80"/>
          <p:cNvSpPr txBox="1"/>
          <p:nvPr/>
        </p:nvSpPr>
        <p:spPr>
          <a:xfrm>
            <a:off x="571500" y="2915075"/>
            <a:ext cx="11049000" cy="2281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runBidirectional</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getCourses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getCourseName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1" name="Shape 661"/>
        <p:cNvGrpSpPr/>
        <p:nvPr/>
      </p:nvGrpSpPr>
      <p:grpSpPr>
        <a:xfrm>
          <a:off x="0" y="0"/>
          <a:ext cx="0" cy="0"/>
          <a:chOff x="0" y="0"/>
          <a:chExt cx="0" cy="0"/>
        </a:xfrm>
      </p:grpSpPr>
      <p:pic>
        <p:nvPicPr>
          <p:cNvPr descr="image.png" id="662" name="Google Shape;662;p8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63" name="Google Shape;663;p81"/>
          <p:cNvSpPr txBox="1"/>
          <p:nvPr/>
        </p:nvSpPr>
        <p:spPr>
          <a:xfrm>
            <a:off x="571500" y="3436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Owning Side and Inverse Side</a:t>
            </a:r>
            <a:endParaRPr/>
          </a:p>
        </p:txBody>
      </p:sp>
      <p:sp>
        <p:nvSpPr>
          <p:cNvPr id="664" name="Google Shape;664;p81"/>
          <p:cNvSpPr/>
          <p:nvPr/>
        </p:nvSpPr>
        <p:spPr>
          <a:xfrm>
            <a:off x="506400" y="955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5" name="Google Shape;665;p81"/>
          <p:cNvSpPr txBox="1"/>
          <p:nvPr/>
        </p:nvSpPr>
        <p:spPr>
          <a:xfrm>
            <a:off x="506400" y="1356400"/>
            <a:ext cx="11049000" cy="5295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b="1" lang="en-US" sz="2600">
                <a:solidFill>
                  <a:schemeClr val="dk1"/>
                </a:solidFill>
                <a:latin typeface="Poppins"/>
                <a:ea typeface="Poppins"/>
                <a:cs typeface="Poppins"/>
                <a:sym typeface="Poppins"/>
              </a:rPr>
              <a:t>Owning side:</a:t>
            </a:r>
            <a:r>
              <a:rPr lang="en-US" sz="2600">
                <a:solidFill>
                  <a:schemeClr val="dk1"/>
                </a:solidFill>
                <a:latin typeface="Poppins"/>
                <a:ea typeface="Poppins"/>
                <a:cs typeface="Poppins"/>
                <a:sym typeface="Poppins"/>
              </a:rPr>
              <a:t> </a:t>
            </a:r>
            <a:endParaRPr sz="2600">
              <a:solidFill>
                <a:schemeClr val="dk1"/>
              </a:solidFill>
              <a:latin typeface="Poppins"/>
              <a:ea typeface="Poppins"/>
              <a:cs typeface="Poppins"/>
              <a:sym typeface="Poppins"/>
            </a:endParaRPr>
          </a:p>
          <a:p>
            <a:pPr indent="-387350" lvl="0" marL="9144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Controls the foreign key</a:t>
            </a:r>
            <a:endParaRPr sz="2500">
              <a:solidFill>
                <a:schemeClr val="dk1"/>
              </a:solidFill>
              <a:latin typeface="Poppins"/>
              <a:ea typeface="Poppins"/>
              <a:cs typeface="Poppins"/>
              <a:sym typeface="Poppins"/>
            </a:endParaRPr>
          </a:p>
          <a:p>
            <a:pPr indent="-387350" lvl="0" marL="9144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Responsible for database updates</a:t>
            </a:r>
            <a:endParaRPr sz="2500">
              <a:solidFill>
                <a:schemeClr val="dk1"/>
              </a:solidFill>
              <a:latin typeface="Poppins"/>
              <a:ea typeface="Poppins"/>
              <a:cs typeface="Poppins"/>
              <a:sym typeface="Poppins"/>
            </a:endParaRPr>
          </a:p>
          <a:p>
            <a:pPr indent="-387350" lvl="0" marL="9144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Uses @JoinColumn</a:t>
            </a:r>
            <a:endParaRPr sz="1100">
              <a:solidFill>
                <a:srgbClr val="188038"/>
              </a:solidFill>
              <a:latin typeface="Roboto Mono"/>
              <a:ea typeface="Roboto Mono"/>
              <a:cs typeface="Roboto Mono"/>
              <a:sym typeface="Roboto Mono"/>
            </a:endParaRPr>
          </a:p>
          <a:p>
            <a:pPr indent="0" lvl="0" marL="0" marR="0" rtl="0" algn="l">
              <a:lnSpc>
                <a:spcPct val="100000"/>
              </a:lnSpc>
              <a:spcBef>
                <a:spcPts val="0"/>
              </a:spcBef>
              <a:spcAft>
                <a:spcPts val="0"/>
              </a:spcAft>
              <a:buNone/>
            </a:pPr>
            <a:r>
              <a:t/>
            </a:r>
            <a:endParaRPr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b="1" lang="en-US" sz="2600">
                <a:solidFill>
                  <a:schemeClr val="dk1"/>
                </a:solidFill>
                <a:latin typeface="Poppins"/>
                <a:ea typeface="Poppins"/>
                <a:cs typeface="Poppins"/>
                <a:sym typeface="Poppins"/>
              </a:rPr>
              <a:t>Inverse side: </a:t>
            </a:r>
            <a:endParaRPr b="1" sz="2600">
              <a:solidFill>
                <a:schemeClr val="dk1"/>
              </a:solidFill>
              <a:latin typeface="Poppins"/>
              <a:ea typeface="Poppins"/>
              <a:cs typeface="Poppins"/>
              <a:sym typeface="Poppins"/>
            </a:endParaRPr>
          </a:p>
          <a:p>
            <a:pPr indent="-387350" lvl="0" marL="9144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Mirrors the relationship</a:t>
            </a:r>
            <a:endParaRPr sz="2500">
              <a:solidFill>
                <a:schemeClr val="dk1"/>
              </a:solidFill>
              <a:latin typeface="Poppins"/>
              <a:ea typeface="Poppins"/>
              <a:cs typeface="Poppins"/>
              <a:sym typeface="Poppins"/>
            </a:endParaRPr>
          </a:p>
          <a:p>
            <a:pPr indent="-387350" lvl="0" marL="9144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Uses mappedBy attribute</a:t>
            </a:r>
            <a:endParaRPr sz="2500">
              <a:solidFill>
                <a:schemeClr val="dk1"/>
              </a:solidFill>
              <a:latin typeface="Poppins"/>
              <a:ea typeface="Poppins"/>
              <a:cs typeface="Poppins"/>
              <a:sym typeface="Poppins"/>
            </a:endParaRPr>
          </a:p>
          <a:p>
            <a:pPr indent="-387350" lvl="1" marL="13716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@OneToMany(mappedBy = “student”)</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1"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1"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1" sz="2600">
              <a:solidFill>
                <a:schemeClr val="dk1"/>
              </a:solidFill>
              <a:latin typeface="Poppins"/>
              <a:ea typeface="Poppins"/>
              <a:cs typeface="Poppins"/>
              <a:sym typeface="Poppins"/>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9" name="Shape 669"/>
        <p:cNvGrpSpPr/>
        <p:nvPr/>
      </p:nvGrpSpPr>
      <p:grpSpPr>
        <a:xfrm>
          <a:off x="0" y="0"/>
          <a:ext cx="0" cy="0"/>
          <a:chOff x="0" y="0"/>
          <a:chExt cx="0" cy="0"/>
        </a:xfrm>
      </p:grpSpPr>
      <p:pic>
        <p:nvPicPr>
          <p:cNvPr descr="image.png" id="670" name="Google Shape;670;p8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71" name="Google Shape;671;p8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672" name="Google Shape;672;p8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3" name="Google Shape;673;p82"/>
          <p:cNvSpPr txBox="1"/>
          <p:nvPr/>
        </p:nvSpPr>
        <p:spPr>
          <a:xfrm>
            <a:off x="571500" y="1693950"/>
            <a:ext cx="11049000" cy="2493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Multiple instances of one entity are associated with multiple instances of another entity.</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For example, Many instances of Student can be associated to many instances of Club</a:t>
            </a:r>
            <a:endParaRPr sz="2500">
              <a:solidFill>
                <a:schemeClr val="dk1"/>
              </a:solidFill>
              <a:latin typeface="Poppins"/>
              <a:ea typeface="Poppins"/>
              <a:cs typeface="Poppins"/>
              <a:sym typeface="Poppins"/>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7" name="Shape 677"/>
        <p:cNvGrpSpPr/>
        <p:nvPr/>
      </p:nvGrpSpPr>
      <p:grpSpPr>
        <a:xfrm>
          <a:off x="0" y="0"/>
          <a:ext cx="0" cy="0"/>
          <a:chOff x="0" y="0"/>
          <a:chExt cx="0" cy="0"/>
        </a:xfrm>
      </p:grpSpPr>
      <p:pic>
        <p:nvPicPr>
          <p:cNvPr descr="image.png" id="678" name="Google Shape;678;p83"/>
          <p:cNvPicPr preferRelativeResize="0"/>
          <p:nvPr/>
        </p:nvPicPr>
        <p:blipFill rotWithShape="1">
          <a:blip r:embed="rId3">
            <a:alphaModFix/>
          </a:blip>
          <a:srcRect b="129" l="0" r="0" t="-130"/>
          <a:stretch/>
        </p:blipFill>
        <p:spPr>
          <a:xfrm>
            <a:off x="0" y="0"/>
            <a:ext cx="12192000" cy="6858000"/>
          </a:xfrm>
          <a:prstGeom prst="rect">
            <a:avLst/>
          </a:prstGeom>
          <a:noFill/>
          <a:ln>
            <a:noFill/>
          </a:ln>
        </p:spPr>
      </p:pic>
      <p:sp>
        <p:nvSpPr>
          <p:cNvPr id="679" name="Google Shape;679;p83"/>
          <p:cNvSpPr txBox="1"/>
          <p:nvPr/>
        </p:nvSpPr>
        <p:spPr>
          <a:xfrm>
            <a:off x="571500" y="45877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680" name="Google Shape;680;p83"/>
          <p:cNvSpPr/>
          <p:nvPr/>
        </p:nvSpPr>
        <p:spPr>
          <a:xfrm>
            <a:off x="571500" y="12404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81" name="Google Shape;681;p83" title="manytomany.drawio.png"/>
          <p:cNvPicPr preferRelativeResize="0"/>
          <p:nvPr/>
        </p:nvPicPr>
        <p:blipFill>
          <a:blip r:embed="rId4">
            <a:alphaModFix/>
          </a:blip>
          <a:stretch>
            <a:fillRect/>
          </a:stretch>
        </p:blipFill>
        <p:spPr>
          <a:xfrm>
            <a:off x="1103594" y="2461032"/>
            <a:ext cx="9984825" cy="2213975"/>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5" name="Shape 685"/>
        <p:cNvGrpSpPr/>
        <p:nvPr/>
      </p:nvGrpSpPr>
      <p:grpSpPr>
        <a:xfrm>
          <a:off x="0" y="0"/>
          <a:ext cx="0" cy="0"/>
          <a:chOff x="0" y="0"/>
          <a:chExt cx="0" cy="0"/>
        </a:xfrm>
      </p:grpSpPr>
      <p:pic>
        <p:nvPicPr>
          <p:cNvPr descr="image.png" id="686" name="Google Shape;686;p8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87" name="Google Shape;687;p84"/>
          <p:cNvSpPr txBox="1"/>
          <p:nvPr/>
        </p:nvSpPr>
        <p:spPr>
          <a:xfrm>
            <a:off x="571500" y="45877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688" name="Google Shape;688;p84"/>
          <p:cNvSpPr/>
          <p:nvPr/>
        </p:nvSpPr>
        <p:spPr>
          <a:xfrm>
            <a:off x="571500" y="12404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89" name="Google Shape;689;p84" title="manytomany.drawio (1).png"/>
          <p:cNvPicPr preferRelativeResize="0"/>
          <p:nvPr/>
        </p:nvPicPr>
        <p:blipFill>
          <a:blip r:embed="rId4">
            <a:alphaModFix/>
          </a:blip>
          <a:stretch>
            <a:fillRect/>
          </a:stretch>
        </p:blipFill>
        <p:spPr>
          <a:xfrm>
            <a:off x="3355600" y="1810925"/>
            <a:ext cx="6033400" cy="4391650"/>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3" name="Shape 693"/>
        <p:cNvGrpSpPr/>
        <p:nvPr/>
      </p:nvGrpSpPr>
      <p:grpSpPr>
        <a:xfrm>
          <a:off x="0" y="0"/>
          <a:ext cx="0" cy="0"/>
          <a:chOff x="0" y="0"/>
          <a:chExt cx="0" cy="0"/>
        </a:xfrm>
      </p:grpSpPr>
      <p:pic>
        <p:nvPicPr>
          <p:cNvPr descr="image.png" id="694" name="Google Shape;694;p8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95" name="Google Shape;695;p85"/>
          <p:cNvSpPr txBox="1"/>
          <p:nvPr/>
        </p:nvSpPr>
        <p:spPr>
          <a:xfrm>
            <a:off x="571500" y="2768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 - Owning Side</a:t>
            </a:r>
            <a:endParaRPr/>
          </a:p>
        </p:txBody>
      </p:sp>
      <p:sp>
        <p:nvSpPr>
          <p:cNvPr id="696" name="Google Shape;696;p85"/>
          <p:cNvSpPr/>
          <p:nvPr/>
        </p:nvSpPr>
        <p:spPr>
          <a:xfrm>
            <a:off x="571500" y="9180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97" name="Google Shape;697;p85"/>
          <p:cNvPicPr preferRelativeResize="0"/>
          <p:nvPr/>
        </p:nvPicPr>
        <p:blipFill>
          <a:blip r:embed="rId4">
            <a:alphaModFix/>
          </a:blip>
          <a:stretch>
            <a:fillRect/>
          </a:stretch>
        </p:blipFill>
        <p:spPr>
          <a:xfrm>
            <a:off x="571500" y="2709863"/>
            <a:ext cx="2571750" cy="1724025"/>
          </a:xfrm>
          <a:prstGeom prst="rect">
            <a:avLst/>
          </a:prstGeom>
          <a:noFill/>
          <a:ln>
            <a:noFill/>
          </a:ln>
        </p:spPr>
      </p:pic>
      <p:sp>
        <p:nvSpPr>
          <p:cNvPr id="698" name="Google Shape;698;p85"/>
          <p:cNvSpPr txBox="1"/>
          <p:nvPr/>
        </p:nvSpPr>
        <p:spPr>
          <a:xfrm>
            <a:off x="3463800" y="1024275"/>
            <a:ext cx="8156700" cy="58923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"clubs"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"name"</a:t>
            </a:r>
            <a:endParaRPr sz="1200">
              <a:solidFill>
                <a:srgbClr val="17C6A3"/>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unique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true</a:t>
            </a:r>
            <a:endParaRPr sz="1200">
              <a:solidFill>
                <a:srgbClr val="CC6C1D"/>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nullable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false</a:t>
            </a:r>
            <a:endParaRPr sz="1200">
              <a:solidFill>
                <a:srgbClr val="CC6C1D"/>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endParaRPr sz="1200">
              <a:solidFill>
                <a:srgbClr val="17C6A3"/>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"description"</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description</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@ManyToMany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"students_clubs"</a:t>
            </a:r>
            <a:endParaRPr sz="1200">
              <a:solidFill>
                <a:srgbClr val="17C6A3"/>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joinColumns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"club_id"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inverseJoinColumns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pic>
        <p:nvPicPr>
          <p:cNvPr descr="image.png" id="703" name="Google Shape;703;p8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04" name="Google Shape;704;p86"/>
          <p:cNvSpPr txBox="1"/>
          <p:nvPr/>
        </p:nvSpPr>
        <p:spPr>
          <a:xfrm>
            <a:off x="571500" y="3036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 - Inverse side</a:t>
            </a:r>
            <a:endParaRPr/>
          </a:p>
        </p:txBody>
      </p:sp>
      <p:sp>
        <p:nvSpPr>
          <p:cNvPr id="705" name="Google Shape;705;p86"/>
          <p:cNvSpPr/>
          <p:nvPr/>
        </p:nvSpPr>
        <p:spPr>
          <a:xfrm>
            <a:off x="687600" y="9626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06" name="Google Shape;706;p86"/>
          <p:cNvPicPr preferRelativeResize="0"/>
          <p:nvPr/>
        </p:nvPicPr>
        <p:blipFill>
          <a:blip r:embed="rId4">
            <a:alphaModFix/>
          </a:blip>
          <a:stretch>
            <a:fillRect/>
          </a:stretch>
        </p:blipFill>
        <p:spPr>
          <a:xfrm>
            <a:off x="571498" y="2451498"/>
            <a:ext cx="2213675" cy="1854250"/>
          </a:xfrm>
          <a:prstGeom prst="rect">
            <a:avLst/>
          </a:prstGeom>
          <a:noFill/>
          <a:ln>
            <a:noFill/>
          </a:ln>
        </p:spPr>
      </p:pic>
      <p:sp>
        <p:nvSpPr>
          <p:cNvPr id="707" name="Google Shape;707;p86"/>
          <p:cNvSpPr txBox="1"/>
          <p:nvPr/>
        </p:nvSpPr>
        <p:spPr>
          <a:xfrm>
            <a:off x="2901250" y="1042075"/>
            <a:ext cx="91173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nullable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false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unique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true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"VARCHAR(100)"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@OneToMany</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mappedBy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@ManyToMany</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mappedBy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Club</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clubs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1" name="Shape 711"/>
        <p:cNvGrpSpPr/>
        <p:nvPr/>
      </p:nvGrpSpPr>
      <p:grpSpPr>
        <a:xfrm>
          <a:off x="0" y="0"/>
          <a:ext cx="0" cy="0"/>
          <a:chOff x="0" y="0"/>
          <a:chExt cx="0" cy="0"/>
        </a:xfrm>
      </p:grpSpPr>
      <p:pic>
        <p:nvPicPr>
          <p:cNvPr descr="image.png" id="712" name="Google Shape;712;p8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13" name="Google Shape;713;p87"/>
          <p:cNvSpPr txBox="1"/>
          <p:nvPr/>
        </p:nvSpPr>
        <p:spPr>
          <a:xfrm>
            <a:off x="687600" y="3214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714" name="Google Shape;714;p87"/>
          <p:cNvSpPr/>
          <p:nvPr/>
        </p:nvSpPr>
        <p:spPr>
          <a:xfrm>
            <a:off x="687600" y="9626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5" name="Google Shape;715;p87"/>
          <p:cNvSpPr txBox="1"/>
          <p:nvPr/>
        </p:nvSpPr>
        <p:spPr>
          <a:xfrm>
            <a:off x="687600" y="1205500"/>
            <a:ext cx="11049000" cy="80163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persistManyToMany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student2</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basketballClub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"Basketball 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setDescription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"For basketball enthusiast"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basketballClubstudentList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u="sng">
                <a:solidFill>
                  <a:srgbClr val="CC6C1D"/>
                </a:solidFill>
                <a:highlight>
                  <a:srgbClr val="1E1F22"/>
                </a:highlight>
                <a:latin typeface="Courier New"/>
                <a:ea typeface="Courier New"/>
                <a:cs typeface="Courier New"/>
                <a:sym typeface="Courier New"/>
              </a:rPr>
              <a:t>new</a:t>
            </a:r>
            <a:r>
              <a:rPr lang="en-US" sz="1200" u="sng">
                <a:solidFill>
                  <a:srgbClr val="D9E8F7"/>
                </a:solidFill>
                <a:highlight>
                  <a:srgbClr val="1E1F22"/>
                </a:highlight>
                <a:latin typeface="Courier New"/>
                <a:ea typeface="Courier New"/>
                <a:cs typeface="Courier New"/>
                <a:sym typeface="Courier New"/>
              </a:rPr>
              <a:t> </a:t>
            </a:r>
            <a:r>
              <a:rPr lang="en-US" sz="1200" u="sng">
                <a:solidFill>
                  <a:srgbClr val="A7EC21"/>
                </a:solidFill>
                <a:highlight>
                  <a:srgbClr val="1E1F22"/>
                </a:highlight>
                <a:latin typeface="Courier New"/>
                <a:ea typeface="Courier New"/>
                <a:cs typeface="Courier New"/>
                <a:sym typeface="Courier New"/>
              </a:rPr>
              <a:t>ArrayList</a:t>
            </a:r>
            <a:r>
              <a:rPr lang="en-US" sz="1200" u="sng">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basketballClubstudentList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gleeClub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"Glee 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setDescription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"For students that wants to sing"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gleeClubstudentList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u="sng">
                <a:solidFill>
                  <a:srgbClr val="CC6C1D"/>
                </a:solidFill>
                <a:highlight>
                  <a:srgbClr val="1E1F22"/>
                </a:highlight>
                <a:latin typeface="Courier New"/>
                <a:ea typeface="Courier New"/>
                <a:cs typeface="Courier New"/>
                <a:sym typeface="Courier New"/>
              </a:rPr>
              <a:t>new</a:t>
            </a:r>
            <a:r>
              <a:rPr lang="en-US" sz="1200" u="sng">
                <a:solidFill>
                  <a:srgbClr val="D9E8F7"/>
                </a:solidFill>
                <a:highlight>
                  <a:srgbClr val="1E1F22"/>
                </a:highlight>
                <a:latin typeface="Courier New"/>
                <a:ea typeface="Courier New"/>
                <a:cs typeface="Courier New"/>
                <a:sym typeface="Courier New"/>
              </a:rPr>
              <a:t> </a:t>
            </a:r>
            <a:r>
              <a:rPr lang="en-US" sz="1200" u="sng">
                <a:solidFill>
                  <a:srgbClr val="A7EC21"/>
                </a:solidFill>
                <a:highlight>
                  <a:srgbClr val="1E1F22"/>
                </a:highlight>
                <a:latin typeface="Courier New"/>
                <a:ea typeface="Courier New"/>
                <a:cs typeface="Courier New"/>
                <a:sym typeface="Courier New"/>
              </a:rPr>
              <a:t>ArrayList</a:t>
            </a:r>
            <a:r>
              <a:rPr lang="en-US" sz="1200" u="sng">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gleeClubstudentList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artClub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"Art 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setDescription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"For students that wants to make art"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artClubstudentList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u="sng">
                <a:solidFill>
                  <a:srgbClr val="CC6C1D"/>
                </a:solidFill>
                <a:highlight>
                  <a:srgbClr val="1E1F22"/>
                </a:highlight>
                <a:latin typeface="Courier New"/>
                <a:ea typeface="Courier New"/>
                <a:cs typeface="Courier New"/>
                <a:sym typeface="Courier New"/>
              </a:rPr>
              <a:t>new</a:t>
            </a:r>
            <a:r>
              <a:rPr lang="en-US" sz="1200" u="sng">
                <a:solidFill>
                  <a:srgbClr val="D9E8F7"/>
                </a:solidFill>
                <a:highlight>
                  <a:srgbClr val="1E1F22"/>
                </a:highlight>
                <a:latin typeface="Courier New"/>
                <a:ea typeface="Courier New"/>
                <a:cs typeface="Courier New"/>
                <a:sym typeface="Courier New"/>
              </a:rPr>
              <a:t> </a:t>
            </a:r>
            <a:r>
              <a:rPr lang="en-US" sz="1200" u="sng">
                <a:solidFill>
                  <a:srgbClr val="A7EC21"/>
                </a:solidFill>
                <a:highlight>
                  <a:srgbClr val="1E1F22"/>
                </a:highlight>
                <a:latin typeface="Courier New"/>
                <a:ea typeface="Courier New"/>
                <a:cs typeface="Courier New"/>
                <a:sym typeface="Courier New"/>
              </a:rPr>
              <a:t>ArrayList</a:t>
            </a:r>
            <a:r>
              <a:rPr lang="en-US" sz="1200" u="sng">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artClubstudentList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artClub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9" name="Shape 719"/>
        <p:cNvGrpSpPr/>
        <p:nvPr/>
      </p:nvGrpSpPr>
      <p:grpSpPr>
        <a:xfrm>
          <a:off x="0" y="0"/>
          <a:ext cx="0" cy="0"/>
          <a:chOff x="0" y="0"/>
          <a:chExt cx="0" cy="0"/>
        </a:xfrm>
      </p:grpSpPr>
      <p:pic>
        <p:nvPicPr>
          <p:cNvPr descr="image.png" id="720" name="Google Shape;720;p8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21" name="Google Shape;721;p88"/>
          <p:cNvSpPr txBox="1"/>
          <p:nvPr/>
        </p:nvSpPr>
        <p:spPr>
          <a:xfrm>
            <a:off x="687600" y="3214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 - output</a:t>
            </a:r>
            <a:endParaRPr/>
          </a:p>
        </p:txBody>
      </p:sp>
      <p:sp>
        <p:nvSpPr>
          <p:cNvPr id="722" name="Google Shape;722;p88"/>
          <p:cNvSpPr/>
          <p:nvPr/>
        </p:nvSpPr>
        <p:spPr>
          <a:xfrm>
            <a:off x="687600" y="9626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23" name="Google Shape;723;p88"/>
          <p:cNvPicPr preferRelativeResize="0"/>
          <p:nvPr/>
        </p:nvPicPr>
        <p:blipFill>
          <a:blip r:embed="rId4">
            <a:alphaModFix/>
          </a:blip>
          <a:stretch>
            <a:fillRect/>
          </a:stretch>
        </p:blipFill>
        <p:spPr>
          <a:xfrm>
            <a:off x="3130925" y="2057400"/>
            <a:ext cx="5930150" cy="274320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7" name="Shape 727"/>
        <p:cNvGrpSpPr/>
        <p:nvPr/>
      </p:nvGrpSpPr>
      <p:grpSpPr>
        <a:xfrm>
          <a:off x="0" y="0"/>
          <a:ext cx="0" cy="0"/>
          <a:chOff x="0" y="0"/>
          <a:chExt cx="0" cy="0"/>
        </a:xfrm>
      </p:grpSpPr>
      <p:pic>
        <p:nvPicPr>
          <p:cNvPr descr="image.png" id="728" name="Google Shape;728;p89"/>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729" name="Google Shape;729;p8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Relationship Annotations</a:t>
            </a:r>
            <a:endParaRPr b="1" sz="3600">
              <a:solidFill>
                <a:srgbClr val="B91C1C"/>
              </a:solidFill>
              <a:latin typeface="Poppins"/>
              <a:ea typeface="Poppins"/>
              <a:cs typeface="Poppins"/>
              <a:sym typeface="Poppins"/>
            </a:endParaRPr>
          </a:p>
        </p:txBody>
      </p:sp>
      <p:sp>
        <p:nvSpPr>
          <p:cNvPr id="730" name="Google Shape;730;p89"/>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1" name="Google Shape;731;p89"/>
          <p:cNvSpPr txBox="1"/>
          <p:nvPr/>
        </p:nvSpPr>
        <p:spPr>
          <a:xfrm>
            <a:off x="571500" y="1455200"/>
            <a:ext cx="11049000" cy="3570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200">
                <a:solidFill>
                  <a:schemeClr val="dk1"/>
                </a:solidFill>
                <a:latin typeface="Poppins"/>
                <a:ea typeface="Poppins"/>
                <a:cs typeface="Poppins"/>
                <a:sym typeface="Poppins"/>
              </a:rPr>
              <a:t>Objective: </a:t>
            </a:r>
            <a:endParaRPr b="1" sz="2200">
              <a:solidFill>
                <a:schemeClr val="dk1"/>
              </a:solidFill>
              <a:latin typeface="Poppins"/>
              <a:ea typeface="Poppins"/>
              <a:cs typeface="Poppins"/>
              <a:sym typeface="Poppins"/>
            </a:endParaRPr>
          </a:p>
          <a:p>
            <a:pPr indent="0" lvl="0" marL="0" rtl="0" algn="l">
              <a:spcBef>
                <a:spcPts val="0"/>
              </a:spcBef>
              <a:spcAft>
                <a:spcPts val="0"/>
              </a:spcAft>
              <a:buNone/>
            </a:pPr>
            <a:br>
              <a:rPr b="1" lang="en-US" sz="2200">
                <a:solidFill>
                  <a:schemeClr val="dk1"/>
                </a:solidFill>
                <a:latin typeface="Poppins"/>
                <a:ea typeface="Poppins"/>
                <a:cs typeface="Poppins"/>
                <a:sym typeface="Poppins"/>
              </a:rPr>
            </a:br>
            <a:r>
              <a:rPr lang="en-US" sz="2200">
                <a:solidFill>
                  <a:schemeClr val="dk1"/>
                </a:solidFill>
                <a:latin typeface="Poppins"/>
                <a:ea typeface="Poppins"/>
                <a:cs typeface="Poppins"/>
                <a:sym typeface="Poppins"/>
              </a:rPr>
              <a:t>Extend the existing JPA application by modeling a one-to-many relationship using @OneToMany and @ManyToOne. This activity emphasizes relationship mapping, foreign key mapping, and bidirectional mapping.</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b="1" lang="en-US" sz="2200">
                <a:solidFill>
                  <a:schemeClr val="dk1"/>
                </a:solidFill>
                <a:latin typeface="Poppins"/>
                <a:ea typeface="Poppins"/>
                <a:cs typeface="Poppins"/>
                <a:sym typeface="Poppins"/>
              </a:rPr>
              <a:t>Scenario:</a:t>
            </a:r>
            <a:endParaRPr b="1"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A Student can have many courses. This represents a one-to-many / many-to-one relationship.</a:t>
            </a:r>
            <a:endParaRPr sz="2200">
              <a:solidFill>
                <a:schemeClr val="dk1"/>
              </a:solidFill>
              <a:latin typeface="Poppins"/>
              <a:ea typeface="Poppins"/>
              <a:cs typeface="Poppins"/>
              <a:sym typeface="Poppins"/>
            </a:endParaRPr>
          </a:p>
        </p:txBody>
      </p:sp>
      <p:pic>
        <p:nvPicPr>
          <p:cNvPr id="732" name="Google Shape;732;p89" title="m6_activity3.drawio.png"/>
          <p:cNvPicPr preferRelativeResize="0"/>
          <p:nvPr/>
        </p:nvPicPr>
        <p:blipFill>
          <a:blip r:embed="rId4">
            <a:alphaModFix/>
          </a:blip>
          <a:stretch>
            <a:fillRect/>
          </a:stretch>
        </p:blipFill>
        <p:spPr>
          <a:xfrm>
            <a:off x="5811454" y="4745829"/>
            <a:ext cx="5367626" cy="1880525"/>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pic>
        <p:nvPicPr>
          <p:cNvPr descr="image.png" id="737" name="Google Shape;737;p9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38" name="Google Shape;738;p90"/>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Relationship Annotations</a:t>
            </a:r>
            <a:endParaRPr b="1" sz="3600">
              <a:solidFill>
                <a:srgbClr val="B91C1C"/>
              </a:solidFill>
              <a:latin typeface="Poppins"/>
              <a:ea typeface="Poppins"/>
              <a:cs typeface="Poppins"/>
              <a:sym typeface="Poppins"/>
            </a:endParaRPr>
          </a:p>
        </p:txBody>
      </p:sp>
      <p:sp>
        <p:nvSpPr>
          <p:cNvPr id="739" name="Google Shape;739;p90"/>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0" name="Google Shape;740;p90"/>
          <p:cNvSpPr txBox="1"/>
          <p:nvPr/>
        </p:nvSpPr>
        <p:spPr>
          <a:xfrm>
            <a:off x="571500" y="1126375"/>
            <a:ext cx="5496300" cy="443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chemeClr val="dk1"/>
                </a:solidFill>
                <a:latin typeface="Poppins"/>
                <a:ea typeface="Poppins"/>
                <a:cs typeface="Poppins"/>
                <a:sym typeface="Poppins"/>
              </a:rPr>
              <a:t>Instructions:</a:t>
            </a:r>
            <a:br>
              <a:rPr b="1" lang="en-US" sz="1700">
                <a:solidFill>
                  <a:schemeClr val="dk1"/>
                </a:solidFill>
                <a:latin typeface="Poppins"/>
                <a:ea typeface="Poppins"/>
                <a:cs typeface="Poppins"/>
                <a:sym typeface="Poppins"/>
              </a:rPr>
            </a:br>
            <a:br>
              <a:rPr b="1" lang="en-US" sz="1700">
                <a:solidFill>
                  <a:schemeClr val="dk1"/>
                </a:solidFill>
                <a:latin typeface="Poppins"/>
                <a:ea typeface="Poppins"/>
                <a:cs typeface="Poppins"/>
                <a:sym typeface="Poppins"/>
              </a:rPr>
            </a:br>
            <a:r>
              <a:rPr lang="en-US" sz="1500">
                <a:solidFill>
                  <a:schemeClr val="dk1"/>
                </a:solidFill>
                <a:latin typeface="Poppins"/>
                <a:ea typeface="Poppins"/>
                <a:cs typeface="Poppins"/>
                <a:sym typeface="Poppins"/>
              </a:rPr>
              <a:t>1. Create a new entity class for courses table</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Add student field and add @ManyToOne</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add @JoinColumn to map the foreign key column name</a:t>
            </a:r>
            <a:endParaRPr sz="1500">
              <a:solidFill>
                <a:schemeClr val="dk1"/>
              </a:solidFill>
              <a:latin typeface="Poppins"/>
              <a:ea typeface="Poppins"/>
              <a:cs typeface="Poppins"/>
              <a:sym typeface="Poppins"/>
            </a:endParaRPr>
          </a:p>
          <a:p>
            <a:pPr indent="0" lvl="0" marL="137160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rPr lang="en-US" sz="1500">
                <a:solidFill>
                  <a:schemeClr val="dk1"/>
                </a:solidFill>
                <a:latin typeface="Poppins"/>
                <a:ea typeface="Poppins"/>
                <a:cs typeface="Poppins"/>
                <a:sym typeface="Poppins"/>
              </a:rPr>
              <a:t>2. Update student entity class</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Add a courses field and use</a:t>
            </a:r>
            <a:r>
              <a:rPr lang="en-US" sz="1500">
                <a:solidFill>
                  <a:schemeClr val="dk1"/>
                </a:solidFill>
                <a:latin typeface="Poppins"/>
                <a:ea typeface="Poppins"/>
                <a:cs typeface="Poppins"/>
                <a:sym typeface="Poppins"/>
              </a:rPr>
              <a:t> @OneToMany</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since this is the inverse side add mappedBy attribute</a:t>
            </a:r>
            <a:endParaRPr sz="1500">
              <a:solidFill>
                <a:schemeClr val="dk1"/>
              </a:solidFill>
              <a:latin typeface="Poppins"/>
              <a:ea typeface="Poppins"/>
              <a:cs typeface="Poppins"/>
              <a:sym typeface="Poppins"/>
            </a:endParaRPr>
          </a:p>
          <a:p>
            <a:pPr indent="0" lvl="0" marL="137160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rPr lang="en-US" sz="1500">
                <a:solidFill>
                  <a:schemeClr val="dk1"/>
                </a:solidFill>
                <a:latin typeface="Poppins"/>
                <a:ea typeface="Poppins"/>
                <a:cs typeface="Poppins"/>
                <a:sym typeface="Poppins"/>
              </a:rPr>
              <a:t>3. Create a transaction</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Begin a transaction</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Assign courses to a student</a:t>
            </a:r>
            <a:endParaRPr sz="1500">
              <a:solidFill>
                <a:schemeClr val="dk1"/>
              </a:solidFill>
              <a:latin typeface="Poppins"/>
              <a:ea typeface="Poppins"/>
              <a:cs typeface="Poppins"/>
              <a:sym typeface="Poppins"/>
            </a:endParaRPr>
          </a:p>
          <a:p>
            <a:pPr indent="0" lvl="0" marL="91440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t/>
            </a:r>
            <a:endParaRPr sz="1700">
              <a:solidFill>
                <a:schemeClr val="dk1"/>
              </a:solidFill>
              <a:latin typeface="Poppins"/>
              <a:ea typeface="Poppins"/>
              <a:cs typeface="Poppins"/>
              <a:sym typeface="Poppins"/>
            </a:endParaRPr>
          </a:p>
        </p:txBody>
      </p:sp>
      <p:pic>
        <p:nvPicPr>
          <p:cNvPr id="741" name="Google Shape;741;p90" title="m6_activity3.drawio.png"/>
          <p:cNvPicPr preferRelativeResize="0"/>
          <p:nvPr/>
        </p:nvPicPr>
        <p:blipFill>
          <a:blip r:embed="rId4">
            <a:alphaModFix/>
          </a:blip>
          <a:stretch>
            <a:fillRect/>
          </a:stretch>
        </p:blipFill>
        <p:spPr>
          <a:xfrm>
            <a:off x="6349329" y="2402666"/>
            <a:ext cx="5367626" cy="1880525"/>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5" name="Shape 745"/>
        <p:cNvGrpSpPr/>
        <p:nvPr/>
      </p:nvGrpSpPr>
      <p:grpSpPr>
        <a:xfrm>
          <a:off x="0" y="0"/>
          <a:ext cx="0" cy="0"/>
          <a:chOff x="0" y="0"/>
          <a:chExt cx="0" cy="0"/>
        </a:xfrm>
      </p:grpSpPr>
      <p:pic>
        <p:nvPicPr>
          <p:cNvPr descr="image.png" id="746" name="Google Shape;746;p9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47" name="Google Shape;747;p91"/>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Transaction</a:t>
            </a:r>
            <a:endParaRPr b="1" sz="3600">
              <a:solidFill>
                <a:srgbClr val="B91C1C"/>
              </a:solidFill>
              <a:latin typeface="Poppins"/>
              <a:ea typeface="Poppins"/>
              <a:cs typeface="Poppins"/>
              <a:sym typeface="Poppins"/>
            </a:endParaRPr>
          </a:p>
        </p:txBody>
      </p:sp>
      <p:sp>
        <p:nvSpPr>
          <p:cNvPr id="748" name="Google Shape;748;p91"/>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9" name="Google Shape;749;p91"/>
          <p:cNvSpPr txBox="1"/>
          <p:nvPr/>
        </p:nvSpPr>
        <p:spPr>
          <a:xfrm>
            <a:off x="571500" y="1526950"/>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persistOneToMany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Course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setCourseName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"Math"</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setGrade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"80"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3" name="Shape 753"/>
        <p:cNvGrpSpPr/>
        <p:nvPr/>
      </p:nvGrpSpPr>
      <p:grpSpPr>
        <a:xfrm>
          <a:off x="0" y="0"/>
          <a:ext cx="0" cy="0"/>
          <a:chOff x="0" y="0"/>
          <a:chExt cx="0" cy="0"/>
        </a:xfrm>
      </p:grpSpPr>
      <p:pic>
        <p:nvPicPr>
          <p:cNvPr descr="image.png" id="754" name="Google Shape;754;p9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55" name="Google Shape;755;p92"/>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Expected Output (Database)</a:t>
            </a:r>
            <a:endParaRPr b="1" sz="3600">
              <a:solidFill>
                <a:srgbClr val="B91C1C"/>
              </a:solidFill>
              <a:latin typeface="Poppins"/>
              <a:ea typeface="Poppins"/>
              <a:cs typeface="Poppins"/>
              <a:sym typeface="Poppins"/>
            </a:endParaRPr>
          </a:p>
        </p:txBody>
      </p:sp>
      <p:sp>
        <p:nvSpPr>
          <p:cNvPr id="756" name="Google Shape;756;p92"/>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57" name="Google Shape;757;p92"/>
          <p:cNvPicPr preferRelativeResize="0"/>
          <p:nvPr/>
        </p:nvPicPr>
        <p:blipFill>
          <a:blip r:embed="rId4">
            <a:alphaModFix/>
          </a:blip>
          <a:stretch>
            <a:fillRect/>
          </a:stretch>
        </p:blipFill>
        <p:spPr>
          <a:xfrm>
            <a:off x="3042851" y="1564476"/>
            <a:ext cx="6106300" cy="416480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1" name="Shape 761"/>
        <p:cNvGrpSpPr/>
        <p:nvPr/>
      </p:nvGrpSpPr>
      <p:grpSpPr>
        <a:xfrm>
          <a:off x="0" y="0"/>
          <a:ext cx="0" cy="0"/>
          <a:chOff x="0" y="0"/>
          <a:chExt cx="0" cy="0"/>
        </a:xfrm>
      </p:grpSpPr>
      <p:pic>
        <p:nvPicPr>
          <p:cNvPr descr="image.png" id="762" name="Google Shape;762;p9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63" name="Google Shape;763;p93"/>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Expected Output (Console)</a:t>
            </a:r>
            <a:endParaRPr b="1" sz="3600">
              <a:solidFill>
                <a:srgbClr val="B91C1C"/>
              </a:solidFill>
              <a:latin typeface="Poppins"/>
              <a:ea typeface="Poppins"/>
              <a:cs typeface="Poppins"/>
              <a:sym typeface="Poppins"/>
            </a:endParaRPr>
          </a:p>
        </p:txBody>
      </p:sp>
      <p:sp>
        <p:nvSpPr>
          <p:cNvPr id="764" name="Google Shape;764;p93"/>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65" name="Google Shape;765;p93"/>
          <p:cNvSpPr txBox="1"/>
          <p:nvPr/>
        </p:nvSpPr>
        <p:spPr>
          <a:xfrm>
            <a:off x="571500" y="1214425"/>
            <a:ext cx="11049000" cy="52548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insert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into</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(course_name, grade, 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values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 ?, ?)</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insert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into</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(course_name, grade, 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values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 ?, ?)</a:t>
            </a:r>
            <a:endParaRPr sz="12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9" name="Shape 769"/>
        <p:cNvGrpSpPr/>
        <p:nvPr/>
      </p:nvGrpSpPr>
      <p:grpSpPr>
        <a:xfrm>
          <a:off x="0" y="0"/>
          <a:ext cx="0" cy="0"/>
          <a:chOff x="0" y="0"/>
          <a:chExt cx="0" cy="0"/>
        </a:xfrm>
      </p:grpSpPr>
      <p:pic>
        <p:nvPicPr>
          <p:cNvPr descr="image.png" id="770" name="Google Shape;770;p9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71" name="Google Shape;771;p94"/>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Entity Manager</a:t>
            </a:r>
            <a:endParaRPr b="1" sz="5700">
              <a:solidFill>
                <a:srgbClr val="B91C1C"/>
              </a:solidFill>
              <a:latin typeface="Poppins"/>
              <a:ea typeface="Poppins"/>
              <a:cs typeface="Poppins"/>
              <a:sym typeface="Poppins"/>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5" name="Shape 775"/>
        <p:cNvGrpSpPr/>
        <p:nvPr/>
      </p:nvGrpSpPr>
      <p:grpSpPr>
        <a:xfrm>
          <a:off x="0" y="0"/>
          <a:ext cx="0" cy="0"/>
          <a:chOff x="0" y="0"/>
          <a:chExt cx="0" cy="0"/>
        </a:xfrm>
      </p:grpSpPr>
      <p:pic>
        <p:nvPicPr>
          <p:cNvPr descr="image.png" id="776" name="Google Shape;776;p9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77" name="Google Shape;777;p9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Entity Manager</a:t>
            </a:r>
            <a:endParaRPr b="1" sz="3600">
              <a:solidFill>
                <a:srgbClr val="B91C1C"/>
              </a:solidFill>
              <a:latin typeface="Poppins"/>
              <a:ea typeface="Poppins"/>
              <a:cs typeface="Poppins"/>
              <a:sym typeface="Poppins"/>
            </a:endParaRPr>
          </a:p>
        </p:txBody>
      </p:sp>
      <p:sp>
        <p:nvSpPr>
          <p:cNvPr id="778" name="Google Shape;778;p9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9" name="Google Shape;779;p95"/>
          <p:cNvSpPr txBox="1"/>
          <p:nvPr/>
        </p:nvSpPr>
        <p:spPr>
          <a:xfrm>
            <a:off x="571500" y="2391825"/>
            <a:ext cx="110490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3300">
                <a:solidFill>
                  <a:schemeClr val="dk1"/>
                </a:solidFill>
                <a:latin typeface="Poppins"/>
                <a:ea typeface="Poppins"/>
                <a:cs typeface="Poppins"/>
                <a:sym typeface="Poppins"/>
              </a:rPr>
              <a:t>EntityManager manages entity objects and controls how they are stored, retrieved, updated, and deleted in the database.</a:t>
            </a:r>
            <a:endParaRPr sz="3300">
              <a:solidFill>
                <a:schemeClr val="dk1"/>
              </a:solidFill>
              <a:latin typeface="Poppins"/>
              <a:ea typeface="Poppins"/>
              <a:cs typeface="Poppins"/>
              <a:sym typeface="Poppins"/>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3" name="Shape 783"/>
        <p:cNvGrpSpPr/>
        <p:nvPr/>
      </p:nvGrpSpPr>
      <p:grpSpPr>
        <a:xfrm>
          <a:off x="0" y="0"/>
          <a:ext cx="0" cy="0"/>
          <a:chOff x="0" y="0"/>
          <a:chExt cx="0" cy="0"/>
        </a:xfrm>
      </p:grpSpPr>
      <p:pic>
        <p:nvPicPr>
          <p:cNvPr descr="image.png" id="784" name="Google Shape;784;p9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85" name="Google Shape;785;p96"/>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How does the Entity Manager work?</a:t>
            </a:r>
            <a:endParaRPr b="1" sz="3600">
              <a:solidFill>
                <a:srgbClr val="B91C1C"/>
              </a:solidFill>
              <a:latin typeface="Poppins"/>
              <a:ea typeface="Poppins"/>
              <a:cs typeface="Poppins"/>
              <a:sym typeface="Poppins"/>
            </a:endParaRPr>
          </a:p>
        </p:txBody>
      </p:sp>
      <p:sp>
        <p:nvSpPr>
          <p:cNvPr id="786" name="Google Shape;786;p9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7" name="Google Shape;787;p96"/>
          <p:cNvSpPr txBox="1"/>
          <p:nvPr/>
        </p:nvSpPr>
        <p:spPr>
          <a:xfrm>
            <a:off x="571500" y="1693950"/>
            <a:ext cx="11049000" cy="2924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rPr lang="en-US" sz="2000">
                <a:solidFill>
                  <a:schemeClr val="dk1"/>
                </a:solidFill>
                <a:latin typeface="Poppins"/>
                <a:ea typeface="Poppins"/>
                <a:cs typeface="Poppins"/>
                <a:sym typeface="Poppins"/>
              </a:rPr>
              <a:t>When you call persist(), find(), or merge(), EntityManager keeps track of your objects in something called the </a:t>
            </a:r>
            <a:r>
              <a:rPr b="1" lang="en-US" sz="2000">
                <a:solidFill>
                  <a:schemeClr val="dk1"/>
                </a:solidFill>
                <a:latin typeface="Poppins"/>
                <a:ea typeface="Poppins"/>
                <a:cs typeface="Poppins"/>
                <a:sym typeface="Poppins"/>
              </a:rPr>
              <a:t>persistence context.</a:t>
            </a:r>
            <a:endParaRPr b="1"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rPr lang="en-US" sz="2000">
                <a:solidFill>
                  <a:schemeClr val="dk1"/>
                </a:solidFill>
                <a:latin typeface="Poppins"/>
                <a:ea typeface="Poppins"/>
                <a:cs typeface="Poppins"/>
                <a:sym typeface="Poppins"/>
              </a:rPr>
              <a:t>In the persistence context, Hibernate automatically detects entity changes and synchronizes them with the database on commit.</a:t>
            </a:r>
            <a:endParaRPr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700">
              <a:solidFill>
                <a:schemeClr val="dk1"/>
              </a:solidFill>
              <a:latin typeface="Poppins"/>
              <a:ea typeface="Poppins"/>
              <a:cs typeface="Poppins"/>
              <a:sym typeface="Poppins"/>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1" name="Shape 791"/>
        <p:cNvGrpSpPr/>
        <p:nvPr/>
      </p:nvGrpSpPr>
      <p:grpSpPr>
        <a:xfrm>
          <a:off x="0" y="0"/>
          <a:ext cx="0" cy="0"/>
          <a:chOff x="0" y="0"/>
          <a:chExt cx="0" cy="0"/>
        </a:xfrm>
      </p:grpSpPr>
      <p:pic>
        <p:nvPicPr>
          <p:cNvPr descr="image.png" id="792" name="Google Shape;792;p9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93" name="Google Shape;793;p97"/>
          <p:cNvSpPr txBox="1"/>
          <p:nvPr/>
        </p:nvSpPr>
        <p:spPr>
          <a:xfrm>
            <a:off x="571500" y="3626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Persistence Context</a:t>
            </a:r>
            <a:endParaRPr/>
          </a:p>
        </p:txBody>
      </p:sp>
      <p:sp>
        <p:nvSpPr>
          <p:cNvPr id="794" name="Google Shape;794;p97"/>
          <p:cNvSpPr/>
          <p:nvPr/>
        </p:nvSpPr>
        <p:spPr>
          <a:xfrm>
            <a:off x="571500" y="10543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95" name="Google Shape;795;p97" title="PersistenceContext.drawio.png"/>
          <p:cNvPicPr preferRelativeResize="0"/>
          <p:nvPr/>
        </p:nvPicPr>
        <p:blipFill>
          <a:blip r:embed="rId4">
            <a:alphaModFix/>
          </a:blip>
          <a:stretch>
            <a:fillRect/>
          </a:stretch>
        </p:blipFill>
        <p:spPr>
          <a:xfrm>
            <a:off x="1893150" y="1297550"/>
            <a:ext cx="8405699" cy="468245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9" name="Shape 799"/>
        <p:cNvGrpSpPr/>
        <p:nvPr/>
      </p:nvGrpSpPr>
      <p:grpSpPr>
        <a:xfrm>
          <a:off x="0" y="0"/>
          <a:ext cx="0" cy="0"/>
          <a:chOff x="0" y="0"/>
          <a:chExt cx="0" cy="0"/>
        </a:xfrm>
      </p:grpSpPr>
      <p:pic>
        <p:nvPicPr>
          <p:cNvPr descr="image.png" id="800" name="Google Shape;800;p9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01" name="Google Shape;801;p98"/>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Entity Lifecycle</a:t>
            </a:r>
            <a:endParaRPr/>
          </a:p>
        </p:txBody>
      </p:sp>
      <p:sp>
        <p:nvSpPr>
          <p:cNvPr id="802" name="Google Shape;802;p9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03" name="Google Shape;803;p98"/>
          <p:cNvSpPr txBox="1"/>
          <p:nvPr/>
        </p:nvSpPr>
        <p:spPr>
          <a:xfrm>
            <a:off x="571500" y="1693950"/>
            <a:ext cx="11049000" cy="2924400"/>
          </a:xfrm>
          <a:prstGeom prst="rect">
            <a:avLst/>
          </a:prstGeom>
          <a:noFill/>
          <a:ln>
            <a:noFill/>
          </a:ln>
        </p:spPr>
        <p:txBody>
          <a:bodyPr anchorCtr="0" anchor="t" bIns="91425" lIns="91425" spcFirstLastPara="1" rIns="91425" wrap="square" tIns="91425">
            <a:spAutoFit/>
          </a:bodyPr>
          <a:lstStyle/>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Transient – </a:t>
            </a:r>
            <a:r>
              <a:rPr lang="en-US" sz="2000">
                <a:solidFill>
                  <a:schemeClr val="dk1"/>
                </a:solidFill>
                <a:latin typeface="Poppins"/>
                <a:ea typeface="Poppins"/>
                <a:cs typeface="Poppins"/>
                <a:sym typeface="Poppins"/>
              </a:rPr>
              <a:t>normal Java object</a:t>
            </a:r>
            <a:endParaRPr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Managed – </a:t>
            </a:r>
            <a:r>
              <a:rPr lang="en-US" sz="2000">
                <a:solidFill>
                  <a:schemeClr val="dk1"/>
                </a:solidFill>
                <a:latin typeface="Poppins"/>
                <a:ea typeface="Poppins"/>
                <a:cs typeface="Poppins"/>
                <a:sym typeface="Poppins"/>
              </a:rPr>
              <a:t>attached to Persistence Context</a:t>
            </a:r>
            <a:endParaRPr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Detached – </a:t>
            </a:r>
            <a:r>
              <a:rPr lang="en-US" sz="2000">
                <a:solidFill>
                  <a:schemeClr val="dk1"/>
                </a:solidFill>
                <a:latin typeface="Poppins"/>
                <a:ea typeface="Poppins"/>
                <a:cs typeface="Poppins"/>
                <a:sym typeface="Poppins"/>
              </a:rPr>
              <a:t>was managed, but no longer tracked</a:t>
            </a:r>
            <a:endParaRPr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Removed – </a:t>
            </a:r>
            <a:r>
              <a:rPr lang="en-US" sz="2000">
                <a:solidFill>
                  <a:schemeClr val="dk1"/>
                </a:solidFill>
                <a:latin typeface="Poppins"/>
                <a:ea typeface="Poppins"/>
                <a:cs typeface="Poppins"/>
                <a:sym typeface="Poppins"/>
              </a:rPr>
              <a:t>scheduled for deletion</a:t>
            </a:r>
            <a:endParaRPr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700">
              <a:solidFill>
                <a:schemeClr val="dk1"/>
              </a:solidFill>
              <a:latin typeface="Poppins"/>
              <a:ea typeface="Poppins"/>
              <a:cs typeface="Poppins"/>
              <a:sym typeface="Poppins"/>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7" name="Shape 807"/>
        <p:cNvGrpSpPr/>
        <p:nvPr/>
      </p:nvGrpSpPr>
      <p:grpSpPr>
        <a:xfrm>
          <a:off x="0" y="0"/>
          <a:ext cx="0" cy="0"/>
          <a:chOff x="0" y="0"/>
          <a:chExt cx="0" cy="0"/>
        </a:xfrm>
      </p:grpSpPr>
      <p:pic>
        <p:nvPicPr>
          <p:cNvPr descr="image.png" id="808" name="Google Shape;808;p9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09" name="Google Shape;809;p99"/>
          <p:cNvSpPr txBox="1"/>
          <p:nvPr/>
        </p:nvSpPr>
        <p:spPr>
          <a:xfrm>
            <a:off x="2682000" y="2507700"/>
            <a:ext cx="6828000" cy="1842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lang="en-US" sz="5700">
                <a:solidFill>
                  <a:srgbClr val="B91C1C"/>
                </a:solidFill>
                <a:latin typeface="Poppins"/>
                <a:ea typeface="Poppins"/>
                <a:cs typeface="Poppins"/>
                <a:sym typeface="Poppins"/>
              </a:rPr>
              <a:t>Entity Manager Operations</a:t>
            </a:r>
            <a:endParaRPr b="1" sz="5700">
              <a:solidFill>
                <a:srgbClr val="B91C1C"/>
              </a:solidFill>
              <a:latin typeface="Poppins"/>
              <a:ea typeface="Poppins"/>
              <a:cs typeface="Poppins"/>
              <a:sym typeface="Poppins"/>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3" name="Shape 813"/>
        <p:cNvGrpSpPr/>
        <p:nvPr/>
      </p:nvGrpSpPr>
      <p:grpSpPr>
        <a:xfrm>
          <a:off x="0" y="0"/>
          <a:ext cx="0" cy="0"/>
          <a:chOff x="0" y="0"/>
          <a:chExt cx="0" cy="0"/>
        </a:xfrm>
      </p:grpSpPr>
      <p:pic>
        <p:nvPicPr>
          <p:cNvPr descr="image.png" id="814" name="Google Shape;814;p10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15" name="Google Shape;815;p100"/>
          <p:cNvSpPr txBox="1"/>
          <p:nvPr/>
        </p:nvSpPr>
        <p:spPr>
          <a:xfrm>
            <a:off x="571488" y="4286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Persist</a:t>
            </a:r>
            <a:endParaRPr/>
          </a:p>
        </p:txBody>
      </p:sp>
      <p:sp>
        <p:nvSpPr>
          <p:cNvPr id="816" name="Google Shape;816;p100"/>
          <p:cNvSpPr/>
          <p:nvPr/>
        </p:nvSpPr>
        <p:spPr>
          <a:xfrm>
            <a:off x="571488" y="10608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17" name="Google Shape;817;p100"/>
          <p:cNvSpPr txBox="1"/>
          <p:nvPr/>
        </p:nvSpPr>
        <p:spPr>
          <a:xfrm>
            <a:off x="571500" y="1327850"/>
            <a:ext cx="11049000" cy="162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Persist</a:t>
            </a:r>
            <a:r>
              <a:rPr lang="en-US" sz="2100">
                <a:solidFill>
                  <a:schemeClr val="dk1"/>
                </a:solidFill>
                <a:latin typeface="Poppins"/>
                <a:ea typeface="Poppins"/>
                <a:cs typeface="Poppins"/>
                <a:sym typeface="Poppins"/>
              </a:rPr>
              <a:t> - Adds a new entity to the persistence context and marks it for insertion into the database on flush/commit.</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	For Example: </a:t>
            </a:r>
            <a:r>
              <a:rPr b="1" lang="en-US" sz="2100">
                <a:solidFill>
                  <a:schemeClr val="dk1"/>
                </a:solidFill>
                <a:latin typeface="Poppins"/>
                <a:ea typeface="Poppins"/>
                <a:cs typeface="Poppins"/>
                <a:sym typeface="Poppins"/>
              </a:rPr>
              <a:t>void persist(Object entity);</a:t>
            </a:r>
            <a:endParaRPr sz="2100">
              <a:solidFill>
                <a:schemeClr val="dk1"/>
              </a:solidFill>
              <a:latin typeface="Poppins"/>
              <a:ea typeface="Poppins"/>
              <a:cs typeface="Poppins"/>
              <a:sym typeface="Poppins"/>
            </a:endParaRPr>
          </a:p>
        </p:txBody>
      </p:sp>
      <p:sp>
        <p:nvSpPr>
          <p:cNvPr id="818" name="Google Shape;818;p100"/>
          <p:cNvSpPr txBox="1"/>
          <p:nvPr/>
        </p:nvSpPr>
        <p:spPr>
          <a:xfrm>
            <a:off x="685050" y="3098600"/>
            <a:ext cx="10821900" cy="3343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persistSample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transient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"Pedro Reyes"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23</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"pedroreyes@gmail.com"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CCCC"/>
                </a:solidFill>
                <a:highlight>
                  <a:srgbClr val="1E1F22"/>
                </a:highlight>
                <a:latin typeface="Courier New"/>
                <a:ea typeface="Courier New"/>
                <a:cs typeface="Courier New"/>
                <a:sym typeface="Courier New"/>
              </a:rPr>
              <a:t>// managed</a:t>
            </a:r>
            <a:endParaRPr sz="1200">
              <a:solidFill>
                <a:srgbClr val="CCCCCC"/>
              </a:solidFill>
              <a:highlight>
                <a:srgbClr val="1E1F22"/>
              </a:highlight>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a:t>
            </a:r>
            <a:r>
              <a:rPr lang="en-US" sz="1200" u="sng">
                <a:solidFill>
                  <a:srgbClr val="808080"/>
                </a:solidFill>
                <a:highlight>
                  <a:srgbClr val="1E1F22"/>
                </a:highlight>
                <a:latin typeface="Courier New"/>
                <a:ea typeface="Courier New"/>
                <a:cs typeface="Courier New"/>
                <a:sym typeface="Courier New"/>
              </a:rPr>
              <a:t>hibernate</a:t>
            </a:r>
            <a:r>
              <a:rPr lang="en-US" sz="1200">
                <a:solidFill>
                  <a:srgbClr val="808080"/>
                </a:solidFill>
                <a:highlight>
                  <a:srgbClr val="1E1F22"/>
                </a:highlight>
                <a:latin typeface="Courier New"/>
                <a:ea typeface="Courier New"/>
                <a:cs typeface="Courier New"/>
                <a:sym typeface="Courier New"/>
              </a:rPr>
              <a:t> generates insert </a:t>
            </a:r>
            <a:r>
              <a:rPr lang="en-US" sz="1200" u="sng">
                <a:solidFill>
                  <a:srgbClr val="808080"/>
                </a:solidFill>
                <a:highlight>
                  <a:srgbClr val="1E1F22"/>
                </a:highlight>
                <a:latin typeface="Courier New"/>
                <a:ea typeface="Courier New"/>
                <a:cs typeface="Courier New"/>
                <a:sym typeface="Courier New"/>
              </a:rPr>
              <a:t>sql</a:t>
            </a:r>
            <a:r>
              <a:rPr lang="en-US" sz="1200">
                <a:solidFill>
                  <a:srgbClr val="808080"/>
                </a:solidFill>
                <a:highlight>
                  <a:srgbClr val="1E1F22"/>
                </a:highlight>
                <a:latin typeface="Courier New"/>
                <a:ea typeface="Courier New"/>
                <a:cs typeface="Courier New"/>
                <a:sym typeface="Courier New"/>
              </a:rPr>
              <a:t>, newStudent will be saved to </a:t>
            </a:r>
            <a:r>
              <a:rPr lang="en-US" sz="1200" u="sng">
                <a:solidFill>
                  <a:srgbClr val="808080"/>
                </a:solidFill>
                <a:highlight>
                  <a:srgbClr val="1E1F22"/>
                </a:highlight>
                <a:latin typeface="Courier New"/>
                <a:ea typeface="Courier New"/>
                <a:cs typeface="Courier New"/>
                <a:sym typeface="Courier New"/>
              </a:rPr>
              <a:t>db</a:t>
            </a:r>
            <a:endParaRPr sz="1200" u="sng">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newStudent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pic>
        <p:nvPicPr>
          <p:cNvPr descr="image.png" id="823" name="Google Shape;823;p10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24" name="Google Shape;824;p101"/>
          <p:cNvSpPr txBox="1"/>
          <p:nvPr/>
        </p:nvSpPr>
        <p:spPr>
          <a:xfrm>
            <a:off x="571500" y="383975"/>
            <a:ext cx="110490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00">
                <a:solidFill>
                  <a:srgbClr val="7F1D1D"/>
                </a:solidFill>
                <a:latin typeface="Poppins"/>
                <a:ea typeface="Poppins"/>
                <a:cs typeface="Poppins"/>
                <a:sym typeface="Poppins"/>
              </a:rPr>
              <a:t>Find</a:t>
            </a:r>
            <a:endParaRPr sz="1000"/>
          </a:p>
        </p:txBody>
      </p:sp>
      <p:sp>
        <p:nvSpPr>
          <p:cNvPr id="825" name="Google Shape;825;p101"/>
          <p:cNvSpPr/>
          <p:nvPr/>
        </p:nvSpPr>
        <p:spPr>
          <a:xfrm>
            <a:off x="571425" y="1007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26" name="Google Shape;826;p101"/>
          <p:cNvSpPr txBox="1"/>
          <p:nvPr/>
        </p:nvSpPr>
        <p:spPr>
          <a:xfrm>
            <a:off x="571500" y="1157175"/>
            <a:ext cx="11049000" cy="5340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Find</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Fetch an entity from the database using its primary key and put it inside the persistence context.</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361950" lvl="1" marL="914400" marR="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For Example: </a:t>
            </a:r>
            <a:r>
              <a:rPr b="1" lang="en-US" sz="2100">
                <a:solidFill>
                  <a:schemeClr val="dk1"/>
                </a:solidFill>
                <a:latin typeface="Poppins"/>
                <a:ea typeface="Poppins"/>
                <a:cs typeface="Poppins"/>
                <a:sym typeface="Poppins"/>
              </a:rPr>
              <a:t>&lt;T&gt; T find(Class&lt;T&gt; entityClass, Object primaryKey);</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	</a:t>
            </a:r>
            <a:r>
              <a:rPr b="1" lang="en-US" sz="2100">
                <a:solidFill>
                  <a:schemeClr val="dk1"/>
                </a:solidFill>
                <a:latin typeface="Poppins"/>
                <a:ea typeface="Poppins"/>
                <a:cs typeface="Poppins"/>
                <a:sym typeface="Poppins"/>
              </a:rPr>
              <a:t>Returns null if the entity doesn’t exist.</a:t>
            </a:r>
            <a:endParaRPr sz="2100">
              <a:solidFill>
                <a:schemeClr val="dk1"/>
              </a:solidFill>
              <a:latin typeface="Poppins"/>
              <a:ea typeface="Poppins"/>
              <a:cs typeface="Poppins"/>
              <a:sym typeface="Poppins"/>
            </a:endParaRPr>
          </a:p>
        </p:txBody>
      </p:sp>
      <p:sp>
        <p:nvSpPr>
          <p:cNvPr id="827" name="Google Shape;827;p101"/>
          <p:cNvSpPr txBox="1"/>
          <p:nvPr/>
        </p:nvSpPr>
        <p:spPr>
          <a:xfrm>
            <a:off x="571425" y="2911100"/>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a:t>
            </a:r>
            <a:r>
              <a:rPr lang="en-US" sz="1200" u="sng">
                <a:solidFill>
                  <a:srgbClr val="808080"/>
                </a:solidFill>
                <a:highlight>
                  <a:srgbClr val="1E1F22"/>
                </a:highlight>
                <a:latin typeface="Courier New"/>
                <a:ea typeface="Courier New"/>
                <a:cs typeface="Courier New"/>
                <a:sym typeface="Courier New"/>
              </a:rPr>
              <a:t>Hibernate</a:t>
            </a:r>
            <a:r>
              <a:rPr lang="en-US" sz="1200">
                <a:solidFill>
                  <a:srgbClr val="808080"/>
                </a:solidFill>
                <a:highlight>
                  <a:srgbClr val="1E1F22"/>
                </a:highlight>
                <a:latin typeface="Courier New"/>
                <a:ea typeface="Courier New"/>
                <a:cs typeface="Courier New"/>
                <a:sym typeface="Courier New"/>
              </a:rPr>
              <a:t> retrieves the Student entity via SELECT and places it into the persistence context.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studentWithId1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//managed entity</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studentWithId1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newStudent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studentWithId1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1" name="Shape 831"/>
        <p:cNvGrpSpPr/>
        <p:nvPr/>
      </p:nvGrpSpPr>
      <p:grpSpPr>
        <a:xfrm>
          <a:off x="0" y="0"/>
          <a:ext cx="0" cy="0"/>
          <a:chOff x="0" y="0"/>
          <a:chExt cx="0" cy="0"/>
        </a:xfrm>
      </p:grpSpPr>
      <p:pic>
        <p:nvPicPr>
          <p:cNvPr descr="image.png" id="832" name="Google Shape;832;p10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33" name="Google Shape;833;p10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Merge</a:t>
            </a:r>
            <a:endParaRPr/>
          </a:p>
        </p:txBody>
      </p:sp>
      <p:sp>
        <p:nvSpPr>
          <p:cNvPr id="834" name="Google Shape;834;p10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5" name="Google Shape;835;p102"/>
          <p:cNvSpPr txBox="1"/>
          <p:nvPr/>
        </p:nvSpPr>
        <p:spPr>
          <a:xfrm>
            <a:off x="571500" y="1693950"/>
            <a:ext cx="11049000" cy="34818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Merge</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Copy the state of a detached entity into the current persistence context and return a managed instance.</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A common use case for merge() is when you want to update a detached entity—that is, an entity that was previously persisted but is no longer associated with the current persistence context.</a:t>
            </a:r>
            <a:endParaRPr sz="2100">
              <a:solidFill>
                <a:schemeClr val="dk1"/>
              </a:solidFill>
              <a:latin typeface="Poppins"/>
              <a:ea typeface="Poppins"/>
              <a:cs typeface="Poppins"/>
              <a:sym typeface="Poppins"/>
            </a:endParaRPr>
          </a:p>
          <a:p>
            <a:pPr indent="0" lvl="0" marL="91440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9" name="Shape 839"/>
        <p:cNvGrpSpPr/>
        <p:nvPr/>
      </p:nvGrpSpPr>
      <p:grpSpPr>
        <a:xfrm>
          <a:off x="0" y="0"/>
          <a:ext cx="0" cy="0"/>
          <a:chOff x="0" y="0"/>
          <a:chExt cx="0" cy="0"/>
        </a:xfrm>
      </p:grpSpPr>
      <p:pic>
        <p:nvPicPr>
          <p:cNvPr descr="image.png" id="840" name="Google Shape;840;p10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41" name="Google Shape;841;p103"/>
          <p:cNvSpPr txBox="1"/>
          <p:nvPr/>
        </p:nvSpPr>
        <p:spPr>
          <a:xfrm>
            <a:off x="479700" y="1522025"/>
            <a:ext cx="11232600" cy="4443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static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void</a:t>
            </a:r>
            <a:r>
              <a:rPr lang="en-US" sz="1100">
                <a:solidFill>
                  <a:srgbClr val="D9E8F7"/>
                </a:solidFill>
                <a:highlight>
                  <a:srgbClr val="1E1F22"/>
                </a:highlight>
                <a:latin typeface="Courier New"/>
                <a:ea typeface="Courier New"/>
                <a:cs typeface="Courier New"/>
                <a:sym typeface="Courier New"/>
              </a:rPr>
              <a:t> </a:t>
            </a:r>
            <a:r>
              <a:rPr lang="en-US" sz="1100">
                <a:solidFill>
                  <a:srgbClr val="1EB540"/>
                </a:solidFill>
                <a:highlight>
                  <a:srgbClr val="1E1F22"/>
                </a:highlight>
                <a:latin typeface="Courier New"/>
                <a:ea typeface="Courier New"/>
                <a:cs typeface="Courier New"/>
                <a:sym typeface="Courier New"/>
              </a:rPr>
              <a:t>mergeSample</a:t>
            </a:r>
            <a:r>
              <a:rPr lang="en-US" sz="1100">
                <a:solidFill>
                  <a:srgbClr val="F9FAF4"/>
                </a:solidFill>
                <a:highlight>
                  <a:srgbClr val="1E1F22"/>
                </a:highlight>
                <a:latin typeface="Courier New"/>
                <a:ea typeface="Courier New"/>
                <a:cs typeface="Courier New"/>
                <a:sym typeface="Courier New"/>
              </a:rPr>
              <a:t>(</a:t>
            </a:r>
            <a:r>
              <a:rPr lang="en-US" sz="1100">
                <a:solidFill>
                  <a:srgbClr val="80F2F6"/>
                </a:solidFill>
                <a:highlight>
                  <a:srgbClr val="1E1F22"/>
                </a:highlight>
                <a:latin typeface="Courier New"/>
                <a:ea typeface="Courier New"/>
                <a:cs typeface="Courier New"/>
                <a:sym typeface="Courier New"/>
              </a:rPr>
              <a:t>EntityManager</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begin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a:t>
            </a:r>
            <a:r>
              <a:rPr lang="en-US" sz="1100" u="sng">
                <a:solidFill>
                  <a:srgbClr val="808080"/>
                </a:solidFill>
                <a:highlight>
                  <a:srgbClr val="1E1F22"/>
                </a:highlight>
                <a:latin typeface="Courier New"/>
                <a:ea typeface="Courier New"/>
                <a:cs typeface="Courier New"/>
                <a:sym typeface="Courier New"/>
              </a:rPr>
              <a:t>Hibernate</a:t>
            </a:r>
            <a:r>
              <a:rPr lang="en-US" sz="1100">
                <a:solidFill>
                  <a:srgbClr val="808080"/>
                </a:solidFill>
                <a:highlight>
                  <a:srgbClr val="1E1F22"/>
                </a:highlight>
                <a:latin typeface="Courier New"/>
                <a:ea typeface="Courier New"/>
                <a:cs typeface="Courier New"/>
                <a:sym typeface="Courier New"/>
              </a:rPr>
              <a:t> retrieves the Student entity via SELECT and places it into the persistence context.</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F2F200"/>
                </a:solidFill>
                <a:highlight>
                  <a:srgbClr val="1E1F22"/>
                </a:highlight>
                <a:latin typeface="Courier New"/>
                <a:ea typeface="Courier New"/>
                <a:cs typeface="Courier New"/>
                <a:sym typeface="Courier New"/>
              </a:rPr>
              <a:t>studentWithId1</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find</a:t>
            </a:r>
            <a:r>
              <a:rPr lang="en-US" sz="1100">
                <a:solidFill>
                  <a:srgbClr val="F9FAF4"/>
                </a:solidFill>
                <a:highlight>
                  <a:srgbClr val="1E1F22"/>
                </a:highlight>
                <a:latin typeface="Courier New"/>
                <a:ea typeface="Courier New"/>
                <a:cs typeface="Courier New"/>
                <a:sym typeface="Courier New"/>
              </a:rPr>
              <a:t>(</a:t>
            </a:r>
            <a:r>
              <a:rPr lang="en-US" sz="1100">
                <a:solidFill>
                  <a:srgbClr val="1290C3"/>
                </a:solidFill>
                <a:highlight>
                  <a:srgbClr val="1E1F22"/>
                </a:highlight>
                <a:latin typeface="Courier New"/>
                <a:ea typeface="Courier New"/>
                <a:cs typeface="Courier New"/>
                <a:sym typeface="Courier New"/>
              </a:rPr>
              <a:t>Student</a:t>
            </a:r>
            <a:r>
              <a:rPr lang="en-US" sz="1100">
                <a:solidFill>
                  <a:srgbClr val="E6E6FA"/>
                </a:solidFill>
                <a:highlight>
                  <a:srgbClr val="1E1F22"/>
                </a:highlight>
                <a:latin typeface="Courier New"/>
                <a:ea typeface="Courier New"/>
                <a:cs typeface="Courier New"/>
                <a:sym typeface="Courier New"/>
              </a:rPr>
              <a:t>.</a:t>
            </a:r>
            <a:r>
              <a:rPr lang="en-US" sz="1100">
                <a:solidFill>
                  <a:srgbClr val="CC6C1D"/>
                </a:solidFill>
                <a:highlight>
                  <a:srgbClr val="1E1F22"/>
                </a:highlight>
                <a:latin typeface="Courier New"/>
                <a:ea typeface="Courier New"/>
                <a:cs typeface="Courier New"/>
                <a:sym typeface="Courier New"/>
              </a:rPr>
              <a:t>class</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6897BB"/>
                </a:solidFill>
                <a:highlight>
                  <a:srgbClr val="1E1F22"/>
                </a:highlight>
                <a:latin typeface="Courier New"/>
                <a:ea typeface="Courier New"/>
                <a:cs typeface="Courier New"/>
                <a:sym typeface="Courier New"/>
              </a:rPr>
              <a:t>1L</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//managed entity</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detach</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//detach studentWithId1</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System</a:t>
            </a:r>
            <a:r>
              <a:rPr lang="en-US" sz="1100">
                <a:solidFill>
                  <a:srgbClr val="E6E6FA"/>
                </a:solidFill>
                <a:highlight>
                  <a:srgbClr val="1E1F22"/>
                </a:highlight>
                <a:latin typeface="Courier New"/>
                <a:ea typeface="Courier New"/>
                <a:cs typeface="Courier New"/>
                <a:sym typeface="Courier New"/>
              </a:rPr>
              <a:t>.</a:t>
            </a:r>
            <a:r>
              <a:rPr b="1" i="1" lang="en-US" sz="1100">
                <a:solidFill>
                  <a:srgbClr val="8DDAF8"/>
                </a:solidFill>
                <a:highlight>
                  <a:srgbClr val="1E1F22"/>
                </a:highlight>
                <a:latin typeface="Courier New"/>
                <a:ea typeface="Courier New"/>
                <a:cs typeface="Courier New"/>
                <a:sym typeface="Courier New"/>
              </a:rPr>
              <a:t>out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println</a:t>
            </a:r>
            <a:r>
              <a:rPr lang="en-US" sz="1100">
                <a:solidFill>
                  <a:srgbClr val="F9FAF4"/>
                </a:solidFill>
                <a:highlight>
                  <a:srgbClr val="1E1F22"/>
                </a:highlight>
                <a:latin typeface="Courier New"/>
                <a:ea typeface="Courier New"/>
                <a:cs typeface="Courier New"/>
                <a:sym typeface="Courier New"/>
              </a:rPr>
              <a:t>(</a:t>
            </a:r>
            <a:r>
              <a:rPr lang="en-US" sz="1100">
                <a:solidFill>
                  <a:srgbClr val="17C6A3"/>
                </a:solidFill>
                <a:highlight>
                  <a:srgbClr val="1E1F22"/>
                </a:highlight>
                <a:latin typeface="Courier New"/>
                <a:ea typeface="Courier New"/>
                <a:cs typeface="Courier New"/>
                <a:sym typeface="Courier New"/>
              </a:rPr>
              <a:t>"is </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17C6A3"/>
                </a:solidFill>
                <a:highlight>
                  <a:srgbClr val="1E1F22"/>
                </a:highlight>
                <a:latin typeface="Courier New"/>
                <a:ea typeface="Courier New"/>
                <a:cs typeface="Courier New"/>
                <a:sym typeface="Courier New"/>
              </a:rPr>
              <a:t> inside the persistence context: "</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contains</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8080"/>
                </a:solidFill>
                <a:highlight>
                  <a:srgbClr val="1E1F22"/>
                </a:highlight>
                <a:latin typeface="Courier New"/>
                <a:ea typeface="Courier New"/>
                <a:cs typeface="Courier New"/>
                <a:sym typeface="Courier New"/>
              </a:rPr>
              <a:t>// false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for example, studentWithId1 has changes while in detached</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setAge</a:t>
            </a:r>
            <a:r>
              <a:rPr lang="en-US" sz="1100">
                <a:solidFill>
                  <a:srgbClr val="F9FAF4"/>
                </a:solidFill>
                <a:highlight>
                  <a:srgbClr val="1E1F22"/>
                </a:highlight>
                <a:latin typeface="Courier New"/>
                <a:ea typeface="Courier New"/>
                <a:cs typeface="Courier New"/>
                <a:sym typeface="Courier New"/>
              </a:rPr>
              <a:t>(</a:t>
            </a:r>
            <a:r>
              <a:rPr lang="en-US" sz="1100">
                <a:solidFill>
                  <a:srgbClr val="6897BB"/>
                </a:solidFill>
                <a:highlight>
                  <a:srgbClr val="1E1F22"/>
                </a:highlight>
                <a:latin typeface="Courier New"/>
                <a:ea typeface="Courier New"/>
                <a:cs typeface="Courier New"/>
                <a:sym typeface="Courier New"/>
              </a:rPr>
              <a:t>22</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in order for this changes to reflect </a:t>
            </a:r>
            <a:r>
              <a:rPr lang="en-US" sz="1100" u="sng">
                <a:solidFill>
                  <a:srgbClr val="808080"/>
                </a:solidFill>
                <a:highlight>
                  <a:srgbClr val="1E1F22"/>
                </a:highlight>
                <a:latin typeface="Courier New"/>
                <a:ea typeface="Courier New"/>
                <a:cs typeface="Courier New"/>
                <a:sym typeface="Courier New"/>
              </a:rPr>
              <a:t>in</a:t>
            </a:r>
            <a:r>
              <a:rPr lang="en-US" sz="1100">
                <a:solidFill>
                  <a:srgbClr val="808080"/>
                </a:solidFill>
                <a:highlight>
                  <a:srgbClr val="1E1F22"/>
                </a:highlight>
                <a:latin typeface="Courier New"/>
                <a:ea typeface="Courier New"/>
                <a:cs typeface="Courier New"/>
                <a:sym typeface="Courier New"/>
              </a:rPr>
              <a:t> database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we need to re attach the object to the persistence context using merge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merge() returns a managed instance with the same persistent state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as the given entity instance, but a distinct Java object identity.</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merge</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commit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p:txBody>
      </p:sp>
      <p:sp>
        <p:nvSpPr>
          <p:cNvPr id="842" name="Google Shape;842;p103"/>
          <p:cNvSpPr txBox="1"/>
          <p:nvPr/>
        </p:nvSpPr>
        <p:spPr>
          <a:xfrm>
            <a:off x="479700" y="455400"/>
            <a:ext cx="11232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Merge</a:t>
            </a:r>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6" name="Shape 846"/>
        <p:cNvGrpSpPr/>
        <p:nvPr/>
      </p:nvGrpSpPr>
      <p:grpSpPr>
        <a:xfrm>
          <a:off x="0" y="0"/>
          <a:ext cx="0" cy="0"/>
          <a:chOff x="0" y="0"/>
          <a:chExt cx="0" cy="0"/>
        </a:xfrm>
      </p:grpSpPr>
      <p:pic>
        <p:nvPicPr>
          <p:cNvPr descr="image.png" id="847" name="Google Shape;847;p10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48" name="Google Shape;848;p10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Remove</a:t>
            </a:r>
            <a:endParaRPr/>
          </a:p>
        </p:txBody>
      </p:sp>
      <p:sp>
        <p:nvSpPr>
          <p:cNvPr id="849" name="Google Shape;849;p10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0" name="Google Shape;850;p104"/>
          <p:cNvSpPr txBox="1"/>
          <p:nvPr/>
        </p:nvSpPr>
        <p:spPr>
          <a:xfrm>
            <a:off x="571500" y="1693950"/>
            <a:ext cx="11049000" cy="4968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Remove</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Marks an entity for deletion in the database.</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361950" lvl="1" marL="914400" marR="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For Example: </a:t>
            </a:r>
            <a:r>
              <a:rPr b="1" lang="en-US" sz="2100">
                <a:solidFill>
                  <a:schemeClr val="dk1"/>
                </a:solidFill>
                <a:latin typeface="Poppins"/>
                <a:ea typeface="Poppins"/>
                <a:cs typeface="Poppins"/>
                <a:sym typeface="Poppins"/>
              </a:rPr>
              <a:t>void remove(Object entity);</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Only works on managed entities. For detached entities, use merge first.</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p:txBody>
      </p:sp>
      <p:sp>
        <p:nvSpPr>
          <p:cNvPr id="851" name="Google Shape;851;p104"/>
          <p:cNvSpPr txBox="1"/>
          <p:nvPr/>
        </p:nvSpPr>
        <p:spPr>
          <a:xfrm>
            <a:off x="571500" y="3384400"/>
            <a:ext cx="110490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removeSample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8L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managed</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remove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false</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//detached</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5" name="Shape 855"/>
        <p:cNvGrpSpPr/>
        <p:nvPr/>
      </p:nvGrpSpPr>
      <p:grpSpPr>
        <a:xfrm>
          <a:off x="0" y="0"/>
          <a:ext cx="0" cy="0"/>
          <a:chOff x="0" y="0"/>
          <a:chExt cx="0" cy="0"/>
        </a:xfrm>
      </p:grpSpPr>
      <p:pic>
        <p:nvPicPr>
          <p:cNvPr descr="image.png" id="856" name="Google Shape;856;p10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57" name="Google Shape;857;p105"/>
          <p:cNvSpPr txBox="1"/>
          <p:nvPr/>
        </p:nvSpPr>
        <p:spPr>
          <a:xfrm>
            <a:off x="571500" y="34825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Refresh</a:t>
            </a:r>
            <a:endParaRPr/>
          </a:p>
        </p:txBody>
      </p:sp>
      <p:sp>
        <p:nvSpPr>
          <p:cNvPr id="858" name="Google Shape;858;p105"/>
          <p:cNvSpPr/>
          <p:nvPr/>
        </p:nvSpPr>
        <p:spPr>
          <a:xfrm>
            <a:off x="571500" y="10965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9" name="Google Shape;859;p105"/>
          <p:cNvSpPr txBox="1"/>
          <p:nvPr/>
        </p:nvSpPr>
        <p:spPr>
          <a:xfrm>
            <a:off x="571500" y="1265325"/>
            <a:ext cx="11049000" cy="5227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Refresh</a:t>
            </a:r>
            <a:r>
              <a:rPr lang="en-US" sz="2400">
                <a:solidFill>
                  <a:schemeClr val="dk1"/>
                </a:solidFill>
                <a:latin typeface="Poppins"/>
                <a:ea typeface="Poppins"/>
                <a:cs typeface="Poppins"/>
                <a:sym typeface="Poppins"/>
              </a:rPr>
              <a:t> - </a:t>
            </a:r>
            <a:r>
              <a:rPr lang="en-US" sz="2400">
                <a:solidFill>
                  <a:schemeClr val="dk1"/>
                </a:solidFill>
                <a:latin typeface="Poppins"/>
                <a:ea typeface="Poppins"/>
                <a:cs typeface="Poppins"/>
                <a:sym typeface="Poppins"/>
              </a:rPr>
              <a:t>Synchronizes the state of the entity with the current database state.</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void refresh(Object entity);</a:t>
            </a:r>
            <a:endParaRPr b="1"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381000" lvl="1" marL="9144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Discards all in-memory changes of the entity</a:t>
            </a:r>
            <a:endParaRPr sz="2400">
              <a:solidFill>
                <a:schemeClr val="dk1"/>
              </a:solidFill>
              <a:latin typeface="Poppins"/>
              <a:ea typeface="Poppins"/>
              <a:cs typeface="Poppins"/>
              <a:sym typeface="Poppins"/>
            </a:endParaRPr>
          </a:p>
          <a:p>
            <a:pPr indent="-381000" lvl="1" marL="9144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Reloads the entity’s state from the database</a:t>
            </a:r>
            <a:endParaRPr sz="2400">
              <a:solidFill>
                <a:schemeClr val="dk1"/>
              </a:solidFill>
              <a:latin typeface="Poppins"/>
              <a:ea typeface="Poppins"/>
              <a:cs typeface="Poppins"/>
              <a:sym typeface="Poppins"/>
            </a:endParaRPr>
          </a:p>
          <a:p>
            <a:pPr indent="-381000" lvl="1" marL="9144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Keeps the entity managed</a:t>
            </a:r>
            <a:endParaRPr sz="2400">
              <a:solidFill>
                <a:schemeClr val="dk1"/>
              </a:solidFill>
              <a:latin typeface="Poppins"/>
              <a:ea typeface="Poppins"/>
              <a:cs typeface="Poppins"/>
              <a:sym typeface="Poppins"/>
            </a:endParaRPr>
          </a:p>
          <a:p>
            <a:pPr indent="0" lvl="0" marL="91440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	</a:t>
            </a:r>
            <a:r>
              <a:rPr b="1" lang="en-US" sz="2400">
                <a:solidFill>
                  <a:schemeClr val="dk1"/>
                </a:solidFill>
                <a:latin typeface="Poppins"/>
                <a:ea typeface="Poppins"/>
                <a:cs typeface="Poppins"/>
                <a:sym typeface="Poppins"/>
              </a:rPr>
              <a:t>Useful if another transaction updated the entity or if some field values are generated by the database.</a:t>
            </a:r>
            <a:endParaRPr sz="2400">
              <a:solidFill>
                <a:schemeClr val="dk1"/>
              </a:solidFill>
              <a:latin typeface="Poppins"/>
              <a:ea typeface="Poppins"/>
              <a:cs typeface="Poppins"/>
              <a:sym typeface="Poppins"/>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pic>
        <p:nvPicPr>
          <p:cNvPr descr="image.png" id="864" name="Google Shape;864;p10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65" name="Google Shape;865;p10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Refresh</a:t>
            </a:r>
            <a:endParaRPr/>
          </a:p>
        </p:txBody>
      </p:sp>
      <p:sp>
        <p:nvSpPr>
          <p:cNvPr id="866" name="Google Shape;866;p10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7" name="Google Shape;867;p106"/>
          <p:cNvSpPr txBox="1"/>
          <p:nvPr/>
        </p:nvSpPr>
        <p:spPr>
          <a:xfrm>
            <a:off x="571500" y="1693950"/>
            <a:ext cx="11049000" cy="1554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000">
                <a:solidFill>
                  <a:schemeClr val="dk1"/>
                </a:solidFill>
                <a:latin typeface="Poppins"/>
                <a:ea typeface="Poppins"/>
                <a:cs typeface="Poppins"/>
                <a:sym typeface="Poppins"/>
              </a:rPr>
              <a:t>Use Case: </a:t>
            </a:r>
            <a:endParaRPr b="1" sz="2000">
              <a:solidFill>
                <a:schemeClr val="dk1"/>
              </a:solidFill>
              <a:latin typeface="Poppins"/>
              <a:ea typeface="Poppins"/>
              <a:cs typeface="Poppins"/>
              <a:sym typeface="Poppins"/>
            </a:endParaRPr>
          </a:p>
          <a:p>
            <a:pPr indent="457200" lvl="0" marL="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rtl="0" algn="l">
              <a:lnSpc>
                <a:spcPct val="115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The created_at value is set by the database, and we want to retrieve it after the entity is saved.</a:t>
            </a:r>
            <a:endParaRPr sz="2000">
              <a:solidFill>
                <a:schemeClr val="dk1"/>
              </a:solidFill>
              <a:latin typeface="Poppins"/>
              <a:ea typeface="Poppins"/>
              <a:cs typeface="Poppins"/>
              <a:sym typeface="Poppins"/>
            </a:endParaRPr>
          </a:p>
        </p:txBody>
      </p:sp>
      <p:sp>
        <p:nvSpPr>
          <p:cNvPr id="868" name="Google Shape;868;p106"/>
          <p:cNvSpPr txBox="1"/>
          <p:nvPr/>
        </p:nvSpPr>
        <p:spPr>
          <a:xfrm>
            <a:off x="3609600" y="3630800"/>
            <a:ext cx="4972800" cy="1887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b="1" lang="en-US" sz="1200">
                <a:solidFill>
                  <a:srgbClr val="739ECA"/>
                </a:solidFill>
                <a:highlight>
                  <a:srgbClr val="2F2F2F"/>
                </a:highlight>
                <a:latin typeface="Courier New"/>
                <a:ea typeface="Courier New"/>
                <a:cs typeface="Courier New"/>
                <a:sym typeface="Courier New"/>
              </a:rPr>
              <a:t>CREATE</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TABLE</a:t>
            </a:r>
            <a:r>
              <a:rPr lang="en-US" sz="1200">
                <a:solidFill>
                  <a:srgbClr val="CCCCCC"/>
                </a:solidFill>
                <a:highlight>
                  <a:srgbClr val="2F2F2F"/>
                </a:highlight>
                <a:latin typeface="Courier New"/>
                <a:ea typeface="Courier New"/>
                <a:cs typeface="Courier New"/>
                <a:sym typeface="Courier New"/>
              </a:rPr>
              <a:t> </a:t>
            </a:r>
            <a:r>
              <a:rPr lang="en-US" sz="1200">
                <a:solidFill>
                  <a:srgbClr val="CC9B75"/>
                </a:solidFill>
                <a:highlight>
                  <a:srgbClr val="2F2F2F"/>
                </a:highlight>
                <a:latin typeface="Courier New"/>
                <a:ea typeface="Courier New"/>
                <a:cs typeface="Courier New"/>
                <a:sym typeface="Courier New"/>
              </a:rPr>
              <a:t>public</a:t>
            </a:r>
            <a:r>
              <a:rPr lang="en-US" sz="1200">
                <a:solidFill>
                  <a:srgbClr val="CCCCCC"/>
                </a:solidFill>
                <a:highlight>
                  <a:srgbClr val="2F2F2F"/>
                </a:highlight>
                <a:latin typeface="Courier New"/>
                <a:ea typeface="Courier New"/>
                <a:cs typeface="Courier New"/>
                <a:sym typeface="Courier New"/>
              </a:rPr>
              <a:t>.</a:t>
            </a:r>
            <a:r>
              <a:rPr lang="en-US" sz="1200">
                <a:solidFill>
                  <a:srgbClr val="B788D3"/>
                </a:solidFill>
                <a:highlight>
                  <a:srgbClr val="2F2F2F"/>
                </a:highlight>
                <a:latin typeface="Courier New"/>
                <a:ea typeface="Courier New"/>
                <a:cs typeface="Courier New"/>
                <a:sym typeface="Courier New"/>
              </a:rPr>
              <a:t>students</a:t>
            </a:r>
            <a:r>
              <a:rPr lang="en-US" sz="1200">
                <a:solidFill>
                  <a:srgbClr val="CCCCCC"/>
                </a:solidFill>
                <a:highlight>
                  <a:srgbClr val="2F2F2F"/>
                </a:highlight>
                <a:latin typeface="Courier New"/>
                <a:ea typeface="Courier New"/>
                <a:cs typeface="Courier New"/>
                <a:sym typeface="Courier New"/>
              </a:rPr>
              <a:t> (</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id</a:t>
            </a:r>
            <a:r>
              <a:rPr lang="en-US" sz="1200">
                <a:solidFill>
                  <a:srgbClr val="CCCCCC"/>
                </a:solidFill>
                <a:highlight>
                  <a:srgbClr val="2F2F2F"/>
                </a:highlight>
                <a:latin typeface="Courier New"/>
                <a:ea typeface="Courier New"/>
                <a:cs typeface="Courier New"/>
                <a:sym typeface="Courier New"/>
              </a:rPr>
              <a:t> </a:t>
            </a:r>
            <a:r>
              <a:rPr lang="en-US" sz="1200">
                <a:solidFill>
                  <a:srgbClr val="9E9E9E"/>
                </a:solidFill>
                <a:highlight>
                  <a:srgbClr val="2F2F2F"/>
                </a:highlight>
                <a:latin typeface="Courier New"/>
                <a:ea typeface="Courier New"/>
                <a:cs typeface="Courier New"/>
                <a:sym typeface="Courier New"/>
              </a:rPr>
              <a:t>SERIAL</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PRIMARY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KEY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name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50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age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INT</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email</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100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UNIQUE</a:t>
            </a:r>
            <a:endParaRPr b="1" sz="1200">
              <a:solidFill>
                <a:srgbClr val="739ECA"/>
              </a:solidFill>
              <a:highlight>
                <a:srgbClr val="2F2F2F"/>
              </a:highlight>
              <a:latin typeface="Courier New"/>
              <a:ea typeface="Courier New"/>
              <a:cs typeface="Courier New"/>
              <a:sym typeface="Courier New"/>
            </a:endParaRPr>
          </a:p>
          <a:p>
            <a:pPr indent="431800" lvl="0" marL="25400" rtl="0" algn="l">
              <a:lnSpc>
                <a:spcPct val="115000"/>
              </a:lnSpc>
              <a:spcBef>
                <a:spcPts val="0"/>
              </a:spcBef>
              <a:spcAft>
                <a:spcPts val="0"/>
              </a:spcAft>
              <a:buClr>
                <a:schemeClr val="dk1"/>
              </a:buClr>
              <a:buSzPts val="1100"/>
              <a:buFont typeface="Arial"/>
              <a:buNone/>
            </a:pPr>
            <a:r>
              <a:rPr lang="en-US" sz="1200" u="sng">
                <a:solidFill>
                  <a:srgbClr val="66AFF9"/>
                </a:solidFill>
                <a:highlight>
                  <a:srgbClr val="980000"/>
                </a:highlight>
                <a:latin typeface="Courier New"/>
                <a:ea typeface="Courier New"/>
                <a:cs typeface="Courier New"/>
                <a:sym typeface="Courier New"/>
              </a:rPr>
              <a:t>created_at</a:t>
            </a:r>
            <a:r>
              <a:rPr lang="en-US" sz="1200">
                <a:solidFill>
                  <a:srgbClr val="CCCCCC"/>
                </a:solidFill>
                <a:highlight>
                  <a:srgbClr val="980000"/>
                </a:highlight>
                <a:latin typeface="Courier New"/>
                <a:ea typeface="Courier New"/>
                <a:cs typeface="Courier New"/>
                <a:sym typeface="Courier New"/>
              </a:rPr>
              <a:t> </a:t>
            </a:r>
            <a:r>
              <a:rPr b="1" lang="en-US" sz="1200">
                <a:solidFill>
                  <a:srgbClr val="C1AA6C"/>
                </a:solidFill>
                <a:highlight>
                  <a:srgbClr val="980000"/>
                </a:highlight>
                <a:latin typeface="Courier New"/>
                <a:ea typeface="Courier New"/>
                <a:cs typeface="Courier New"/>
                <a:sym typeface="Courier New"/>
              </a:rPr>
              <a:t>TIMESTAMP</a:t>
            </a:r>
            <a:r>
              <a:rPr lang="en-US" sz="1200">
                <a:solidFill>
                  <a:srgbClr val="CCCCCC"/>
                </a:solidFill>
                <a:highlight>
                  <a:srgbClr val="980000"/>
                </a:highlight>
                <a:latin typeface="Courier New"/>
                <a:ea typeface="Courier New"/>
                <a:cs typeface="Courier New"/>
                <a:sym typeface="Courier New"/>
              </a:rPr>
              <a:t> </a:t>
            </a:r>
            <a:r>
              <a:rPr b="1" lang="en-US" sz="1200">
                <a:solidFill>
                  <a:srgbClr val="739ECA"/>
                </a:solidFill>
                <a:highlight>
                  <a:srgbClr val="980000"/>
                </a:highlight>
                <a:latin typeface="Courier New"/>
                <a:ea typeface="Courier New"/>
                <a:cs typeface="Courier New"/>
                <a:sym typeface="Courier New"/>
              </a:rPr>
              <a:t>NOT</a:t>
            </a:r>
            <a:r>
              <a:rPr lang="en-US" sz="1200">
                <a:solidFill>
                  <a:srgbClr val="CCCCCC"/>
                </a:solidFill>
                <a:highlight>
                  <a:srgbClr val="980000"/>
                </a:highlight>
                <a:latin typeface="Courier New"/>
                <a:ea typeface="Courier New"/>
                <a:cs typeface="Courier New"/>
                <a:sym typeface="Courier New"/>
              </a:rPr>
              <a:t> </a:t>
            </a:r>
            <a:r>
              <a:rPr b="1" lang="en-US" sz="1200">
                <a:solidFill>
                  <a:srgbClr val="739ECA"/>
                </a:solidFill>
                <a:highlight>
                  <a:srgbClr val="980000"/>
                </a:highlight>
                <a:latin typeface="Courier New"/>
                <a:ea typeface="Courier New"/>
                <a:cs typeface="Courier New"/>
                <a:sym typeface="Courier New"/>
              </a:rPr>
              <a:t>NULL</a:t>
            </a:r>
            <a:r>
              <a:rPr lang="en-US" sz="1200">
                <a:solidFill>
                  <a:srgbClr val="CCCCCC"/>
                </a:solidFill>
                <a:highlight>
                  <a:srgbClr val="980000"/>
                </a:highlight>
                <a:latin typeface="Courier New"/>
                <a:ea typeface="Courier New"/>
                <a:cs typeface="Courier New"/>
                <a:sym typeface="Courier New"/>
              </a:rPr>
              <a:t> </a:t>
            </a:r>
            <a:r>
              <a:rPr b="1" lang="en-US" sz="1200">
                <a:solidFill>
                  <a:srgbClr val="739ECA"/>
                </a:solidFill>
                <a:highlight>
                  <a:srgbClr val="980000"/>
                </a:highlight>
                <a:latin typeface="Courier New"/>
                <a:ea typeface="Courier New"/>
                <a:cs typeface="Courier New"/>
                <a:sym typeface="Courier New"/>
              </a:rPr>
              <a:t>DEFAULT</a:t>
            </a:r>
            <a:r>
              <a:rPr lang="en-US" sz="1200">
                <a:solidFill>
                  <a:srgbClr val="CCCCCC"/>
                </a:solidFill>
                <a:highlight>
                  <a:srgbClr val="980000"/>
                </a:highlight>
                <a:latin typeface="Courier New"/>
                <a:ea typeface="Courier New"/>
                <a:cs typeface="Courier New"/>
                <a:sym typeface="Courier New"/>
              </a:rPr>
              <a:t> </a:t>
            </a:r>
            <a:r>
              <a:rPr b="1" lang="en-US" sz="1200">
                <a:solidFill>
                  <a:srgbClr val="C1AA6C"/>
                </a:solidFill>
                <a:highlight>
                  <a:srgbClr val="980000"/>
                </a:highlight>
                <a:latin typeface="Courier New"/>
                <a:ea typeface="Courier New"/>
                <a:cs typeface="Courier New"/>
                <a:sym typeface="Courier New"/>
              </a:rPr>
              <a:t>now</a:t>
            </a:r>
            <a:r>
              <a:rPr lang="en-US" sz="1200">
                <a:solidFill>
                  <a:srgbClr val="CCCCCC"/>
                </a:solidFill>
                <a:highlight>
                  <a:srgbClr val="980000"/>
                </a:highlight>
                <a:latin typeface="Courier New"/>
                <a:ea typeface="Courier New"/>
                <a:cs typeface="Courier New"/>
                <a:sym typeface="Courier New"/>
              </a:rPr>
              <a:t>()</a:t>
            </a:r>
            <a:r>
              <a:rPr lang="en-US" sz="1200">
                <a:solidFill>
                  <a:srgbClr val="EECC64"/>
                </a:solidFill>
                <a:highlight>
                  <a:srgbClr val="980000"/>
                </a:highlight>
                <a:latin typeface="Courier New"/>
                <a:ea typeface="Courier New"/>
                <a:cs typeface="Courier New"/>
                <a:sym typeface="Courier New"/>
              </a:rPr>
              <a:t>;</a:t>
            </a:r>
            <a:endParaRPr b="1" sz="1200">
              <a:solidFill>
                <a:srgbClr val="739ECA"/>
              </a:solidFill>
              <a:highlight>
                <a:srgbClr val="980000"/>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a:t>
            </a:r>
            <a:r>
              <a:rPr lang="en-US" sz="1200">
                <a:solidFill>
                  <a:srgbClr val="EECC64"/>
                </a:solidFill>
                <a:highlight>
                  <a:srgbClr val="2F2F2F"/>
                </a:highlight>
                <a:latin typeface="Courier New"/>
                <a:ea typeface="Courier New"/>
                <a:cs typeface="Courier New"/>
                <a:sym typeface="Courier New"/>
              </a:rPr>
              <a:t>;</a:t>
            </a:r>
            <a:endParaRPr sz="1200">
              <a:solidFill>
                <a:srgbClr val="EECC64"/>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b="1">
              <a:solidFill>
                <a:srgbClr val="739ECA"/>
              </a:solidFill>
              <a:highlight>
                <a:srgbClr val="2F2F2F"/>
              </a:highlight>
              <a:latin typeface="Courier New"/>
              <a:ea typeface="Courier New"/>
              <a:cs typeface="Courier New"/>
              <a:sym typeface="Courier New"/>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2" name="Shape 872"/>
        <p:cNvGrpSpPr/>
        <p:nvPr/>
      </p:nvGrpSpPr>
      <p:grpSpPr>
        <a:xfrm>
          <a:off x="0" y="0"/>
          <a:ext cx="0" cy="0"/>
          <a:chOff x="0" y="0"/>
          <a:chExt cx="0" cy="0"/>
        </a:xfrm>
      </p:grpSpPr>
      <p:pic>
        <p:nvPicPr>
          <p:cNvPr descr="image.png" id="873" name="Google Shape;873;p10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74" name="Google Shape;874;p107"/>
          <p:cNvSpPr txBox="1"/>
          <p:nvPr/>
        </p:nvSpPr>
        <p:spPr>
          <a:xfrm>
            <a:off x="571500" y="4197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Refresh</a:t>
            </a:r>
            <a:endParaRPr/>
          </a:p>
        </p:txBody>
      </p:sp>
      <p:sp>
        <p:nvSpPr>
          <p:cNvPr id="875" name="Google Shape;875;p107"/>
          <p:cNvSpPr/>
          <p:nvPr/>
        </p:nvSpPr>
        <p:spPr>
          <a:xfrm>
            <a:off x="535775" y="11233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6" name="Google Shape;876;p107"/>
          <p:cNvSpPr txBox="1"/>
          <p:nvPr/>
        </p:nvSpPr>
        <p:spPr>
          <a:xfrm>
            <a:off x="571500" y="1292100"/>
            <a:ext cx="11049000" cy="4617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refreshSample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"John Mark Santos"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"johnmarksantos@gmail.com"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commit insert to database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"BEFORE REFRESH: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//createdAt=null</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refresh</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//generates select statement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"AFTER REFRESH: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//createdAt=2026-01-26T15:24:36.123455Z</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0" name="Shape 880"/>
        <p:cNvGrpSpPr/>
        <p:nvPr/>
      </p:nvGrpSpPr>
      <p:grpSpPr>
        <a:xfrm>
          <a:off x="0" y="0"/>
          <a:ext cx="0" cy="0"/>
          <a:chOff x="0" y="0"/>
          <a:chExt cx="0" cy="0"/>
        </a:xfrm>
      </p:grpSpPr>
      <p:pic>
        <p:nvPicPr>
          <p:cNvPr descr="image.png" id="881" name="Google Shape;881;p10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82" name="Google Shape;882;p10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Detach</a:t>
            </a:r>
            <a:endParaRPr/>
          </a:p>
        </p:txBody>
      </p:sp>
      <p:sp>
        <p:nvSpPr>
          <p:cNvPr id="883" name="Google Shape;883;p10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4" name="Google Shape;884;p108"/>
          <p:cNvSpPr txBox="1"/>
          <p:nvPr/>
        </p:nvSpPr>
        <p:spPr>
          <a:xfrm>
            <a:off x="571500" y="1693950"/>
            <a:ext cx="11049000" cy="3528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Detach</a:t>
            </a:r>
            <a:r>
              <a:rPr lang="en-US" sz="2400">
                <a:solidFill>
                  <a:schemeClr val="dk1"/>
                </a:solidFill>
                <a:latin typeface="Poppins"/>
                <a:ea typeface="Poppins"/>
                <a:cs typeface="Poppins"/>
                <a:sym typeface="Poppins"/>
              </a:rPr>
              <a:t> - Detaches an entity from the persistence context</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After detaching:</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The entity is no longer managed</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Changes to the entity won’t be persisted on flush/commit</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Useful when you want to stop JPA from tracking an entity</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void detach(Object entity);</a:t>
            </a:r>
            <a:endParaRPr b="1" sz="2400">
              <a:solidFill>
                <a:schemeClr val="dk1"/>
              </a:solidFill>
              <a:latin typeface="Poppins"/>
              <a:ea typeface="Poppins"/>
              <a:cs typeface="Poppins"/>
              <a:sym typeface="Poppins"/>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8" name="Shape 888"/>
        <p:cNvGrpSpPr/>
        <p:nvPr/>
      </p:nvGrpSpPr>
      <p:grpSpPr>
        <a:xfrm>
          <a:off x="0" y="0"/>
          <a:ext cx="0" cy="0"/>
          <a:chOff x="0" y="0"/>
          <a:chExt cx="0" cy="0"/>
        </a:xfrm>
      </p:grpSpPr>
      <p:pic>
        <p:nvPicPr>
          <p:cNvPr descr="image.png" id="889" name="Google Shape;889;p10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90" name="Google Shape;890;p10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Detach</a:t>
            </a:r>
            <a:endParaRPr/>
          </a:p>
        </p:txBody>
      </p:sp>
      <p:sp>
        <p:nvSpPr>
          <p:cNvPr id="891" name="Google Shape;891;p109"/>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2" name="Google Shape;892;p109"/>
          <p:cNvSpPr txBox="1"/>
          <p:nvPr/>
        </p:nvSpPr>
        <p:spPr>
          <a:xfrm>
            <a:off x="571500" y="1693950"/>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detachSample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detach</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detached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100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no update statement generated because student is detached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6" name="Shape 896"/>
        <p:cNvGrpSpPr/>
        <p:nvPr/>
      </p:nvGrpSpPr>
      <p:grpSpPr>
        <a:xfrm>
          <a:off x="0" y="0"/>
          <a:ext cx="0" cy="0"/>
          <a:chOff x="0" y="0"/>
          <a:chExt cx="0" cy="0"/>
        </a:xfrm>
      </p:grpSpPr>
      <p:pic>
        <p:nvPicPr>
          <p:cNvPr descr="image.png" id="897" name="Google Shape;897;p11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98" name="Google Shape;898;p110"/>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Clear</a:t>
            </a:r>
            <a:endParaRPr/>
          </a:p>
        </p:txBody>
      </p:sp>
      <p:sp>
        <p:nvSpPr>
          <p:cNvPr id="899" name="Google Shape;899;p11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0" name="Google Shape;900;p110"/>
          <p:cNvSpPr txBox="1"/>
          <p:nvPr/>
        </p:nvSpPr>
        <p:spPr>
          <a:xfrm>
            <a:off x="571500" y="1693950"/>
            <a:ext cx="11049000" cy="1897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500">
                <a:solidFill>
                  <a:schemeClr val="dk1"/>
                </a:solidFill>
                <a:latin typeface="Poppins"/>
                <a:ea typeface="Poppins"/>
                <a:cs typeface="Poppins"/>
                <a:sym typeface="Poppins"/>
              </a:rPr>
              <a:t>Clear</a:t>
            </a:r>
            <a:r>
              <a:rPr lang="en-US" sz="2500">
                <a:solidFill>
                  <a:schemeClr val="dk1"/>
                </a:solidFill>
                <a:latin typeface="Poppins"/>
                <a:ea typeface="Poppins"/>
                <a:cs typeface="Poppins"/>
                <a:sym typeface="Poppins"/>
              </a:rPr>
              <a:t> - </a:t>
            </a:r>
            <a:r>
              <a:rPr lang="en-US" sz="2500">
                <a:solidFill>
                  <a:schemeClr val="dk1"/>
                </a:solidFill>
                <a:latin typeface="Poppins"/>
                <a:ea typeface="Poppins"/>
                <a:cs typeface="Poppins"/>
                <a:sym typeface="Poppins"/>
              </a:rPr>
              <a:t>Detaches all managed entities from the persistence context.</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500">
                <a:solidFill>
                  <a:schemeClr val="dk1"/>
                </a:solidFill>
                <a:latin typeface="Poppins"/>
                <a:ea typeface="Poppins"/>
                <a:cs typeface="Poppins"/>
                <a:sym typeface="Poppins"/>
              </a:rPr>
              <a:t>void clear();</a:t>
            </a:r>
            <a:endParaRPr b="1" sz="2500">
              <a:solidFill>
                <a:schemeClr val="dk1"/>
              </a:solidFill>
              <a:latin typeface="Poppins"/>
              <a:ea typeface="Poppins"/>
              <a:cs typeface="Poppins"/>
              <a:sym typeface="Poppins"/>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4" name="Shape 904"/>
        <p:cNvGrpSpPr/>
        <p:nvPr/>
      </p:nvGrpSpPr>
      <p:grpSpPr>
        <a:xfrm>
          <a:off x="0" y="0"/>
          <a:ext cx="0" cy="0"/>
          <a:chOff x="0" y="0"/>
          <a:chExt cx="0" cy="0"/>
        </a:xfrm>
      </p:grpSpPr>
      <p:pic>
        <p:nvPicPr>
          <p:cNvPr descr="image.png" id="905" name="Google Shape;905;p11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06" name="Google Shape;906;p111"/>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Clear</a:t>
            </a:r>
            <a:endParaRPr/>
          </a:p>
        </p:txBody>
      </p:sp>
      <p:sp>
        <p:nvSpPr>
          <p:cNvPr id="907" name="Google Shape;907;p11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8" name="Google Shape;908;p111"/>
          <p:cNvSpPr txBox="1"/>
          <p:nvPr/>
        </p:nvSpPr>
        <p:spPr>
          <a:xfrm>
            <a:off x="571500" y="2018125"/>
            <a:ext cx="11049000" cy="4405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clearSample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u="sng">
                <a:solidFill>
                  <a:srgbClr val="F2F200"/>
                </a:solidFill>
                <a:highlight>
                  <a:srgbClr val="1E1F22"/>
                </a:highlight>
                <a:latin typeface="Courier New"/>
                <a:ea typeface="Courier New"/>
                <a:cs typeface="Courier New"/>
                <a:sym typeface="Courier New"/>
              </a:rPr>
              <a:t>student1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9L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"BEFORE clear()"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//true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student1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//true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clear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detaches all managed entity</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"AFTER clear()"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//false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student1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//false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pic>
        <p:nvPicPr>
          <p:cNvPr descr="image.png" id="913" name="Google Shape;913;p11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14" name="Google Shape;914;p11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Contains</a:t>
            </a:r>
            <a:endParaRPr/>
          </a:p>
        </p:txBody>
      </p:sp>
      <p:sp>
        <p:nvSpPr>
          <p:cNvPr id="915" name="Google Shape;915;p11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6" name="Google Shape;916;p112"/>
          <p:cNvSpPr txBox="1"/>
          <p:nvPr/>
        </p:nvSpPr>
        <p:spPr>
          <a:xfrm>
            <a:off x="571500" y="1693950"/>
            <a:ext cx="11049000" cy="2366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Contains</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Determine if the given object is a managed entity instance belonging to the current persistence context.</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boolean contains(Object entity);</a:t>
            </a:r>
            <a:r>
              <a:rPr b="1" lang="en-US" sz="2100">
                <a:solidFill>
                  <a:schemeClr val="dk1"/>
                </a:solidFill>
                <a:latin typeface="Poppins"/>
                <a:ea typeface="Poppins"/>
                <a:cs typeface="Poppins"/>
                <a:sym typeface="Poppins"/>
              </a:rPr>
              <a:t>	</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361950" lvl="1" marL="914400" marR="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For Example:</a:t>
            </a:r>
            <a:endParaRPr sz="2100">
              <a:solidFill>
                <a:schemeClr val="dk1"/>
              </a:solidFill>
              <a:latin typeface="Poppins"/>
              <a:ea typeface="Poppins"/>
              <a:cs typeface="Poppins"/>
              <a:sym typeface="Poppins"/>
            </a:endParaRPr>
          </a:p>
        </p:txBody>
      </p:sp>
      <p:sp>
        <p:nvSpPr>
          <p:cNvPr id="917" name="Google Shape;917;p112"/>
          <p:cNvSpPr txBox="1"/>
          <p:nvPr/>
        </p:nvSpPr>
        <p:spPr>
          <a:xfrm>
            <a:off x="571500" y="4473775"/>
            <a:ext cx="11049000" cy="4155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rgbClr val="1290C3"/>
                </a:solidFill>
                <a:highlight>
                  <a:srgbClr val="1E1F22"/>
                </a:highlight>
                <a:latin typeface="Courier New"/>
                <a:ea typeface="Courier New"/>
                <a:cs typeface="Courier New"/>
                <a:sym typeface="Courier New"/>
              </a:rPr>
              <a:t>System</a:t>
            </a:r>
            <a:r>
              <a:rPr lang="en-US" sz="1500">
                <a:solidFill>
                  <a:srgbClr val="E6E6FA"/>
                </a:solidFill>
                <a:highlight>
                  <a:srgbClr val="1E1F22"/>
                </a:highlight>
                <a:latin typeface="Courier New"/>
                <a:ea typeface="Courier New"/>
                <a:cs typeface="Courier New"/>
                <a:sym typeface="Courier New"/>
              </a:rPr>
              <a:t>.</a:t>
            </a:r>
            <a:r>
              <a:rPr b="1" i="1" lang="en-US" sz="1500">
                <a:solidFill>
                  <a:srgbClr val="8DDAF8"/>
                </a:solidFill>
                <a:highlight>
                  <a:srgbClr val="1E1F22"/>
                </a:highlight>
                <a:latin typeface="Courier New"/>
                <a:ea typeface="Courier New"/>
                <a:cs typeface="Courier New"/>
                <a:sym typeface="Courier New"/>
              </a:rPr>
              <a:t>out</a:t>
            </a:r>
            <a:r>
              <a:rPr lang="en-US" sz="1500">
                <a:solidFill>
                  <a:srgbClr val="E6E6FA"/>
                </a:solidFill>
                <a:highlight>
                  <a:srgbClr val="1E1F22"/>
                </a:highlight>
                <a:latin typeface="Courier New"/>
                <a:ea typeface="Courier New"/>
                <a:cs typeface="Courier New"/>
                <a:sym typeface="Courier New"/>
              </a:rPr>
              <a:t>.</a:t>
            </a:r>
            <a:r>
              <a:rPr lang="en-US" sz="1500">
                <a:solidFill>
                  <a:srgbClr val="A7EC21"/>
                </a:solidFill>
                <a:highlight>
                  <a:srgbClr val="1E1F22"/>
                </a:highlight>
                <a:latin typeface="Courier New"/>
                <a:ea typeface="Courier New"/>
                <a:cs typeface="Courier New"/>
                <a:sym typeface="Courier New"/>
              </a:rPr>
              <a:t>println</a:t>
            </a:r>
            <a:r>
              <a:rPr lang="en-US" sz="1500">
                <a:solidFill>
                  <a:srgbClr val="F9FAF4"/>
                </a:solidFill>
                <a:highlight>
                  <a:srgbClr val="1E1F22"/>
                </a:highlight>
                <a:latin typeface="Courier New"/>
                <a:ea typeface="Courier New"/>
                <a:cs typeface="Courier New"/>
                <a:sym typeface="Courier New"/>
              </a:rPr>
              <a:t>(</a:t>
            </a:r>
            <a:r>
              <a:rPr lang="en-US" sz="1500">
                <a:solidFill>
                  <a:srgbClr val="17C6A3"/>
                </a:solidFill>
                <a:highlight>
                  <a:srgbClr val="1E1F22"/>
                </a:highlight>
                <a:latin typeface="Courier New"/>
                <a:ea typeface="Courier New"/>
                <a:cs typeface="Courier New"/>
                <a:sym typeface="Courier New"/>
              </a:rPr>
              <a:t>"is newStudent student the persistence context: "</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79ABFF"/>
                </a:solidFill>
                <a:highlight>
                  <a:srgbClr val="1E1F22"/>
                </a:highlight>
                <a:latin typeface="Courier New"/>
                <a:ea typeface="Courier New"/>
                <a:cs typeface="Courier New"/>
                <a:sym typeface="Courier New"/>
              </a:rPr>
              <a:t>em</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contains</a:t>
            </a:r>
            <a:r>
              <a:rPr lang="en-US" sz="1500">
                <a:solidFill>
                  <a:srgbClr val="F9FAF4"/>
                </a:solidFill>
                <a:highlight>
                  <a:srgbClr val="1E1F22"/>
                </a:highlight>
                <a:latin typeface="Courier New"/>
                <a:ea typeface="Courier New"/>
                <a:cs typeface="Courier New"/>
                <a:sym typeface="Courier New"/>
              </a:rPr>
              <a:t>(</a:t>
            </a:r>
            <a:r>
              <a:rPr lang="en-US" sz="1500">
                <a:solidFill>
                  <a:srgbClr val="F3EC79"/>
                </a:solidFill>
                <a:highlight>
                  <a:srgbClr val="1E1F22"/>
                </a:highlight>
                <a:latin typeface="Courier New"/>
                <a:ea typeface="Courier New"/>
                <a:cs typeface="Courier New"/>
                <a:sym typeface="Courier New"/>
              </a:rPr>
              <a:t>student</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700"/>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1" name="Shape 921"/>
        <p:cNvGrpSpPr/>
        <p:nvPr/>
      </p:nvGrpSpPr>
      <p:grpSpPr>
        <a:xfrm>
          <a:off x="0" y="0"/>
          <a:ext cx="0" cy="0"/>
          <a:chOff x="0" y="0"/>
          <a:chExt cx="0" cy="0"/>
        </a:xfrm>
      </p:grpSpPr>
      <p:pic>
        <p:nvPicPr>
          <p:cNvPr descr="image.png" id="922" name="Google Shape;922;p11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23" name="Google Shape;923;p113"/>
          <p:cNvSpPr txBox="1"/>
          <p:nvPr/>
        </p:nvSpPr>
        <p:spPr>
          <a:xfrm>
            <a:off x="571500" y="43755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Commit vs Flush</a:t>
            </a:r>
            <a:endParaRPr/>
          </a:p>
        </p:txBody>
      </p:sp>
      <p:sp>
        <p:nvSpPr>
          <p:cNvPr id="924" name="Google Shape;924;p113"/>
          <p:cNvSpPr/>
          <p:nvPr/>
        </p:nvSpPr>
        <p:spPr>
          <a:xfrm>
            <a:off x="571500" y="1176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5" name="Google Shape;925;p113"/>
          <p:cNvSpPr txBox="1"/>
          <p:nvPr/>
        </p:nvSpPr>
        <p:spPr>
          <a:xfrm>
            <a:off x="571500" y="1461800"/>
            <a:ext cx="11049000" cy="5187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1"/>
                </a:solidFill>
                <a:latin typeface="Poppins"/>
                <a:ea typeface="Poppins"/>
                <a:cs typeface="Poppins"/>
                <a:sym typeface="Poppins"/>
              </a:rPr>
              <a:t>Flush()</a:t>
            </a:r>
            <a:endParaRPr b="1" sz="2500">
              <a:solidFill>
                <a:schemeClr val="dk1"/>
              </a:solidFill>
              <a:latin typeface="Poppins"/>
              <a:ea typeface="Poppins"/>
              <a:cs typeface="Poppins"/>
              <a:sym typeface="Poppins"/>
            </a:endParaRPr>
          </a:p>
          <a:p>
            <a:pPr indent="0" lvl="0" marL="0" rtl="0" algn="l">
              <a:spcBef>
                <a:spcPts val="0"/>
              </a:spcBef>
              <a:spcAft>
                <a:spcPts val="0"/>
              </a:spcAft>
              <a:buNone/>
            </a:pPr>
            <a:r>
              <a:t/>
            </a:r>
            <a:endParaRPr sz="2500">
              <a:solidFill>
                <a:schemeClr val="dk1"/>
              </a:solidFill>
              <a:latin typeface="Poppins"/>
              <a:ea typeface="Poppins"/>
              <a:cs typeface="Poppins"/>
              <a:sym typeface="Poppins"/>
            </a:endParaRPr>
          </a:p>
          <a:p>
            <a:pPr indent="-387350" lvl="0" marL="4572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Forces Hibernate to execute SQL statements immediately for all pending changes in the persistence context.</a:t>
            </a:r>
            <a:endParaRPr sz="2500">
              <a:solidFill>
                <a:schemeClr val="dk1"/>
              </a:solidFill>
              <a:latin typeface="Poppins"/>
              <a:ea typeface="Poppins"/>
              <a:cs typeface="Poppins"/>
              <a:sym typeface="Poppins"/>
            </a:endParaRPr>
          </a:p>
          <a:p>
            <a:pPr indent="-387350" lvl="0" marL="4572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Entities remain managed in memory.</a:t>
            </a:r>
            <a:endParaRPr sz="2500">
              <a:solidFill>
                <a:schemeClr val="dk1"/>
              </a:solidFill>
              <a:latin typeface="Poppins"/>
              <a:ea typeface="Poppins"/>
              <a:cs typeface="Poppins"/>
              <a:sym typeface="Poppins"/>
            </a:endParaRPr>
          </a:p>
          <a:p>
            <a:pPr indent="-387350" lvl="0" marL="4572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Transaction is still open, so you can rollback if needed.</a:t>
            </a:r>
            <a:endParaRPr sz="2500">
              <a:solidFill>
                <a:schemeClr val="dk1"/>
              </a:solidFill>
              <a:latin typeface="Poppins"/>
              <a:ea typeface="Poppins"/>
              <a:cs typeface="Poppins"/>
              <a:sym typeface="Poppins"/>
            </a:endParaRPr>
          </a:p>
          <a:p>
            <a:pPr indent="0" lvl="0" marL="0" rtl="0" algn="l">
              <a:spcBef>
                <a:spcPts val="0"/>
              </a:spcBef>
              <a:spcAft>
                <a:spcPts val="0"/>
              </a:spcAft>
              <a:buNone/>
            </a:pPr>
            <a:r>
              <a:t/>
            </a:r>
            <a:endParaRPr sz="2500">
              <a:solidFill>
                <a:schemeClr val="dk1"/>
              </a:solidFill>
              <a:latin typeface="Poppins"/>
              <a:ea typeface="Poppins"/>
              <a:cs typeface="Poppins"/>
              <a:sym typeface="Poppins"/>
            </a:endParaRPr>
          </a:p>
          <a:p>
            <a:pPr indent="0" lvl="0" marL="0" rtl="0" algn="l">
              <a:spcBef>
                <a:spcPts val="0"/>
              </a:spcBef>
              <a:spcAft>
                <a:spcPts val="0"/>
              </a:spcAft>
              <a:buNone/>
            </a:pPr>
            <a:r>
              <a:rPr b="1" lang="en-US" sz="2500">
                <a:solidFill>
                  <a:schemeClr val="dk1"/>
                </a:solidFill>
                <a:latin typeface="Poppins"/>
                <a:ea typeface="Poppins"/>
                <a:cs typeface="Poppins"/>
                <a:sym typeface="Poppins"/>
              </a:rPr>
              <a:t>Commit()</a:t>
            </a:r>
            <a:endParaRPr b="1" sz="25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Automatically calls flush() to synchronize the persistence context.</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Commits the transaction, making changes permanent in the database.</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After commit, you cannot rollback.</a:t>
            </a:r>
            <a:endParaRPr b="1" sz="2500">
              <a:solidFill>
                <a:schemeClr val="dk1"/>
              </a:solidFill>
              <a:latin typeface="Poppins"/>
              <a:ea typeface="Poppins"/>
              <a:cs typeface="Poppins"/>
              <a:sym typeface="Poppins"/>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9" name="Shape 929"/>
        <p:cNvGrpSpPr/>
        <p:nvPr/>
      </p:nvGrpSpPr>
      <p:grpSpPr>
        <a:xfrm>
          <a:off x="0" y="0"/>
          <a:ext cx="0" cy="0"/>
          <a:chOff x="0" y="0"/>
          <a:chExt cx="0" cy="0"/>
        </a:xfrm>
      </p:grpSpPr>
      <p:pic>
        <p:nvPicPr>
          <p:cNvPr descr="image.png" id="930" name="Google Shape;930;p11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31" name="Google Shape;931;p114"/>
          <p:cNvSpPr txBox="1"/>
          <p:nvPr/>
        </p:nvSpPr>
        <p:spPr>
          <a:xfrm>
            <a:off x="571500" y="43755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Rollback</a:t>
            </a:r>
            <a:endParaRPr/>
          </a:p>
        </p:txBody>
      </p:sp>
      <p:sp>
        <p:nvSpPr>
          <p:cNvPr id="932" name="Google Shape;932;p114"/>
          <p:cNvSpPr/>
          <p:nvPr/>
        </p:nvSpPr>
        <p:spPr>
          <a:xfrm>
            <a:off x="571500" y="1176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3" name="Google Shape;933;p114"/>
          <p:cNvSpPr txBox="1"/>
          <p:nvPr/>
        </p:nvSpPr>
        <p:spPr>
          <a:xfrm>
            <a:off x="571500" y="1461800"/>
            <a:ext cx="11049000" cy="2108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t/>
            </a:r>
            <a:endParaRPr b="1"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rollback() undoes all changes in the current transaction.</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After rollback, all entities in that transaction are detached.</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You must check tx.isActive() before rollback to avoid exceptions.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Persistence context is cleared for rolled-back entities.</a:t>
            </a:r>
            <a:endParaRPr sz="2500">
              <a:solidFill>
                <a:schemeClr val="dk1"/>
              </a:solidFill>
              <a:latin typeface="Poppins"/>
              <a:ea typeface="Poppins"/>
              <a:cs typeface="Poppins"/>
              <a:sym typeface="Poppins"/>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7" name="Shape 937"/>
        <p:cNvGrpSpPr/>
        <p:nvPr/>
      </p:nvGrpSpPr>
      <p:grpSpPr>
        <a:xfrm>
          <a:off x="0" y="0"/>
          <a:ext cx="0" cy="0"/>
          <a:chOff x="0" y="0"/>
          <a:chExt cx="0" cy="0"/>
        </a:xfrm>
      </p:grpSpPr>
      <p:pic>
        <p:nvPicPr>
          <p:cNvPr descr="image.png" id="938" name="Google Shape;938;p11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39" name="Google Shape;939;p115"/>
          <p:cNvSpPr txBox="1"/>
          <p:nvPr/>
        </p:nvSpPr>
        <p:spPr>
          <a:xfrm>
            <a:off x="571500" y="223225"/>
            <a:ext cx="11049000" cy="7151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rollbackSample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EntityTransaction</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tx</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first transaction</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30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flush</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//second transaction - mock error by saving data that already exist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 Dela Cruz"</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"juandelacruz@gmail.com"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catch</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Exception</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"Exception occurred: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getMessage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isActive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always check if transaction is active before calling </a:t>
            </a:r>
            <a:r>
              <a:rPr lang="en-US" sz="1200" u="sng">
                <a:solidFill>
                  <a:srgbClr val="808080"/>
                </a:solidFill>
                <a:highlight>
                  <a:srgbClr val="1E1F22"/>
                </a:highlight>
                <a:latin typeface="Courier New"/>
                <a:ea typeface="Courier New"/>
                <a:cs typeface="Courier New"/>
                <a:sym typeface="Courier New"/>
              </a:rPr>
              <a:t>rollback</a:t>
            </a:r>
            <a:r>
              <a:rPr lang="en-US" sz="1200">
                <a:solidFill>
                  <a:srgbClr val="808080"/>
                </a:solidFill>
                <a:highlight>
                  <a:srgbClr val="1E1F22"/>
                </a:highlight>
                <a:latin typeface="Courier New"/>
                <a:ea typeface="Courier New"/>
                <a:cs typeface="Courier New"/>
                <a:sym typeface="Courier New"/>
              </a:rPr>
              <a: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rollback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"Transaction rolled back."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3" name="Shape 943"/>
        <p:cNvGrpSpPr/>
        <p:nvPr/>
      </p:nvGrpSpPr>
      <p:grpSpPr>
        <a:xfrm>
          <a:off x="0" y="0"/>
          <a:ext cx="0" cy="0"/>
          <a:chOff x="0" y="0"/>
          <a:chExt cx="0" cy="0"/>
        </a:xfrm>
      </p:grpSpPr>
      <p:pic>
        <p:nvPicPr>
          <p:cNvPr descr="image.png" id="944" name="Google Shape;944;p11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45" name="Google Shape;945;p116"/>
          <p:cNvSpPr txBox="1"/>
          <p:nvPr/>
        </p:nvSpPr>
        <p:spPr>
          <a:xfrm>
            <a:off x="571500" y="2678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Rollback - output</a:t>
            </a:r>
            <a:endParaRPr/>
          </a:p>
        </p:txBody>
      </p:sp>
      <p:sp>
        <p:nvSpPr>
          <p:cNvPr id="946" name="Google Shape;946;p116"/>
          <p:cNvSpPr/>
          <p:nvPr/>
        </p:nvSpPr>
        <p:spPr>
          <a:xfrm>
            <a:off x="571500" y="8219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7" name="Google Shape;947;p116"/>
          <p:cNvSpPr txBox="1"/>
          <p:nvPr/>
        </p:nvSpPr>
        <p:spPr>
          <a:xfrm>
            <a:off x="625075" y="1544825"/>
            <a:ext cx="11049000" cy="10065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Exception occurred: could not execute statement [ERROR: duplicate key value violates unique constraint "students_email_key"</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Detail: Key (email)=(juandelacruz@gmail.com) already exists.] [insert into students (age,email,name) values (?,?,?)]</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Transaction rolled back.</a:t>
            </a:r>
            <a:endParaRPr sz="12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pic>
        <p:nvPicPr>
          <p:cNvPr descr="image.png" id="952" name="Google Shape;952;p11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53" name="Google Shape;953;p11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M6_Activity4 - Entity Manager</a:t>
            </a:r>
            <a:endParaRPr b="1" sz="3600">
              <a:solidFill>
                <a:srgbClr val="B91C1C"/>
              </a:solidFill>
              <a:latin typeface="Poppins"/>
              <a:ea typeface="Poppins"/>
              <a:cs typeface="Poppins"/>
              <a:sym typeface="Poppins"/>
            </a:endParaRPr>
          </a:p>
        </p:txBody>
      </p:sp>
      <p:sp>
        <p:nvSpPr>
          <p:cNvPr id="954" name="Google Shape;954;p117"/>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5" name="Google Shape;955;p117"/>
          <p:cNvSpPr txBox="1"/>
          <p:nvPr/>
        </p:nvSpPr>
        <p:spPr>
          <a:xfrm>
            <a:off x="571500" y="1455200"/>
            <a:ext cx="110490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200">
                <a:solidFill>
                  <a:schemeClr val="dk1"/>
                </a:solidFill>
                <a:latin typeface="Poppins"/>
                <a:ea typeface="Poppins"/>
                <a:cs typeface="Poppins"/>
                <a:sym typeface="Poppins"/>
              </a:rPr>
              <a:t>Objective: </a:t>
            </a:r>
            <a:endParaRPr b="1" sz="2200">
              <a:solidFill>
                <a:schemeClr val="dk1"/>
              </a:solidFill>
              <a:latin typeface="Poppins"/>
              <a:ea typeface="Poppins"/>
              <a:cs typeface="Poppins"/>
              <a:sym typeface="Poppins"/>
            </a:endParaRPr>
          </a:p>
          <a:p>
            <a:pPr indent="0" lvl="0" marL="0" rtl="0" algn="l">
              <a:spcBef>
                <a:spcPts val="0"/>
              </a:spcBef>
              <a:spcAft>
                <a:spcPts val="0"/>
              </a:spcAft>
              <a:buNone/>
            </a:pPr>
            <a:br>
              <a:rPr b="1" lang="en-US" sz="2200">
                <a:solidFill>
                  <a:schemeClr val="dk1"/>
                </a:solidFill>
                <a:latin typeface="Poppins"/>
                <a:ea typeface="Poppins"/>
                <a:cs typeface="Poppins"/>
                <a:sym typeface="Poppins"/>
              </a:rPr>
            </a:br>
            <a:r>
              <a:rPr lang="en-US" sz="2200">
                <a:solidFill>
                  <a:schemeClr val="dk1"/>
                </a:solidFill>
                <a:latin typeface="Poppins"/>
                <a:ea typeface="Poppins"/>
                <a:cs typeface="Poppins"/>
                <a:sym typeface="Poppins"/>
              </a:rPr>
              <a:t>At the end of this activity, you will be able to use JPA EntityManager operations to perform CRUD actions and manage entity lifecycle states within a persistence context.</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9" name="Shape 959"/>
        <p:cNvGrpSpPr/>
        <p:nvPr/>
      </p:nvGrpSpPr>
      <p:grpSpPr>
        <a:xfrm>
          <a:off x="0" y="0"/>
          <a:ext cx="0" cy="0"/>
          <a:chOff x="0" y="0"/>
          <a:chExt cx="0" cy="0"/>
        </a:xfrm>
      </p:grpSpPr>
      <p:pic>
        <p:nvPicPr>
          <p:cNvPr descr="image.png" id="960" name="Google Shape;960;p11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61" name="Google Shape;961;p118"/>
          <p:cNvSpPr txBox="1"/>
          <p:nvPr/>
        </p:nvSpPr>
        <p:spPr>
          <a:xfrm>
            <a:off x="229650" y="626850"/>
            <a:ext cx="11732700" cy="56043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static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void</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m6Activity4Solution</a:t>
            </a:r>
            <a:r>
              <a:rPr lang="en-US">
                <a:solidFill>
                  <a:srgbClr val="F9FAF4"/>
                </a:solidFill>
                <a:highlight>
                  <a:srgbClr val="1E1F22"/>
                </a:highlight>
                <a:latin typeface="Courier New"/>
                <a:ea typeface="Courier New"/>
                <a:cs typeface="Courier New"/>
                <a:sym typeface="Courier New"/>
              </a:rPr>
              <a:t>(</a:t>
            </a:r>
            <a:r>
              <a:rPr lang="en-US">
                <a:solidFill>
                  <a:srgbClr val="80F2F6"/>
                </a:solidFill>
                <a:highlight>
                  <a:srgbClr val="1E1F22"/>
                </a:highlight>
                <a:latin typeface="Courier New"/>
                <a:ea typeface="Courier New"/>
                <a:cs typeface="Courier New"/>
                <a:sym typeface="Courier New"/>
              </a:rPr>
              <a:t>EntityManager</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F9FAF4"/>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getTransaction</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begin</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 create Student object, assign values</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2. attach </a:t>
            </a:r>
            <a:r>
              <a:rPr b="1" lang="en-US">
                <a:solidFill>
                  <a:srgbClr val="808080"/>
                </a:solidFill>
                <a:highlight>
                  <a:srgbClr val="1E1F22"/>
                </a:highlight>
                <a:latin typeface="Courier New"/>
                <a:ea typeface="Courier New"/>
                <a:cs typeface="Courier New"/>
                <a:sym typeface="Courier New"/>
              </a:rPr>
              <a:t>transient</a:t>
            </a:r>
            <a:r>
              <a:rPr lang="en-US">
                <a:solidFill>
                  <a:srgbClr val="808080"/>
                </a:solidFill>
                <a:highlight>
                  <a:srgbClr val="1E1F22"/>
                </a:highlight>
                <a:latin typeface="Courier New"/>
                <a:ea typeface="Courier New"/>
                <a:cs typeface="Courier New"/>
                <a:sym typeface="Courier New"/>
              </a:rPr>
              <a:t> student object to persistence context</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3. call flush()</a:t>
            </a: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4. detach the </a:t>
            </a:r>
            <a:r>
              <a:rPr b="1" lang="en-US">
                <a:solidFill>
                  <a:srgbClr val="808080"/>
                </a:solidFill>
                <a:highlight>
                  <a:srgbClr val="1E1F22"/>
                </a:highlight>
                <a:latin typeface="Courier New"/>
                <a:ea typeface="Courier New"/>
                <a:cs typeface="Courier New"/>
                <a:sym typeface="Courier New"/>
              </a:rPr>
              <a:t>managed</a:t>
            </a:r>
            <a:r>
              <a:rPr lang="en-US">
                <a:solidFill>
                  <a:srgbClr val="808080"/>
                </a:solidFill>
                <a:highlight>
                  <a:srgbClr val="1E1F22"/>
                </a:highlight>
                <a:latin typeface="Courier New"/>
                <a:ea typeface="Courier New"/>
                <a:cs typeface="Courier New"/>
                <a:sym typeface="Courier New"/>
              </a:rPr>
              <a:t> newStudent from the persistence context</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5. print "is newStudent inside the persistence context: " + call contains()</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System</a:t>
            </a:r>
            <a:r>
              <a:rPr lang="en-US">
                <a:solidFill>
                  <a:srgbClr val="E6E6FA"/>
                </a:solidFill>
                <a:highlight>
                  <a:srgbClr val="1E1F22"/>
                </a:highlight>
                <a:latin typeface="Courier New"/>
                <a:ea typeface="Courier New"/>
                <a:cs typeface="Courier New"/>
                <a:sym typeface="Courier New"/>
              </a:rPr>
              <a:t>.</a:t>
            </a:r>
            <a:r>
              <a:rPr b="1" i="1" lang="en-US">
                <a:solidFill>
                  <a:srgbClr val="8DDAF8"/>
                </a:solidFill>
                <a:highlight>
                  <a:srgbClr val="1E1F22"/>
                </a:highlight>
                <a:latin typeface="Courier New"/>
                <a:ea typeface="Courier New"/>
                <a:cs typeface="Courier New"/>
                <a:sym typeface="Courier New"/>
              </a:rPr>
              <a:t>out</a:t>
            </a:r>
            <a:r>
              <a:rPr lang="en-US">
                <a:solidFill>
                  <a:srgbClr val="E6E6FA"/>
                </a:solidFill>
                <a:highlight>
                  <a:srgbClr val="1E1F22"/>
                </a:highlight>
                <a:latin typeface="Courier New"/>
                <a:ea typeface="Courier New"/>
                <a:cs typeface="Courier New"/>
                <a:sym typeface="Courier New"/>
              </a:rPr>
              <a:t>.</a:t>
            </a:r>
            <a:r>
              <a:rPr lang="en-US">
                <a:solidFill>
                  <a:srgbClr val="A7EC21"/>
                </a:solidFill>
                <a:highlight>
                  <a:srgbClr val="1E1F22"/>
                </a:highlight>
                <a:latin typeface="Courier New"/>
                <a:ea typeface="Courier New"/>
                <a:cs typeface="Courier New"/>
                <a:sym typeface="Courier New"/>
              </a:rPr>
              <a:t>println</a:t>
            </a:r>
            <a:r>
              <a:rPr lang="en-US">
                <a:solidFill>
                  <a:srgbClr val="F9FAF4"/>
                </a:solidFill>
                <a:highlight>
                  <a:srgbClr val="1E1F22"/>
                </a:highlight>
                <a:latin typeface="Courier New"/>
                <a:ea typeface="Courier New"/>
                <a:cs typeface="Courier New"/>
                <a:sym typeface="Courier New"/>
              </a:rPr>
              <a:t>(</a:t>
            </a:r>
            <a:r>
              <a:rPr lang="en-US">
                <a:solidFill>
                  <a:srgbClr val="17C6A3"/>
                </a:solidFill>
                <a:highlight>
                  <a:srgbClr val="1E1F22"/>
                </a:highlight>
                <a:latin typeface="Courier New"/>
                <a:ea typeface="Courier New"/>
                <a:cs typeface="Courier New"/>
                <a:sym typeface="Courier New"/>
              </a:rPr>
              <a:t>"is newStudent inside the persistence context: "</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contains</a:t>
            </a:r>
            <a:r>
              <a:rPr lang="en-US">
                <a:solidFill>
                  <a:srgbClr val="F9FAF4"/>
                </a:solidFill>
                <a:highlight>
                  <a:srgbClr val="1E1F22"/>
                </a:highlight>
                <a:latin typeface="Courier New"/>
                <a:ea typeface="Courier New"/>
                <a:cs typeface="Courier New"/>
                <a:sym typeface="Courier New"/>
              </a:rPr>
              <a:t>(</a:t>
            </a:r>
            <a:r>
              <a:rPr lang="en-US">
                <a:solidFill>
                  <a:srgbClr val="F3EC79"/>
                </a:solidFill>
                <a:highlight>
                  <a:srgbClr val="1E1F22"/>
                </a:highlight>
                <a:latin typeface="Courier New"/>
                <a:ea typeface="Courier New"/>
                <a:cs typeface="Courier New"/>
                <a:sym typeface="Courier New"/>
              </a:rPr>
              <a:t>newStudent</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6. reattach </a:t>
            </a:r>
            <a:r>
              <a:rPr lang="en-US">
                <a:solidFill>
                  <a:srgbClr val="808080"/>
                </a:solidFill>
                <a:highlight>
                  <a:srgbClr val="1E1F22"/>
                </a:highlight>
                <a:latin typeface="Courier New"/>
                <a:ea typeface="Courier New"/>
                <a:cs typeface="Courier New"/>
                <a:sym typeface="Courier New"/>
              </a:rPr>
              <a:t>the</a:t>
            </a:r>
            <a:r>
              <a:rPr lang="en-US">
                <a:solidFill>
                  <a:srgbClr val="808080"/>
                </a:solidFill>
                <a:highlight>
                  <a:srgbClr val="1E1F22"/>
                </a:highlight>
                <a:latin typeface="Courier New"/>
                <a:ea typeface="Courier New"/>
                <a:cs typeface="Courier New"/>
                <a:sym typeface="Courier New"/>
              </a:rPr>
              <a:t> </a:t>
            </a:r>
            <a:r>
              <a:rPr b="1" lang="en-US">
                <a:solidFill>
                  <a:srgbClr val="808080"/>
                </a:solidFill>
                <a:highlight>
                  <a:srgbClr val="1E1F22"/>
                </a:highlight>
                <a:latin typeface="Courier New"/>
                <a:ea typeface="Courier New"/>
                <a:cs typeface="Courier New"/>
                <a:sym typeface="Courier New"/>
              </a:rPr>
              <a:t>detached </a:t>
            </a:r>
            <a:r>
              <a:rPr lang="en-US">
                <a:solidFill>
                  <a:srgbClr val="808080"/>
                </a:solidFill>
                <a:highlight>
                  <a:srgbClr val="1E1F22"/>
                </a:highlight>
                <a:latin typeface="Courier New"/>
                <a:ea typeface="Courier New"/>
                <a:cs typeface="Courier New"/>
                <a:sym typeface="Courier New"/>
              </a:rPr>
              <a:t>newStudent</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7. update newStudent, change some values like age or email</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8. call flush()</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9. print "is newStudent inside the persistence context: " + call contains()</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10. mark </a:t>
            </a:r>
            <a:r>
              <a:rPr b="1" lang="en-US">
                <a:solidFill>
                  <a:srgbClr val="808080"/>
                </a:solidFill>
                <a:highlight>
                  <a:srgbClr val="1E1F22"/>
                </a:highlight>
                <a:latin typeface="Courier New"/>
                <a:ea typeface="Courier New"/>
                <a:cs typeface="Courier New"/>
                <a:sym typeface="Courier New"/>
              </a:rPr>
              <a:t>managed </a:t>
            </a:r>
            <a:r>
              <a:rPr lang="en-US">
                <a:solidFill>
                  <a:srgbClr val="808080"/>
                </a:solidFill>
                <a:highlight>
                  <a:srgbClr val="1E1F22"/>
                </a:highlight>
                <a:latin typeface="Courier New"/>
                <a:ea typeface="Courier New"/>
                <a:cs typeface="Courier New"/>
                <a:sym typeface="Courier New"/>
              </a:rPr>
              <a:t>newStudent for deletion</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11. call flush()</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12. print "is newStudent inside the persistence context: " + call contains()</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getTransaction</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commit</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5" name="Shape 965"/>
        <p:cNvGrpSpPr/>
        <p:nvPr/>
      </p:nvGrpSpPr>
      <p:grpSpPr>
        <a:xfrm>
          <a:off x="0" y="0"/>
          <a:ext cx="0" cy="0"/>
          <a:chOff x="0" y="0"/>
          <a:chExt cx="0" cy="0"/>
        </a:xfrm>
      </p:grpSpPr>
      <p:pic>
        <p:nvPicPr>
          <p:cNvPr descr="image.png" id="966" name="Google Shape;966;p119"/>
          <p:cNvPicPr preferRelativeResize="0"/>
          <p:nvPr/>
        </p:nvPicPr>
        <p:blipFill rotWithShape="1">
          <a:blip r:embed="rId3">
            <a:alphaModFix/>
          </a:blip>
          <a:srcRect b="0" l="0" r="0" t="0"/>
          <a:stretch/>
        </p:blipFill>
        <p:spPr>
          <a:xfrm>
            <a:off x="0" y="-80350"/>
            <a:ext cx="12192000" cy="6858000"/>
          </a:xfrm>
          <a:prstGeom prst="rect">
            <a:avLst/>
          </a:prstGeom>
          <a:noFill/>
          <a:ln>
            <a:noFill/>
          </a:ln>
        </p:spPr>
      </p:pic>
      <p:sp>
        <p:nvSpPr>
          <p:cNvPr id="967" name="Google Shape;967;p119"/>
          <p:cNvSpPr txBox="1"/>
          <p:nvPr/>
        </p:nvSpPr>
        <p:spPr>
          <a:xfrm>
            <a:off x="571500" y="29467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M6_Activity4 - Output (Console)</a:t>
            </a:r>
            <a:endParaRPr b="1" sz="3600">
              <a:solidFill>
                <a:srgbClr val="B91C1C"/>
              </a:solidFill>
              <a:latin typeface="Poppins"/>
              <a:ea typeface="Poppins"/>
              <a:cs typeface="Poppins"/>
              <a:sym typeface="Poppins"/>
            </a:endParaRPr>
          </a:p>
        </p:txBody>
      </p:sp>
      <p:sp>
        <p:nvSpPr>
          <p:cNvPr id="968" name="Google Shape;968;p119"/>
          <p:cNvSpPr/>
          <p:nvPr/>
        </p:nvSpPr>
        <p:spPr>
          <a:xfrm>
            <a:off x="571500" y="10575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9" name="Google Shape;969;p119"/>
          <p:cNvSpPr txBox="1"/>
          <p:nvPr/>
        </p:nvSpPr>
        <p:spPr>
          <a:xfrm>
            <a:off x="571500" y="1533175"/>
            <a:ext cx="5514000" cy="44052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insert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into</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(age, email, 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values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 ?, ?)</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is newStudent inside the persistence context: false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s1_0.created_at,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BEBEB"/>
              </a:solidFill>
              <a:highlight>
                <a:srgbClr val="2F2F2F"/>
              </a:highlight>
              <a:latin typeface="Courier New"/>
              <a:ea typeface="Courier New"/>
              <a:cs typeface="Courier New"/>
              <a:sym typeface="Courier New"/>
            </a:endParaRPr>
          </a:p>
        </p:txBody>
      </p:sp>
      <p:sp>
        <p:nvSpPr>
          <p:cNvPr id="970" name="Google Shape;970;p119"/>
          <p:cNvSpPr txBox="1"/>
          <p:nvPr/>
        </p:nvSpPr>
        <p:spPr>
          <a:xfrm>
            <a:off x="6400800" y="1545000"/>
            <a:ext cx="5219700" cy="3768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update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is newStudent inside the persistence context: true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delete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is newStudent inside the persistence context: false</a:t>
            </a:r>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pic>
        <p:nvPicPr>
          <p:cNvPr descr="image.png" id="975" name="Google Shape;975;p12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76" name="Google Shape;976;p120"/>
          <p:cNvSpPr txBox="1"/>
          <p:nvPr/>
        </p:nvSpPr>
        <p:spPr>
          <a:xfrm>
            <a:off x="784350" y="2507700"/>
            <a:ext cx="10623300" cy="1842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Fetching and Cascading Strategies</a:t>
            </a:r>
            <a:endParaRPr b="1" sz="5700">
              <a:solidFill>
                <a:srgbClr val="B91C1C"/>
              </a:solidFill>
              <a:latin typeface="Poppins"/>
              <a:ea typeface="Poppins"/>
              <a:cs typeface="Poppins"/>
              <a:sym typeface="Poppins"/>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0" name="Shape 980"/>
        <p:cNvGrpSpPr/>
        <p:nvPr/>
      </p:nvGrpSpPr>
      <p:grpSpPr>
        <a:xfrm>
          <a:off x="0" y="0"/>
          <a:ext cx="0" cy="0"/>
          <a:chOff x="0" y="0"/>
          <a:chExt cx="0" cy="0"/>
        </a:xfrm>
      </p:grpSpPr>
      <p:pic>
        <p:nvPicPr>
          <p:cNvPr descr="image.png" id="981" name="Google Shape;981;p12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82" name="Google Shape;982;p12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Objectives</a:t>
            </a:r>
            <a:endParaRPr b="1" sz="3600">
              <a:solidFill>
                <a:srgbClr val="B91C1C"/>
              </a:solidFill>
              <a:latin typeface="Poppins"/>
              <a:ea typeface="Poppins"/>
              <a:cs typeface="Poppins"/>
              <a:sym typeface="Poppins"/>
            </a:endParaRPr>
          </a:p>
        </p:txBody>
      </p:sp>
      <p:sp>
        <p:nvSpPr>
          <p:cNvPr id="983" name="Google Shape;983;p12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4" name="Google Shape;984;p121"/>
          <p:cNvSpPr txBox="1"/>
          <p:nvPr/>
        </p:nvSpPr>
        <p:spPr>
          <a:xfrm>
            <a:off x="571500" y="1693950"/>
            <a:ext cx="11049000" cy="1523700"/>
          </a:xfrm>
          <a:prstGeom prst="rect">
            <a:avLst/>
          </a:prstGeom>
          <a:noFill/>
          <a:ln>
            <a:noFill/>
          </a:ln>
        </p:spPr>
        <p:txBody>
          <a:bodyPr anchorCtr="0" anchor="t" bIns="0" lIns="0" spcFirstLastPara="1" rIns="0" wrap="square" tIns="0">
            <a:spAutoFit/>
          </a:bodyPr>
          <a:lstStyle/>
          <a:p>
            <a:pPr indent="-393700" lvl="0" marL="457200" marR="0" rtl="0" algn="l">
              <a:lnSpc>
                <a:spcPct val="115000"/>
              </a:lnSpc>
              <a:spcBef>
                <a:spcPts val="0"/>
              </a:spcBef>
              <a:spcAft>
                <a:spcPts val="0"/>
              </a:spcAft>
              <a:buClr>
                <a:schemeClr val="dk1"/>
              </a:buClr>
              <a:buSzPts val="2600"/>
              <a:buFont typeface="Poppins"/>
              <a:buAutoNum type="arabicPeriod"/>
            </a:pPr>
            <a:r>
              <a:rPr lang="en-US" sz="3000">
                <a:solidFill>
                  <a:schemeClr val="dk1"/>
                </a:solidFill>
                <a:latin typeface="Poppins"/>
                <a:ea typeface="Poppins"/>
                <a:cs typeface="Poppins"/>
                <a:sym typeface="Poppins"/>
              </a:rPr>
              <a:t>Understand what fetching and cascading strategies are in JPA</a:t>
            </a:r>
            <a:endParaRPr sz="3000">
              <a:solidFill>
                <a:schemeClr val="dk1"/>
              </a:solidFill>
              <a:latin typeface="Poppins"/>
              <a:ea typeface="Poppins"/>
              <a:cs typeface="Poppins"/>
              <a:sym typeface="Poppins"/>
            </a:endParaRPr>
          </a:p>
          <a:p>
            <a:pPr indent="-419100" lvl="0" marL="457200" marR="0" rtl="0" algn="l">
              <a:lnSpc>
                <a:spcPct val="115000"/>
              </a:lnSpc>
              <a:spcBef>
                <a:spcPts val="0"/>
              </a:spcBef>
              <a:spcAft>
                <a:spcPts val="0"/>
              </a:spcAft>
              <a:buClr>
                <a:schemeClr val="dk1"/>
              </a:buClr>
              <a:buSzPts val="3000"/>
              <a:buFont typeface="Poppins"/>
              <a:buAutoNum type="arabicPeriod"/>
            </a:pPr>
            <a:r>
              <a:rPr lang="en-US" sz="3000">
                <a:solidFill>
                  <a:schemeClr val="dk1"/>
                </a:solidFill>
                <a:latin typeface="Poppins"/>
                <a:ea typeface="Poppins"/>
                <a:cs typeface="Poppins"/>
                <a:sym typeface="Poppins"/>
              </a:rPr>
              <a:t>Learn the different Fetching and Cascade Types</a:t>
            </a:r>
            <a:endParaRPr sz="2600">
              <a:solidFill>
                <a:schemeClr val="dk1"/>
              </a:solidFill>
              <a:latin typeface="Poppins"/>
              <a:ea typeface="Poppins"/>
              <a:cs typeface="Poppins"/>
              <a:sym typeface="Poppins"/>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8" name="Shape 988"/>
        <p:cNvGrpSpPr/>
        <p:nvPr/>
      </p:nvGrpSpPr>
      <p:grpSpPr>
        <a:xfrm>
          <a:off x="0" y="0"/>
          <a:ext cx="0" cy="0"/>
          <a:chOff x="0" y="0"/>
          <a:chExt cx="0" cy="0"/>
        </a:xfrm>
      </p:grpSpPr>
      <p:pic>
        <p:nvPicPr>
          <p:cNvPr descr="image.png" id="989" name="Google Shape;989;p12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90" name="Google Shape;990;p12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Fetching Strategies</a:t>
            </a:r>
            <a:endParaRPr b="1" sz="3600">
              <a:solidFill>
                <a:srgbClr val="B91C1C"/>
              </a:solidFill>
              <a:latin typeface="Poppins"/>
              <a:ea typeface="Poppins"/>
              <a:cs typeface="Poppins"/>
              <a:sym typeface="Poppins"/>
            </a:endParaRPr>
          </a:p>
        </p:txBody>
      </p:sp>
      <p:sp>
        <p:nvSpPr>
          <p:cNvPr id="991" name="Google Shape;991;p12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2" name="Google Shape;992;p122"/>
          <p:cNvSpPr txBox="1"/>
          <p:nvPr/>
        </p:nvSpPr>
        <p:spPr>
          <a:xfrm>
            <a:off x="571500" y="1693950"/>
            <a:ext cx="11049000" cy="4132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lang="en-US" sz="3000">
                <a:solidFill>
                  <a:schemeClr val="dk1"/>
                </a:solidFill>
                <a:latin typeface="Poppins"/>
                <a:ea typeface="Poppins"/>
                <a:cs typeface="Poppins"/>
                <a:sym typeface="Poppins"/>
              </a:rPr>
              <a:t>Fetching Strategy decides when JPA/Hibernate loads related entities from the database.</a:t>
            </a:r>
            <a:endParaRPr sz="3000">
              <a:solidFill>
                <a:schemeClr val="dk1"/>
              </a:solidFill>
              <a:latin typeface="Poppins"/>
              <a:ea typeface="Poppins"/>
              <a:cs typeface="Poppins"/>
              <a:sym typeface="Poppins"/>
            </a:endParaRPr>
          </a:p>
          <a:p>
            <a:pPr indent="0" lvl="0" marL="0" marR="0" rtl="0" algn="l">
              <a:lnSpc>
                <a:spcPct val="150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There are two strategies:</a:t>
            </a:r>
            <a:endParaRPr sz="3000">
              <a:solidFill>
                <a:schemeClr val="dk1"/>
              </a:solidFill>
              <a:latin typeface="Poppins"/>
              <a:ea typeface="Poppins"/>
              <a:cs typeface="Poppins"/>
              <a:sym typeface="Poppins"/>
            </a:endParaRPr>
          </a:p>
          <a:p>
            <a:pPr indent="-419100" lvl="0" marL="457200" marR="0" rtl="0" algn="l">
              <a:lnSpc>
                <a:spcPct val="115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EAGER</a:t>
            </a:r>
            <a:r>
              <a:rPr lang="en-US" sz="3000">
                <a:solidFill>
                  <a:schemeClr val="dk1"/>
                </a:solidFill>
                <a:latin typeface="Poppins"/>
                <a:ea typeface="Poppins"/>
                <a:cs typeface="Poppins"/>
                <a:sym typeface="Poppins"/>
              </a:rPr>
              <a:t> – Load related entity immediately with the parent entity.</a:t>
            </a:r>
            <a:endParaRPr sz="3000">
              <a:solidFill>
                <a:schemeClr val="dk1"/>
              </a:solidFill>
              <a:latin typeface="Poppins"/>
              <a:ea typeface="Poppins"/>
              <a:cs typeface="Poppins"/>
              <a:sym typeface="Poppins"/>
            </a:endParaRPr>
          </a:p>
          <a:p>
            <a:pPr indent="-419100" lvl="0" marL="457200" marR="0" rtl="0" algn="l">
              <a:lnSpc>
                <a:spcPct val="115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LAZY</a:t>
            </a:r>
            <a:r>
              <a:rPr lang="en-US" sz="3000">
                <a:solidFill>
                  <a:schemeClr val="dk1"/>
                </a:solidFill>
                <a:latin typeface="Poppins"/>
                <a:ea typeface="Poppins"/>
                <a:cs typeface="Poppins"/>
                <a:sym typeface="Poppins"/>
              </a:rPr>
              <a:t> – Load related entity only when accessed.</a:t>
            </a:r>
            <a:endParaRPr sz="3000">
              <a:solidFill>
                <a:schemeClr val="dk1"/>
              </a:solidFill>
              <a:latin typeface="Poppins"/>
              <a:ea typeface="Poppins"/>
              <a:cs typeface="Poppins"/>
              <a:sym typeface="Poppins"/>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6" name="Shape 996"/>
        <p:cNvGrpSpPr/>
        <p:nvPr/>
      </p:nvGrpSpPr>
      <p:grpSpPr>
        <a:xfrm>
          <a:off x="0" y="0"/>
          <a:ext cx="0" cy="0"/>
          <a:chOff x="0" y="0"/>
          <a:chExt cx="0" cy="0"/>
        </a:xfrm>
      </p:grpSpPr>
      <p:pic>
        <p:nvPicPr>
          <p:cNvPr descr="image.png" id="997" name="Google Shape;997;p12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98" name="Google Shape;998;p12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FetchType.LAZY</a:t>
            </a:r>
            <a:endParaRPr b="1" sz="3600">
              <a:solidFill>
                <a:srgbClr val="B91C1C"/>
              </a:solidFill>
              <a:latin typeface="Poppins"/>
              <a:ea typeface="Poppins"/>
              <a:cs typeface="Poppins"/>
              <a:sym typeface="Poppins"/>
            </a:endParaRPr>
          </a:p>
        </p:txBody>
      </p:sp>
      <p:sp>
        <p:nvSpPr>
          <p:cNvPr id="999" name="Google Shape;999;p123"/>
          <p:cNvSpPr/>
          <p:nvPr/>
        </p:nvSpPr>
        <p:spPr>
          <a:xfrm>
            <a:off x="571500" y="1221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0" name="Google Shape;1000;p123"/>
          <p:cNvSpPr txBox="1"/>
          <p:nvPr/>
        </p:nvSpPr>
        <p:spPr>
          <a:xfrm>
            <a:off x="571500" y="1524275"/>
            <a:ext cx="11049000" cy="5241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To set fetch type LAZY</a:t>
            </a:r>
            <a:r>
              <a:rPr lang="en-US" sz="3000">
                <a:solidFill>
                  <a:schemeClr val="dk1"/>
                </a:solidFill>
                <a:latin typeface="Poppins"/>
                <a:ea typeface="Poppins"/>
                <a:cs typeface="Poppins"/>
                <a:sym typeface="Poppins"/>
              </a:rPr>
              <a:t>:</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Now, when retrieving products, categories are not loaded until getCategories() is called.</a:t>
            </a:r>
            <a:endParaRPr sz="3000">
              <a:solidFill>
                <a:schemeClr val="dk1"/>
              </a:solidFill>
              <a:latin typeface="Poppins"/>
              <a:ea typeface="Poppins"/>
              <a:cs typeface="Poppins"/>
              <a:sym typeface="Poppins"/>
            </a:endParaRPr>
          </a:p>
          <a:p>
            <a:pPr indent="0" lvl="0" marL="0" marR="0" rtl="0" algn="l">
              <a:lnSpc>
                <a:spcPct val="150000"/>
              </a:lnSpc>
              <a:spcBef>
                <a:spcPts val="0"/>
              </a:spcBef>
              <a:spcAft>
                <a:spcPts val="0"/>
              </a:spcAft>
              <a:buNone/>
            </a:pPr>
            <a:r>
              <a:t/>
            </a:r>
            <a:endParaRPr sz="3000">
              <a:solidFill>
                <a:schemeClr val="dk1"/>
              </a:solidFill>
              <a:latin typeface="Poppins"/>
              <a:ea typeface="Poppins"/>
              <a:cs typeface="Poppins"/>
              <a:sym typeface="Poppins"/>
            </a:endParaRPr>
          </a:p>
        </p:txBody>
      </p:sp>
      <p:sp>
        <p:nvSpPr>
          <p:cNvPr id="1001" name="Google Shape;1001;p123"/>
          <p:cNvSpPr txBox="1"/>
          <p:nvPr/>
        </p:nvSpPr>
        <p:spPr>
          <a:xfrm>
            <a:off x="571500" y="2268150"/>
            <a:ext cx="11049000" cy="2630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@Entity</a:t>
            </a:r>
            <a:endParaRPr i="1">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@Table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"products"</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class</a:t>
            </a: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Product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i="1">
              <a:solidFill>
                <a:srgbClr val="A0A0A0"/>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@ManyToOne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fetch</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i="1" lang="en-US">
                <a:solidFill>
                  <a:srgbClr val="CC81BA"/>
                </a:solidFill>
                <a:highlight>
                  <a:srgbClr val="1E1F22"/>
                </a:highlight>
                <a:latin typeface="Courier New"/>
                <a:ea typeface="Courier New"/>
                <a:cs typeface="Courier New"/>
                <a:sym typeface="Courier New"/>
              </a:rPr>
              <a:t>FetchType</a:t>
            </a:r>
            <a:r>
              <a:rPr lang="en-US">
                <a:solidFill>
                  <a:srgbClr val="E6E6FA"/>
                </a:solidFill>
                <a:highlight>
                  <a:srgbClr val="1E1F22"/>
                </a:highlight>
                <a:latin typeface="Courier New"/>
                <a:ea typeface="Courier New"/>
                <a:cs typeface="Courier New"/>
                <a:sym typeface="Courier New"/>
              </a:rPr>
              <a:t>.</a:t>
            </a:r>
            <a:r>
              <a:rPr b="1" i="1" lang="en-US">
                <a:solidFill>
                  <a:srgbClr val="8DDAF8"/>
                </a:solidFill>
                <a:highlight>
                  <a:srgbClr val="1E1F22"/>
                </a:highlight>
                <a:latin typeface="Courier New"/>
                <a:ea typeface="Courier New"/>
                <a:cs typeface="Courier New"/>
                <a:sym typeface="Courier New"/>
              </a:rPr>
              <a:t>LAZY</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i="1" lang="en-US">
                <a:solidFill>
                  <a:srgbClr val="A0A0A0"/>
                </a:solidFill>
                <a:highlight>
                  <a:srgbClr val="1E1F22"/>
                </a:highlight>
                <a:latin typeface="Courier New"/>
                <a:ea typeface="Courier New"/>
                <a:cs typeface="Courier New"/>
                <a:sym typeface="Courier New"/>
              </a:rPr>
              <a:t>@JoinColumn</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"category_id"</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private</a:t>
            </a:r>
            <a:r>
              <a:rPr lang="en-US">
                <a:solidFill>
                  <a:srgbClr val="D9E8F7"/>
                </a:solidFill>
                <a:highlight>
                  <a:srgbClr val="1E1F22"/>
                </a:highlight>
                <a:latin typeface="Courier New"/>
                <a:ea typeface="Courier New"/>
                <a:cs typeface="Courier New"/>
                <a:sym typeface="Courier New"/>
              </a:rPr>
              <a:t> </a:t>
            </a:r>
            <a:r>
              <a:rPr lang="en-US" u="sng">
                <a:solidFill>
                  <a:srgbClr val="66AFF9"/>
                </a:solidFill>
                <a:highlight>
                  <a:srgbClr val="1E1F22"/>
                </a:highlight>
                <a:latin typeface="Courier New"/>
                <a:ea typeface="Courier New"/>
                <a:cs typeface="Courier New"/>
                <a:sym typeface="Courier New"/>
              </a:rPr>
              <a:t>Category</a:t>
            </a:r>
            <a:r>
              <a:rPr lang="en-US">
                <a:solidFill>
                  <a:srgbClr val="D9E8F7"/>
                </a:solidFill>
                <a:highlight>
                  <a:srgbClr val="1E1F22"/>
                </a:highlight>
                <a:latin typeface="Courier New"/>
                <a:ea typeface="Courier New"/>
                <a:cs typeface="Courier New"/>
                <a:sym typeface="Courier New"/>
              </a:rPr>
              <a:t> </a:t>
            </a:r>
            <a:r>
              <a:rPr lang="en-US">
                <a:solidFill>
                  <a:srgbClr val="66E1F8"/>
                </a:solidFill>
                <a:highlight>
                  <a:srgbClr val="1E1F22"/>
                </a:highlight>
                <a:latin typeface="Courier New"/>
                <a:ea typeface="Courier New"/>
                <a:cs typeface="Courier New"/>
                <a:sym typeface="Courier New"/>
              </a:rPr>
              <a:t>category</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5" name="Shape 1005"/>
        <p:cNvGrpSpPr/>
        <p:nvPr/>
      </p:nvGrpSpPr>
      <p:grpSpPr>
        <a:xfrm>
          <a:off x="0" y="0"/>
          <a:ext cx="0" cy="0"/>
          <a:chOff x="0" y="0"/>
          <a:chExt cx="0" cy="0"/>
        </a:xfrm>
      </p:grpSpPr>
      <p:pic>
        <p:nvPicPr>
          <p:cNvPr descr="image.png" id="1006" name="Google Shape;1006;p12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07" name="Google Shape;1007;p12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FetchType.EAGER</a:t>
            </a:r>
            <a:endParaRPr b="1" sz="3600">
              <a:solidFill>
                <a:srgbClr val="B91C1C"/>
              </a:solidFill>
              <a:latin typeface="Poppins"/>
              <a:ea typeface="Poppins"/>
              <a:cs typeface="Poppins"/>
              <a:sym typeface="Poppins"/>
            </a:endParaRPr>
          </a:p>
        </p:txBody>
      </p:sp>
      <p:sp>
        <p:nvSpPr>
          <p:cNvPr id="1008" name="Google Shape;1008;p124"/>
          <p:cNvSpPr/>
          <p:nvPr/>
        </p:nvSpPr>
        <p:spPr>
          <a:xfrm>
            <a:off x="571500" y="1221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9" name="Google Shape;1009;p124"/>
          <p:cNvSpPr txBox="1"/>
          <p:nvPr/>
        </p:nvSpPr>
        <p:spPr>
          <a:xfrm>
            <a:off x="571500" y="1524275"/>
            <a:ext cx="11049000" cy="5241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To set fetch type EAGER:</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Now, when retrieving products, categories are loaded eagerly.</a:t>
            </a:r>
            <a:endParaRPr sz="3000">
              <a:solidFill>
                <a:schemeClr val="dk1"/>
              </a:solidFill>
              <a:latin typeface="Poppins"/>
              <a:ea typeface="Poppins"/>
              <a:cs typeface="Poppins"/>
              <a:sym typeface="Poppins"/>
            </a:endParaRPr>
          </a:p>
          <a:p>
            <a:pPr indent="0" lvl="0" marL="0" marR="0" rtl="0" algn="l">
              <a:lnSpc>
                <a:spcPct val="150000"/>
              </a:lnSpc>
              <a:spcBef>
                <a:spcPts val="0"/>
              </a:spcBef>
              <a:spcAft>
                <a:spcPts val="0"/>
              </a:spcAft>
              <a:buNone/>
            </a:pPr>
            <a:r>
              <a:t/>
            </a:r>
            <a:endParaRPr sz="3000">
              <a:solidFill>
                <a:schemeClr val="dk1"/>
              </a:solidFill>
              <a:latin typeface="Poppins"/>
              <a:ea typeface="Poppins"/>
              <a:cs typeface="Poppins"/>
              <a:sym typeface="Poppins"/>
            </a:endParaRPr>
          </a:p>
        </p:txBody>
      </p:sp>
      <p:sp>
        <p:nvSpPr>
          <p:cNvPr id="1010" name="Google Shape;1010;p124"/>
          <p:cNvSpPr txBox="1"/>
          <p:nvPr/>
        </p:nvSpPr>
        <p:spPr>
          <a:xfrm>
            <a:off x="571500" y="2268150"/>
            <a:ext cx="11049000" cy="2630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@Entity</a:t>
            </a:r>
            <a:endParaRPr i="1">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@Table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"products"</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class</a:t>
            </a: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Product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i="1">
              <a:solidFill>
                <a:srgbClr val="A0A0A0"/>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@ManyToOne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fetch</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i="1" lang="en-US">
                <a:solidFill>
                  <a:srgbClr val="CC81BA"/>
                </a:solidFill>
                <a:highlight>
                  <a:srgbClr val="1E1F22"/>
                </a:highlight>
                <a:latin typeface="Courier New"/>
                <a:ea typeface="Courier New"/>
                <a:cs typeface="Courier New"/>
                <a:sym typeface="Courier New"/>
              </a:rPr>
              <a:t>FetchType</a:t>
            </a:r>
            <a:r>
              <a:rPr lang="en-US">
                <a:solidFill>
                  <a:srgbClr val="E6E6FA"/>
                </a:solidFill>
                <a:highlight>
                  <a:srgbClr val="1E1F22"/>
                </a:highlight>
                <a:latin typeface="Courier New"/>
                <a:ea typeface="Courier New"/>
                <a:cs typeface="Courier New"/>
                <a:sym typeface="Courier New"/>
              </a:rPr>
              <a:t>.</a:t>
            </a:r>
            <a:r>
              <a:rPr b="1" i="1" lang="en-US">
                <a:solidFill>
                  <a:srgbClr val="8DDAF8"/>
                </a:solidFill>
                <a:highlight>
                  <a:srgbClr val="1E1F22"/>
                </a:highlight>
                <a:latin typeface="Courier New"/>
                <a:ea typeface="Courier New"/>
                <a:cs typeface="Courier New"/>
                <a:sym typeface="Courier New"/>
              </a:rPr>
              <a:t>EAGER</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i="1" lang="en-US">
                <a:solidFill>
                  <a:srgbClr val="A0A0A0"/>
                </a:solidFill>
                <a:highlight>
                  <a:srgbClr val="1E1F22"/>
                </a:highlight>
                <a:latin typeface="Courier New"/>
                <a:ea typeface="Courier New"/>
                <a:cs typeface="Courier New"/>
                <a:sym typeface="Courier New"/>
              </a:rPr>
              <a:t>@JoinColumn</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"category_id"</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private</a:t>
            </a:r>
            <a:r>
              <a:rPr lang="en-US">
                <a:solidFill>
                  <a:srgbClr val="D9E8F7"/>
                </a:solidFill>
                <a:highlight>
                  <a:srgbClr val="1E1F22"/>
                </a:highlight>
                <a:latin typeface="Courier New"/>
                <a:ea typeface="Courier New"/>
                <a:cs typeface="Courier New"/>
                <a:sym typeface="Courier New"/>
              </a:rPr>
              <a:t> </a:t>
            </a:r>
            <a:r>
              <a:rPr lang="en-US" u="sng">
                <a:solidFill>
                  <a:srgbClr val="66AFF9"/>
                </a:solidFill>
                <a:highlight>
                  <a:srgbClr val="1E1F22"/>
                </a:highlight>
                <a:latin typeface="Courier New"/>
                <a:ea typeface="Courier New"/>
                <a:cs typeface="Courier New"/>
                <a:sym typeface="Courier New"/>
              </a:rPr>
              <a:t>Category</a:t>
            </a:r>
            <a:r>
              <a:rPr lang="en-US">
                <a:solidFill>
                  <a:srgbClr val="D9E8F7"/>
                </a:solidFill>
                <a:highlight>
                  <a:srgbClr val="1E1F22"/>
                </a:highlight>
                <a:latin typeface="Courier New"/>
                <a:ea typeface="Courier New"/>
                <a:cs typeface="Courier New"/>
                <a:sym typeface="Courier New"/>
              </a:rPr>
              <a:t> </a:t>
            </a:r>
            <a:r>
              <a:rPr lang="en-US">
                <a:solidFill>
                  <a:srgbClr val="66E1F8"/>
                </a:solidFill>
                <a:highlight>
                  <a:srgbClr val="1E1F22"/>
                </a:highlight>
                <a:latin typeface="Courier New"/>
                <a:ea typeface="Courier New"/>
                <a:cs typeface="Courier New"/>
                <a:sym typeface="Courier New"/>
              </a:rPr>
              <a:t>category</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4" name="Shape 1014"/>
        <p:cNvGrpSpPr/>
        <p:nvPr/>
      </p:nvGrpSpPr>
      <p:grpSpPr>
        <a:xfrm>
          <a:off x="0" y="0"/>
          <a:ext cx="0" cy="0"/>
          <a:chOff x="0" y="0"/>
          <a:chExt cx="0" cy="0"/>
        </a:xfrm>
      </p:grpSpPr>
      <p:pic>
        <p:nvPicPr>
          <p:cNvPr descr="image.png" id="1015" name="Google Shape;1015;p12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16" name="Google Shape;1016;p12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When to Use Each FetchType</a:t>
            </a:r>
            <a:endParaRPr b="1" sz="3600">
              <a:solidFill>
                <a:srgbClr val="B91C1C"/>
              </a:solidFill>
              <a:latin typeface="Poppins"/>
              <a:ea typeface="Poppins"/>
              <a:cs typeface="Poppins"/>
              <a:sym typeface="Poppins"/>
            </a:endParaRPr>
          </a:p>
        </p:txBody>
      </p:sp>
      <p:sp>
        <p:nvSpPr>
          <p:cNvPr id="1017" name="Google Shape;1017;p12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8" name="Google Shape;1018;p125"/>
          <p:cNvSpPr txBox="1"/>
          <p:nvPr/>
        </p:nvSpPr>
        <p:spPr>
          <a:xfrm>
            <a:off x="571500" y="1693950"/>
            <a:ext cx="11049000" cy="1908600"/>
          </a:xfrm>
          <a:prstGeom prst="rect">
            <a:avLst/>
          </a:prstGeom>
          <a:noFill/>
          <a:ln>
            <a:noFill/>
          </a:ln>
        </p:spPr>
        <p:txBody>
          <a:bodyPr anchorCtr="0" anchor="t" bIns="0" lIns="0" spcFirstLastPara="1" rIns="0" wrap="square" tIns="0">
            <a:spAutoFit/>
          </a:bodyPr>
          <a:lstStyle/>
          <a:p>
            <a:pPr indent="-425450" lvl="0" marL="457200" marR="0" rtl="0" algn="l">
              <a:lnSpc>
                <a:spcPct val="150000"/>
              </a:lnSpc>
              <a:spcBef>
                <a:spcPts val="0"/>
              </a:spcBef>
              <a:spcAft>
                <a:spcPts val="0"/>
              </a:spcAft>
              <a:buClr>
                <a:schemeClr val="dk1"/>
              </a:buClr>
              <a:buSzPts val="3100"/>
              <a:buFont typeface="Poppins"/>
              <a:buChar char="●"/>
            </a:pPr>
            <a:r>
              <a:rPr b="1" lang="en-US" sz="3100">
                <a:solidFill>
                  <a:schemeClr val="dk1"/>
                </a:solidFill>
                <a:latin typeface="Poppins"/>
                <a:ea typeface="Poppins"/>
                <a:cs typeface="Poppins"/>
                <a:sym typeface="Poppins"/>
              </a:rPr>
              <a:t>EAGER</a:t>
            </a:r>
            <a:r>
              <a:rPr lang="en-US" sz="3100">
                <a:solidFill>
                  <a:schemeClr val="dk1"/>
                </a:solidFill>
                <a:latin typeface="Poppins"/>
                <a:ea typeface="Poppins"/>
                <a:cs typeface="Poppins"/>
                <a:sym typeface="Poppins"/>
              </a:rPr>
              <a:t>: Use for small, always-needed relationships.</a:t>
            </a:r>
            <a:endParaRPr sz="3100">
              <a:solidFill>
                <a:schemeClr val="dk1"/>
              </a:solidFill>
              <a:latin typeface="Poppins"/>
              <a:ea typeface="Poppins"/>
              <a:cs typeface="Poppins"/>
              <a:sym typeface="Poppins"/>
            </a:endParaRPr>
          </a:p>
          <a:p>
            <a:pPr indent="-425450" lvl="0" marL="457200" marR="0" rtl="0" algn="l">
              <a:lnSpc>
                <a:spcPct val="150000"/>
              </a:lnSpc>
              <a:spcBef>
                <a:spcPts val="0"/>
              </a:spcBef>
              <a:spcAft>
                <a:spcPts val="0"/>
              </a:spcAft>
              <a:buClr>
                <a:schemeClr val="dk1"/>
              </a:buClr>
              <a:buSzPts val="3100"/>
              <a:buFont typeface="Poppins"/>
              <a:buChar char="●"/>
            </a:pPr>
            <a:r>
              <a:rPr b="1" lang="en-US" sz="3100">
                <a:solidFill>
                  <a:schemeClr val="dk1"/>
                </a:solidFill>
                <a:latin typeface="Poppins"/>
                <a:ea typeface="Poppins"/>
                <a:cs typeface="Poppins"/>
                <a:sym typeface="Poppins"/>
              </a:rPr>
              <a:t>LAZY</a:t>
            </a:r>
            <a:r>
              <a:rPr lang="en-US" sz="3100">
                <a:solidFill>
                  <a:schemeClr val="dk1"/>
                </a:solidFill>
                <a:latin typeface="Poppins"/>
                <a:ea typeface="Poppins"/>
                <a:cs typeface="Poppins"/>
                <a:sym typeface="Poppins"/>
              </a:rPr>
              <a:t>: Use for large collections or optional relationships to improve performance.</a:t>
            </a:r>
            <a:endParaRPr sz="3100">
              <a:solidFill>
                <a:schemeClr val="dk1"/>
              </a:solidFill>
              <a:latin typeface="Poppins"/>
              <a:ea typeface="Poppins"/>
              <a:cs typeface="Poppins"/>
              <a:sym typeface="Poppins"/>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2" name="Shape 1022"/>
        <p:cNvGrpSpPr/>
        <p:nvPr/>
      </p:nvGrpSpPr>
      <p:grpSpPr>
        <a:xfrm>
          <a:off x="0" y="0"/>
          <a:ext cx="0" cy="0"/>
          <a:chOff x="0" y="0"/>
          <a:chExt cx="0" cy="0"/>
        </a:xfrm>
      </p:grpSpPr>
      <p:pic>
        <p:nvPicPr>
          <p:cNvPr descr="image.png" id="1023" name="Google Shape;1023;p12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24" name="Google Shape;1024;p12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What is Cascading in JPA?</a:t>
            </a:r>
            <a:endParaRPr b="1" sz="3600">
              <a:solidFill>
                <a:srgbClr val="B91C1C"/>
              </a:solidFill>
              <a:latin typeface="Poppins"/>
              <a:ea typeface="Poppins"/>
              <a:cs typeface="Poppins"/>
              <a:sym typeface="Poppins"/>
            </a:endParaRPr>
          </a:p>
        </p:txBody>
      </p:sp>
      <p:sp>
        <p:nvSpPr>
          <p:cNvPr id="1025" name="Google Shape;1025;p12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6" name="Google Shape;1026;p126"/>
          <p:cNvSpPr txBox="1"/>
          <p:nvPr/>
        </p:nvSpPr>
        <p:spPr>
          <a:xfrm>
            <a:off x="571500" y="1693950"/>
            <a:ext cx="11049000" cy="3283200"/>
          </a:xfrm>
          <a:prstGeom prst="rect">
            <a:avLst/>
          </a:prstGeom>
          <a:noFill/>
          <a:ln>
            <a:noFill/>
          </a:ln>
        </p:spPr>
        <p:txBody>
          <a:bodyPr anchorCtr="0" anchor="t" bIns="0" lIns="0" spcFirstLastPara="1" rIns="0" wrap="square" tIns="0">
            <a:spAutoFit/>
          </a:bodyPr>
          <a:lstStyle/>
          <a:p>
            <a:pPr indent="-400050" lvl="0" marL="457200" marR="0" rtl="0" algn="l">
              <a:lnSpc>
                <a:spcPct val="115000"/>
              </a:lnSpc>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Cascading defines what happens to related entities when you perform operations on the parent entity.</a:t>
            </a:r>
            <a:endParaRPr sz="27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400050" lvl="0" marL="457200" marR="0" rtl="0" algn="l">
              <a:lnSpc>
                <a:spcPct val="115000"/>
              </a:lnSpc>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Operations include: </a:t>
            </a:r>
            <a:r>
              <a:rPr b="1" lang="en-US" sz="2700">
                <a:solidFill>
                  <a:schemeClr val="dk1"/>
                </a:solidFill>
                <a:latin typeface="Poppins"/>
                <a:ea typeface="Poppins"/>
                <a:cs typeface="Poppins"/>
                <a:sym typeface="Poppins"/>
              </a:rPr>
              <a:t>PERSIST</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MERGE</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REMOVE</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REFRESH</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DETACH</a:t>
            </a:r>
            <a:r>
              <a:rPr lang="en-US" sz="2700">
                <a:solidFill>
                  <a:schemeClr val="dk1"/>
                </a:solidFill>
                <a:latin typeface="Poppins"/>
                <a:ea typeface="Poppins"/>
                <a:cs typeface="Poppins"/>
                <a:sym typeface="Poppins"/>
              </a:rPr>
              <a:t>.</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0" name="Shape 1030"/>
        <p:cNvGrpSpPr/>
        <p:nvPr/>
      </p:nvGrpSpPr>
      <p:grpSpPr>
        <a:xfrm>
          <a:off x="0" y="0"/>
          <a:ext cx="0" cy="0"/>
          <a:chOff x="0" y="0"/>
          <a:chExt cx="0" cy="0"/>
        </a:xfrm>
      </p:grpSpPr>
      <p:pic>
        <p:nvPicPr>
          <p:cNvPr descr="image.png" id="1031" name="Google Shape;1031;p12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32" name="Google Shape;1032;p12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Cascade Types</a:t>
            </a:r>
            <a:endParaRPr b="1" sz="3600">
              <a:solidFill>
                <a:srgbClr val="B91C1C"/>
              </a:solidFill>
              <a:latin typeface="Poppins"/>
              <a:ea typeface="Poppins"/>
              <a:cs typeface="Poppins"/>
              <a:sym typeface="Poppins"/>
            </a:endParaRPr>
          </a:p>
        </p:txBody>
      </p:sp>
      <p:sp>
        <p:nvSpPr>
          <p:cNvPr id="1033" name="Google Shape;1033;p12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034" name="Google Shape;1034;p127"/>
          <p:cNvGraphicFramePr/>
          <p:nvPr/>
        </p:nvGraphicFramePr>
        <p:xfrm>
          <a:off x="571500" y="1932000"/>
          <a:ext cx="3000000" cy="3000000"/>
        </p:xfrm>
        <a:graphic>
          <a:graphicData uri="http://schemas.openxmlformats.org/drawingml/2006/table">
            <a:tbl>
              <a:tblPr>
                <a:noFill/>
                <a:tableStyleId>{4B106EDE-8917-4D5C-A709-884EA9C3CE55}</a:tableStyleId>
              </a:tblPr>
              <a:tblGrid>
                <a:gridCol w="1847925"/>
                <a:gridCol w="4793025"/>
                <a:gridCol w="4408050"/>
              </a:tblGrid>
              <a:tr h="666575">
                <a:tc>
                  <a:txBody>
                    <a:bodyPr/>
                    <a:lstStyle/>
                    <a:p>
                      <a:pPr indent="0" lvl="0" marL="0" rtl="0" algn="ctr">
                        <a:lnSpc>
                          <a:spcPct val="115000"/>
                        </a:lnSpc>
                        <a:spcBef>
                          <a:spcPts val="0"/>
                        </a:spcBef>
                        <a:spcAft>
                          <a:spcPts val="0"/>
                        </a:spcAft>
                        <a:buNone/>
                      </a:pPr>
                      <a:r>
                        <a:rPr b="1" lang="en-US" sz="1700"/>
                        <a:t>Cascade Type</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700"/>
                        <a:t>Meaning</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700"/>
                        <a:t>Example</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PERSIST</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Save child when parent is saved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entityManager.persist(parent)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MERGE</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Update child when parent is updated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entityManager.merge(parent)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REMOVE</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Delete child when parent is deleted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entityManager.remove(parent)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REFRESH</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Refresh child when parent is refreshed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entityManager.refresh(parent)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DETACH</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Detach child when parent is detached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entityManager.detach(parent)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pic>
        <p:nvPicPr>
          <p:cNvPr descr="image.png" id="1039" name="Google Shape;1039;p12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40" name="Google Shape;1040;p12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CascadeType.ALL</a:t>
            </a:r>
            <a:endParaRPr b="1" sz="3600">
              <a:solidFill>
                <a:srgbClr val="B91C1C"/>
              </a:solidFill>
              <a:latin typeface="Poppins"/>
              <a:ea typeface="Poppins"/>
              <a:cs typeface="Poppins"/>
              <a:sym typeface="Poppins"/>
            </a:endParaRPr>
          </a:p>
        </p:txBody>
      </p:sp>
      <p:sp>
        <p:nvSpPr>
          <p:cNvPr id="1041" name="Google Shape;1041;p12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1042" name="Google Shape;1042;p128"/>
          <p:cNvPicPr preferRelativeResize="0"/>
          <p:nvPr/>
        </p:nvPicPr>
        <p:blipFill>
          <a:blip r:embed="rId4">
            <a:alphaModFix/>
          </a:blip>
          <a:stretch>
            <a:fillRect/>
          </a:stretch>
        </p:blipFill>
        <p:spPr>
          <a:xfrm>
            <a:off x="2852475" y="3300313"/>
            <a:ext cx="6487053" cy="1484988"/>
          </a:xfrm>
          <a:prstGeom prst="rect">
            <a:avLst/>
          </a:prstGeom>
          <a:noFill/>
          <a:ln>
            <a:noFill/>
          </a:ln>
        </p:spPr>
      </p:pic>
      <p:sp>
        <p:nvSpPr>
          <p:cNvPr id="1043" name="Google Shape;1043;p128"/>
          <p:cNvSpPr txBox="1"/>
          <p:nvPr/>
        </p:nvSpPr>
        <p:spPr>
          <a:xfrm>
            <a:off x="571500" y="1769900"/>
            <a:ext cx="11049000" cy="1078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700">
                <a:solidFill>
                  <a:schemeClr val="dk1"/>
                </a:solidFill>
                <a:latin typeface="Poppins"/>
                <a:ea typeface="Poppins"/>
                <a:cs typeface="Poppins"/>
                <a:sym typeface="Poppins"/>
              </a:rPr>
              <a:t>CascadeType.ALL = all operations (PERSIST, MERGE, REMOVE, REFRESH, DETACH) apply to orders.</a:t>
            </a:r>
            <a:endParaRPr sz="2700">
              <a:solidFill>
                <a:schemeClr val="dk1"/>
              </a:solidFill>
              <a:latin typeface="Poppins"/>
              <a:ea typeface="Poppins"/>
              <a:cs typeface="Poppins"/>
              <a:sym typeface="Poppins"/>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7" name="Shape 1047"/>
        <p:cNvGrpSpPr/>
        <p:nvPr/>
      </p:nvGrpSpPr>
      <p:grpSpPr>
        <a:xfrm>
          <a:off x="0" y="0"/>
          <a:ext cx="0" cy="0"/>
          <a:chOff x="0" y="0"/>
          <a:chExt cx="0" cy="0"/>
        </a:xfrm>
      </p:grpSpPr>
      <p:pic>
        <p:nvPicPr>
          <p:cNvPr descr="image.png" id="1048" name="Google Shape;1048;p12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49" name="Google Shape;1049;p129"/>
          <p:cNvSpPr txBox="1"/>
          <p:nvPr/>
        </p:nvSpPr>
        <p:spPr>
          <a:xfrm>
            <a:off x="784350" y="2507700"/>
            <a:ext cx="10623300" cy="1842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Java Persistence Query Language (JPQL)</a:t>
            </a:r>
            <a:endParaRPr b="1" sz="5700">
              <a:solidFill>
                <a:srgbClr val="B91C1C"/>
              </a:solidFill>
              <a:latin typeface="Poppins"/>
              <a:ea typeface="Poppins"/>
              <a:cs typeface="Poppins"/>
              <a:sym typeface="Poppins"/>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3" name="Shape 1053"/>
        <p:cNvGrpSpPr/>
        <p:nvPr/>
      </p:nvGrpSpPr>
      <p:grpSpPr>
        <a:xfrm>
          <a:off x="0" y="0"/>
          <a:ext cx="0" cy="0"/>
          <a:chOff x="0" y="0"/>
          <a:chExt cx="0" cy="0"/>
        </a:xfrm>
      </p:grpSpPr>
      <p:pic>
        <p:nvPicPr>
          <p:cNvPr descr="image.png" id="1054" name="Google Shape;1054;p13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55" name="Google Shape;1055;p13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Objectives</a:t>
            </a:r>
            <a:endParaRPr b="1" sz="3600">
              <a:solidFill>
                <a:srgbClr val="B91C1C"/>
              </a:solidFill>
              <a:latin typeface="Poppins"/>
              <a:ea typeface="Poppins"/>
              <a:cs typeface="Poppins"/>
              <a:sym typeface="Poppins"/>
            </a:endParaRPr>
          </a:p>
        </p:txBody>
      </p:sp>
      <p:sp>
        <p:nvSpPr>
          <p:cNvPr id="1056" name="Google Shape;1056;p13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7" name="Google Shape;1057;p130"/>
          <p:cNvSpPr txBox="1"/>
          <p:nvPr/>
        </p:nvSpPr>
        <p:spPr>
          <a:xfrm>
            <a:off x="889800" y="1693950"/>
            <a:ext cx="10730700" cy="3016800"/>
          </a:xfrm>
          <a:prstGeom prst="rect">
            <a:avLst/>
          </a:prstGeom>
          <a:noFill/>
          <a:ln>
            <a:noFill/>
          </a:ln>
        </p:spPr>
        <p:txBody>
          <a:bodyPr anchorCtr="0" anchor="t" bIns="0" lIns="0" spcFirstLastPara="1" rIns="0" wrap="square" tIns="0">
            <a:spAutoFit/>
          </a:bodyPr>
          <a:lstStyle/>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Understand the Purpose of JPQL</a:t>
            </a:r>
            <a:endParaRPr sz="3500">
              <a:solidFill>
                <a:schemeClr val="dk1"/>
              </a:solidFill>
              <a:latin typeface="Poppins"/>
              <a:ea typeface="Poppins"/>
              <a:cs typeface="Poppins"/>
              <a:sym typeface="Poppins"/>
            </a:endParaRPr>
          </a:p>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Write Basic JPQL queries</a:t>
            </a:r>
            <a:endParaRPr sz="3500">
              <a:solidFill>
                <a:schemeClr val="dk1"/>
              </a:solidFill>
              <a:latin typeface="Poppins"/>
              <a:ea typeface="Poppins"/>
              <a:cs typeface="Poppins"/>
              <a:sym typeface="Poppins"/>
            </a:endParaRPr>
          </a:p>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Query Entity Relationships</a:t>
            </a:r>
            <a:endParaRPr sz="3500">
              <a:solidFill>
                <a:schemeClr val="dk1"/>
              </a:solidFill>
              <a:latin typeface="Poppins"/>
              <a:ea typeface="Poppins"/>
              <a:cs typeface="Poppins"/>
              <a:sym typeface="Poppins"/>
            </a:endParaRPr>
          </a:p>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Control and Shape Query Results</a:t>
            </a:r>
            <a:endParaRPr sz="3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500">
              <a:solidFill>
                <a:schemeClr val="dk1"/>
              </a:solidFill>
              <a:latin typeface="Poppins"/>
              <a:ea typeface="Poppins"/>
              <a:cs typeface="Poppins"/>
              <a:sym typeface="Poppins"/>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1" name="Shape 1061"/>
        <p:cNvGrpSpPr/>
        <p:nvPr/>
      </p:nvGrpSpPr>
      <p:grpSpPr>
        <a:xfrm>
          <a:off x="0" y="0"/>
          <a:ext cx="0" cy="0"/>
          <a:chOff x="0" y="0"/>
          <a:chExt cx="0" cy="0"/>
        </a:xfrm>
      </p:grpSpPr>
      <p:pic>
        <p:nvPicPr>
          <p:cNvPr descr="image.png" id="1062" name="Google Shape;1062;p13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63" name="Google Shape;1063;p13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What is JPQL?</a:t>
            </a:r>
            <a:endParaRPr b="1" sz="3600">
              <a:solidFill>
                <a:srgbClr val="B91C1C"/>
              </a:solidFill>
              <a:latin typeface="Poppins"/>
              <a:ea typeface="Poppins"/>
              <a:cs typeface="Poppins"/>
              <a:sym typeface="Poppins"/>
            </a:endParaRPr>
          </a:p>
        </p:txBody>
      </p:sp>
      <p:sp>
        <p:nvSpPr>
          <p:cNvPr id="1064" name="Google Shape;1064;p13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5" name="Google Shape;1065;p131"/>
          <p:cNvSpPr txBox="1"/>
          <p:nvPr/>
        </p:nvSpPr>
        <p:spPr>
          <a:xfrm>
            <a:off x="571500" y="1693950"/>
            <a:ext cx="11049000" cy="3711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900">
                <a:solidFill>
                  <a:schemeClr val="dk1"/>
                </a:solidFill>
                <a:latin typeface="Poppins"/>
                <a:ea typeface="Poppins"/>
                <a:cs typeface="Poppins"/>
                <a:sym typeface="Poppins"/>
              </a:rPr>
              <a:t>JPQL (Java Persistence Query Language)</a:t>
            </a:r>
            <a:r>
              <a:rPr lang="en-US" sz="2900">
                <a:solidFill>
                  <a:schemeClr val="dk1"/>
                </a:solidFill>
                <a:latin typeface="Poppins"/>
                <a:ea typeface="Poppins"/>
                <a:cs typeface="Poppins"/>
                <a:sym typeface="Poppins"/>
              </a:rPr>
              <a:t> is a query language used with JPA to retrieve and manipulate data.</a:t>
            </a:r>
            <a:endParaRPr sz="29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Similar to SQL in syntax</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Operates on entities and their fields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Independent of the underlying database</a:t>
            </a:r>
            <a:endParaRPr sz="29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t/>
            </a:r>
            <a:endParaRPr b="1" sz="2900">
              <a:solidFill>
                <a:schemeClr val="dk1"/>
              </a:solidFill>
              <a:latin typeface="Poppins"/>
              <a:ea typeface="Poppins"/>
              <a:cs typeface="Poppins"/>
              <a:sym typeface="Poppins"/>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9" name="Shape 1069"/>
        <p:cNvGrpSpPr/>
        <p:nvPr/>
      </p:nvGrpSpPr>
      <p:grpSpPr>
        <a:xfrm>
          <a:off x="0" y="0"/>
          <a:ext cx="0" cy="0"/>
          <a:chOff x="0" y="0"/>
          <a:chExt cx="0" cy="0"/>
        </a:xfrm>
      </p:grpSpPr>
      <p:pic>
        <p:nvPicPr>
          <p:cNvPr descr="image.png" id="1070" name="Google Shape;1070;p13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71" name="Google Shape;1071;p13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JPQL vs SQL</a:t>
            </a:r>
            <a:endParaRPr b="1" sz="3600">
              <a:solidFill>
                <a:srgbClr val="B91C1C"/>
              </a:solidFill>
              <a:latin typeface="Poppins"/>
              <a:ea typeface="Poppins"/>
              <a:cs typeface="Poppins"/>
              <a:sym typeface="Poppins"/>
            </a:endParaRPr>
          </a:p>
        </p:txBody>
      </p:sp>
      <p:sp>
        <p:nvSpPr>
          <p:cNvPr id="1072" name="Google Shape;1072;p13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3" name="Google Shape;1073;p132"/>
          <p:cNvSpPr txBox="1"/>
          <p:nvPr/>
        </p:nvSpPr>
        <p:spPr>
          <a:xfrm>
            <a:off x="6216600" y="1618875"/>
            <a:ext cx="5403900" cy="2171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900">
                <a:solidFill>
                  <a:schemeClr val="dk1"/>
                </a:solidFill>
                <a:latin typeface="Poppins"/>
                <a:ea typeface="Poppins"/>
                <a:cs typeface="Poppins"/>
                <a:sym typeface="Poppins"/>
              </a:rPr>
              <a:t>SQL</a:t>
            </a:r>
            <a:endParaRPr b="1"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Queries tables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Uses column names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Database specific</a:t>
            </a:r>
            <a:endParaRPr sz="2900">
              <a:solidFill>
                <a:schemeClr val="dk1"/>
              </a:solidFill>
              <a:latin typeface="Poppins"/>
              <a:ea typeface="Poppins"/>
              <a:cs typeface="Poppins"/>
              <a:sym typeface="Poppins"/>
            </a:endParaRPr>
          </a:p>
        </p:txBody>
      </p:sp>
      <p:sp>
        <p:nvSpPr>
          <p:cNvPr id="1074" name="Google Shape;1074;p132"/>
          <p:cNvSpPr txBox="1"/>
          <p:nvPr/>
        </p:nvSpPr>
        <p:spPr>
          <a:xfrm>
            <a:off x="571500" y="1618863"/>
            <a:ext cx="5403900" cy="2171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900">
                <a:solidFill>
                  <a:schemeClr val="dk1"/>
                </a:solidFill>
                <a:latin typeface="Poppins"/>
                <a:ea typeface="Poppins"/>
                <a:cs typeface="Poppins"/>
                <a:sym typeface="Poppins"/>
              </a:rPr>
              <a:t>JPQL</a:t>
            </a:r>
            <a:endParaRPr b="1"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Queries entities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Uses entity fields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Database-independent</a:t>
            </a:r>
            <a:endParaRPr sz="2900">
              <a:solidFill>
                <a:schemeClr val="dk1"/>
              </a:solidFill>
              <a:latin typeface="Poppins"/>
              <a:ea typeface="Poppins"/>
              <a:cs typeface="Poppins"/>
              <a:sym typeface="Poppins"/>
            </a:endParaRPr>
          </a:p>
        </p:txBody>
      </p:sp>
      <p:sp>
        <p:nvSpPr>
          <p:cNvPr id="1075" name="Google Shape;1075;p132"/>
          <p:cNvSpPr txBox="1"/>
          <p:nvPr/>
        </p:nvSpPr>
        <p:spPr>
          <a:xfrm>
            <a:off x="723900" y="3989463"/>
            <a:ext cx="5403900" cy="631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900">
                <a:solidFill>
                  <a:schemeClr val="dk1"/>
                </a:solidFill>
                <a:latin typeface="Poppins"/>
                <a:ea typeface="Poppins"/>
                <a:cs typeface="Poppins"/>
                <a:sym typeface="Poppins"/>
              </a:rPr>
              <a:t>For example:</a:t>
            </a:r>
            <a:endParaRPr sz="2900">
              <a:solidFill>
                <a:schemeClr val="dk1"/>
              </a:solidFill>
              <a:latin typeface="Poppins"/>
              <a:ea typeface="Poppins"/>
              <a:cs typeface="Poppins"/>
              <a:sym typeface="Poppins"/>
            </a:endParaRPr>
          </a:p>
        </p:txBody>
      </p:sp>
      <p:sp>
        <p:nvSpPr>
          <p:cNvPr id="1076" name="Google Shape;1076;p132"/>
          <p:cNvSpPr txBox="1"/>
          <p:nvPr/>
        </p:nvSpPr>
        <p:spPr>
          <a:xfrm>
            <a:off x="1147100" y="4763700"/>
            <a:ext cx="6376500" cy="969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700"/>
              <a:t>SELECT * FROM Student u;	</a:t>
            </a:r>
            <a:r>
              <a:rPr b="1" lang="en-US" sz="1700"/>
              <a:t>//JPQL</a:t>
            </a:r>
            <a:endParaRPr b="1" sz="1700"/>
          </a:p>
          <a:p>
            <a:pPr indent="0" lvl="0" marL="0" rtl="0" algn="l">
              <a:spcBef>
                <a:spcPts val="0"/>
              </a:spcBef>
              <a:spcAft>
                <a:spcPts val="0"/>
              </a:spcAft>
              <a:buNone/>
            </a:pPr>
            <a:r>
              <a:t/>
            </a:r>
            <a:endParaRPr sz="1700"/>
          </a:p>
          <a:p>
            <a:pPr indent="0" lvl="0" marL="0" rtl="0" algn="l">
              <a:spcBef>
                <a:spcPts val="0"/>
              </a:spcBef>
              <a:spcAft>
                <a:spcPts val="0"/>
              </a:spcAft>
              <a:buNone/>
            </a:pPr>
            <a:r>
              <a:rPr lang="en-US" sz="1700"/>
              <a:t>SELECT * FROM users;	</a:t>
            </a:r>
            <a:r>
              <a:rPr b="1" lang="en-US" sz="1700"/>
              <a:t>//SQL</a:t>
            </a:r>
            <a:endParaRPr b="1" sz="1700"/>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0" name="Shape 1080"/>
        <p:cNvGrpSpPr/>
        <p:nvPr/>
      </p:nvGrpSpPr>
      <p:grpSpPr>
        <a:xfrm>
          <a:off x="0" y="0"/>
          <a:ext cx="0" cy="0"/>
          <a:chOff x="0" y="0"/>
          <a:chExt cx="0" cy="0"/>
        </a:xfrm>
      </p:grpSpPr>
      <p:pic>
        <p:nvPicPr>
          <p:cNvPr descr="image.png" id="1081" name="Google Shape;1081;p13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82" name="Google Shape;1082;p13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WHERE Clause and Named Parameters</a:t>
            </a:r>
            <a:endParaRPr b="1" sz="3600">
              <a:solidFill>
                <a:srgbClr val="B91C1C"/>
              </a:solidFill>
              <a:latin typeface="Poppins"/>
              <a:ea typeface="Poppins"/>
              <a:cs typeface="Poppins"/>
              <a:sym typeface="Poppins"/>
            </a:endParaRPr>
          </a:p>
        </p:txBody>
      </p:sp>
      <p:sp>
        <p:nvSpPr>
          <p:cNvPr id="1083" name="Google Shape;1083;p13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84" name="Google Shape;1084;p133"/>
          <p:cNvSpPr txBox="1"/>
          <p:nvPr/>
        </p:nvSpPr>
        <p:spPr>
          <a:xfrm>
            <a:off x="571500" y="2294475"/>
            <a:ext cx="11049000" cy="94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String</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jpql</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"Select s FROM Student s WHERE s.age &gt;= 21"</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80F2F6"/>
                </a:solidFill>
                <a:highlight>
                  <a:srgbClr val="1E1F22"/>
                </a:highlight>
                <a:latin typeface="Courier New"/>
                <a:ea typeface="Courier New"/>
                <a:cs typeface="Courier New"/>
                <a:sym typeface="Courier New"/>
              </a:rPr>
              <a:t>TypedQuery</a:t>
            </a:r>
            <a:r>
              <a:rPr lang="en-US" sz="1500">
                <a:solidFill>
                  <a:srgbClr val="E6E6FA"/>
                </a:solidFill>
                <a:highlight>
                  <a:srgbClr val="1E1F22"/>
                </a:highlight>
                <a:latin typeface="Courier New"/>
                <a:ea typeface="Courier New"/>
                <a:cs typeface="Courier New"/>
                <a:sym typeface="Courier New"/>
              </a:rPr>
              <a:t>&lt;</a:t>
            </a:r>
            <a:r>
              <a:rPr lang="en-US" sz="1500">
                <a:solidFill>
                  <a:srgbClr val="B166DA"/>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&gt;</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query</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79ABFF"/>
                </a:solidFill>
                <a:highlight>
                  <a:srgbClr val="1E1F22"/>
                </a:highlight>
                <a:latin typeface="Courier New"/>
                <a:ea typeface="Courier New"/>
                <a:cs typeface="Courier New"/>
                <a:sym typeface="Courier New"/>
              </a:rPr>
              <a:t>em</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createQuery</a:t>
            </a:r>
            <a:r>
              <a:rPr lang="en-US" sz="1500">
                <a:solidFill>
                  <a:srgbClr val="F9FAF4"/>
                </a:solidFill>
                <a:highlight>
                  <a:srgbClr val="1E1F22"/>
                </a:highlight>
                <a:latin typeface="Courier New"/>
                <a:ea typeface="Courier New"/>
                <a:cs typeface="Courier New"/>
                <a:sym typeface="Courier New"/>
              </a:rPr>
              <a:t>(</a:t>
            </a:r>
            <a:r>
              <a:rPr lang="en-US" sz="1500">
                <a:solidFill>
                  <a:srgbClr val="F3EC79"/>
                </a:solidFill>
                <a:highlight>
                  <a:srgbClr val="1E1F22"/>
                </a:highlight>
                <a:latin typeface="Courier New"/>
                <a:ea typeface="Courier New"/>
                <a:cs typeface="Courier New"/>
                <a:sym typeface="Courier New"/>
              </a:rPr>
              <a:t>jpql</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a:t>
            </a:r>
            <a:r>
              <a:rPr lang="en-US" sz="1500">
                <a:solidFill>
                  <a:srgbClr val="CC6C1D"/>
                </a:solidFill>
                <a:highlight>
                  <a:srgbClr val="1E1F22"/>
                </a:highlight>
                <a:latin typeface="Courier New"/>
                <a:ea typeface="Courier New"/>
                <a:cs typeface="Courier New"/>
                <a:sym typeface="Courier New"/>
              </a:rPr>
              <a:t>class</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80F2F6"/>
                </a:solidFill>
                <a:highlight>
                  <a:srgbClr val="1E1F22"/>
                </a:highlight>
                <a:latin typeface="Courier New"/>
                <a:ea typeface="Courier New"/>
                <a:cs typeface="Courier New"/>
                <a:sym typeface="Courier New"/>
              </a:rPr>
              <a:t>List</a:t>
            </a:r>
            <a:r>
              <a:rPr lang="en-US" sz="1500">
                <a:solidFill>
                  <a:srgbClr val="E6E6FA"/>
                </a:solidFill>
                <a:highlight>
                  <a:srgbClr val="1E1F22"/>
                </a:highlight>
                <a:latin typeface="Courier New"/>
                <a:ea typeface="Courier New"/>
                <a:cs typeface="Courier New"/>
                <a:sym typeface="Courier New"/>
              </a:rPr>
              <a:t>&lt;</a:t>
            </a:r>
            <a:r>
              <a:rPr lang="en-US" sz="1500">
                <a:solidFill>
                  <a:srgbClr val="B166DA"/>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&gt;</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students</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F3EC79"/>
                </a:solidFill>
                <a:highlight>
                  <a:srgbClr val="1E1F22"/>
                </a:highlight>
                <a:latin typeface="Courier New"/>
                <a:ea typeface="Courier New"/>
                <a:cs typeface="Courier New"/>
                <a:sym typeface="Courier New"/>
              </a:rPr>
              <a:t>query</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getResultList</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p:txBody>
      </p:sp>
      <p:sp>
        <p:nvSpPr>
          <p:cNvPr id="1085" name="Google Shape;1085;p133"/>
          <p:cNvSpPr txBox="1"/>
          <p:nvPr/>
        </p:nvSpPr>
        <p:spPr>
          <a:xfrm>
            <a:off x="571500" y="3542375"/>
            <a:ext cx="110490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500">
                <a:solidFill>
                  <a:schemeClr val="dk1"/>
                </a:solidFill>
                <a:latin typeface="Poppins"/>
                <a:ea typeface="Poppins"/>
                <a:cs typeface="Poppins"/>
                <a:sym typeface="Poppins"/>
              </a:rPr>
              <a:t>Named Parameters:</a:t>
            </a:r>
            <a:endParaRPr b="1" sz="2500">
              <a:solidFill>
                <a:schemeClr val="dk1"/>
              </a:solidFill>
              <a:latin typeface="Poppins"/>
              <a:ea typeface="Poppins"/>
              <a:cs typeface="Poppins"/>
              <a:sym typeface="Poppins"/>
            </a:endParaRPr>
          </a:p>
        </p:txBody>
      </p:sp>
      <p:sp>
        <p:nvSpPr>
          <p:cNvPr id="1086" name="Google Shape;1086;p133"/>
          <p:cNvSpPr txBox="1"/>
          <p:nvPr/>
        </p:nvSpPr>
        <p:spPr>
          <a:xfrm>
            <a:off x="571500" y="1536963"/>
            <a:ext cx="30000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500">
                <a:solidFill>
                  <a:schemeClr val="dk1"/>
                </a:solidFill>
                <a:latin typeface="Poppins"/>
                <a:ea typeface="Poppins"/>
                <a:cs typeface="Poppins"/>
                <a:sym typeface="Poppins"/>
              </a:rPr>
              <a:t>Where Clause:</a:t>
            </a:r>
            <a:endParaRPr/>
          </a:p>
        </p:txBody>
      </p:sp>
      <p:sp>
        <p:nvSpPr>
          <p:cNvPr id="1087" name="Google Shape;1087;p133"/>
          <p:cNvSpPr txBox="1"/>
          <p:nvPr/>
        </p:nvSpPr>
        <p:spPr>
          <a:xfrm>
            <a:off x="571500" y="4232675"/>
            <a:ext cx="11049000" cy="100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 FROM Student s WHERE s.name = :name"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setParameter</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1" name="Shape 1091"/>
        <p:cNvGrpSpPr/>
        <p:nvPr/>
      </p:nvGrpSpPr>
      <p:grpSpPr>
        <a:xfrm>
          <a:off x="0" y="0"/>
          <a:ext cx="0" cy="0"/>
          <a:chOff x="0" y="0"/>
          <a:chExt cx="0" cy="0"/>
        </a:xfrm>
      </p:grpSpPr>
      <p:pic>
        <p:nvPicPr>
          <p:cNvPr descr="image.png" id="1092" name="Google Shape;1092;p13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93" name="Google Shape;1093;p13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Basic JPQL Structure</a:t>
            </a:r>
            <a:endParaRPr b="1" sz="3600">
              <a:solidFill>
                <a:srgbClr val="B91C1C"/>
              </a:solidFill>
              <a:latin typeface="Poppins"/>
              <a:ea typeface="Poppins"/>
              <a:cs typeface="Poppins"/>
              <a:sym typeface="Poppins"/>
            </a:endParaRPr>
          </a:p>
        </p:txBody>
      </p:sp>
      <p:sp>
        <p:nvSpPr>
          <p:cNvPr id="1094" name="Google Shape;1094;p13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95" name="Google Shape;1095;p134"/>
          <p:cNvSpPr txBox="1"/>
          <p:nvPr/>
        </p:nvSpPr>
        <p:spPr>
          <a:xfrm>
            <a:off x="1038575" y="1693950"/>
            <a:ext cx="7327800" cy="5850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t>SELECT </a:t>
            </a:r>
            <a:r>
              <a:rPr b="1" lang="en-US" sz="2600" u="sng">
                <a:solidFill>
                  <a:schemeClr val="hlink"/>
                </a:solidFill>
                <a:hlinkClick r:id="rId4"/>
              </a:rPr>
              <a:t>e</a:t>
            </a:r>
            <a:r>
              <a:rPr b="1" lang="en-US" sz="2600"/>
              <a:t> FROM EntityName e;</a:t>
            </a:r>
            <a:endParaRPr sz="2600"/>
          </a:p>
        </p:txBody>
      </p:sp>
      <p:sp>
        <p:nvSpPr>
          <p:cNvPr id="1096" name="Google Shape;1096;p134"/>
          <p:cNvSpPr txBox="1"/>
          <p:nvPr/>
        </p:nvSpPr>
        <p:spPr>
          <a:xfrm>
            <a:off x="1038575" y="2282575"/>
            <a:ext cx="9842100" cy="1011900"/>
          </a:xfrm>
          <a:prstGeom prst="rect">
            <a:avLst/>
          </a:prstGeom>
          <a:noFill/>
          <a:ln>
            <a:noFill/>
          </a:ln>
        </p:spPr>
        <p:txBody>
          <a:bodyPr anchorCtr="0" anchor="t" bIns="91425" lIns="91425" spcFirstLastPara="1" rIns="91425" wrap="square" tIns="91425">
            <a:spAutoFit/>
          </a:bodyPr>
          <a:lstStyle/>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EntityName → Java entity class name</a:t>
            </a:r>
            <a:endParaRPr sz="2500">
              <a:solidFill>
                <a:schemeClr val="dk1"/>
              </a:solidFill>
              <a:latin typeface="Poppins"/>
              <a:ea typeface="Poppins"/>
              <a:cs typeface="Poppins"/>
              <a:sym typeface="Poppins"/>
            </a:endParaRPr>
          </a:p>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 → alias used in the query</a:t>
            </a:r>
            <a:endParaRPr sz="2500">
              <a:solidFill>
                <a:schemeClr val="dk1"/>
              </a:solidFill>
              <a:latin typeface="Poppins"/>
              <a:ea typeface="Poppins"/>
              <a:cs typeface="Poppins"/>
              <a:sym typeface="Poppins"/>
            </a:endParaRPr>
          </a:p>
        </p:txBody>
      </p:sp>
      <p:sp>
        <p:nvSpPr>
          <p:cNvPr id="1097" name="Google Shape;1097;p134"/>
          <p:cNvSpPr txBox="1"/>
          <p:nvPr/>
        </p:nvSpPr>
        <p:spPr>
          <a:xfrm>
            <a:off x="1038575" y="4157675"/>
            <a:ext cx="7327800" cy="5850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t>SELECT e FROM Employee e;</a:t>
            </a:r>
            <a:endParaRPr sz="2600"/>
          </a:p>
        </p:txBody>
      </p:sp>
      <p:sp>
        <p:nvSpPr>
          <p:cNvPr id="1098" name="Google Shape;1098;p134"/>
          <p:cNvSpPr txBox="1"/>
          <p:nvPr/>
        </p:nvSpPr>
        <p:spPr>
          <a:xfrm>
            <a:off x="1038575" y="4742675"/>
            <a:ext cx="7327800" cy="1454700"/>
          </a:xfrm>
          <a:prstGeom prst="rect">
            <a:avLst/>
          </a:prstGeom>
          <a:noFill/>
          <a:ln>
            <a:noFill/>
          </a:ln>
        </p:spPr>
        <p:txBody>
          <a:bodyPr anchorCtr="0" anchor="t" bIns="91425" lIns="91425" spcFirstLastPara="1" rIns="91425" wrap="square" tIns="91425">
            <a:spAutoFit/>
          </a:bodyPr>
          <a:lstStyle/>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Retrieves all Employee entities</a:t>
            </a:r>
            <a:endParaRPr sz="2500">
              <a:solidFill>
                <a:schemeClr val="dk1"/>
              </a:solidFill>
              <a:latin typeface="Poppins"/>
              <a:ea typeface="Poppins"/>
              <a:cs typeface="Poppins"/>
              <a:sym typeface="Poppins"/>
            </a:endParaRPr>
          </a:p>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Equivalent to: SELECT * FROM employee</a:t>
            </a:r>
            <a:endParaRPr sz="2500">
              <a:solidFill>
                <a:schemeClr val="dk1"/>
              </a:solidFill>
              <a:latin typeface="Poppins"/>
              <a:ea typeface="Poppins"/>
              <a:cs typeface="Poppins"/>
              <a:sym typeface="Poppins"/>
            </a:endParaRPr>
          </a:p>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retrieves all columns</a:t>
            </a:r>
            <a:endParaRPr sz="2500">
              <a:solidFill>
                <a:schemeClr val="dk1"/>
              </a:solidFill>
              <a:latin typeface="Poppins"/>
              <a:ea typeface="Poppins"/>
              <a:cs typeface="Poppins"/>
              <a:sym typeface="Poppins"/>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2" name="Shape 1102"/>
        <p:cNvGrpSpPr/>
        <p:nvPr/>
      </p:nvGrpSpPr>
      <p:grpSpPr>
        <a:xfrm>
          <a:off x="0" y="0"/>
          <a:ext cx="0" cy="0"/>
          <a:chOff x="0" y="0"/>
          <a:chExt cx="0" cy="0"/>
        </a:xfrm>
      </p:grpSpPr>
      <p:pic>
        <p:nvPicPr>
          <p:cNvPr descr="image.png" id="1103" name="Google Shape;1103;p13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04" name="Google Shape;1104;p135"/>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EntityManager createQuery();</a:t>
            </a:r>
            <a:endParaRPr b="1" sz="3600">
              <a:solidFill>
                <a:srgbClr val="B91C1C"/>
              </a:solidFill>
              <a:latin typeface="Poppins"/>
              <a:ea typeface="Poppins"/>
              <a:cs typeface="Poppins"/>
              <a:sym typeface="Poppins"/>
            </a:endParaRPr>
          </a:p>
        </p:txBody>
      </p:sp>
      <p:sp>
        <p:nvSpPr>
          <p:cNvPr id="1105" name="Google Shape;1105;p13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6" name="Google Shape;1106;p135"/>
          <p:cNvSpPr txBox="1"/>
          <p:nvPr/>
        </p:nvSpPr>
        <p:spPr>
          <a:xfrm>
            <a:off x="571500" y="1693950"/>
            <a:ext cx="11049000" cy="3693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qlString</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resultClass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a:p>
        </p:txBody>
      </p:sp>
      <p:sp>
        <p:nvSpPr>
          <p:cNvPr id="1107" name="Google Shape;1107;p135"/>
          <p:cNvSpPr txBox="1"/>
          <p:nvPr/>
        </p:nvSpPr>
        <p:spPr>
          <a:xfrm>
            <a:off x="571500" y="2786050"/>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 FROM Student 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//print student names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1" name="Shape 1111"/>
        <p:cNvGrpSpPr/>
        <p:nvPr/>
      </p:nvGrpSpPr>
      <p:grpSpPr>
        <a:xfrm>
          <a:off x="0" y="0"/>
          <a:ext cx="0" cy="0"/>
          <a:chOff x="0" y="0"/>
          <a:chExt cx="0" cy="0"/>
        </a:xfrm>
      </p:grpSpPr>
      <p:pic>
        <p:nvPicPr>
          <p:cNvPr descr="image.png" id="1112" name="Google Shape;1112;p13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13" name="Google Shape;1113;p13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Positional Parameters</a:t>
            </a:r>
            <a:endParaRPr b="1" sz="3600">
              <a:solidFill>
                <a:srgbClr val="B91C1C"/>
              </a:solidFill>
              <a:latin typeface="Poppins"/>
              <a:ea typeface="Poppins"/>
              <a:cs typeface="Poppins"/>
              <a:sym typeface="Poppins"/>
            </a:endParaRPr>
          </a:p>
        </p:txBody>
      </p:sp>
      <p:sp>
        <p:nvSpPr>
          <p:cNvPr id="1114" name="Google Shape;1114;p13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5" name="Google Shape;1115;p136"/>
          <p:cNvSpPr txBox="1"/>
          <p:nvPr/>
        </p:nvSpPr>
        <p:spPr>
          <a:xfrm>
            <a:off x="805050" y="5416325"/>
            <a:ext cx="10581900" cy="846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2000">
                <a:solidFill>
                  <a:schemeClr val="dk1"/>
                </a:solidFill>
                <a:latin typeface="Poppins"/>
                <a:ea typeface="Poppins"/>
                <a:cs typeface="Poppins"/>
                <a:sym typeface="Poppins"/>
              </a:rPr>
              <a:t>Positional parameters are placeholders in a JPQL query that are identified by numbers (?1, ?2, etc.), and you bind values to them by position, not by name.</a:t>
            </a:r>
            <a:endParaRPr sz="2000">
              <a:solidFill>
                <a:schemeClr val="dk1"/>
              </a:solidFill>
              <a:latin typeface="Poppins"/>
              <a:ea typeface="Poppins"/>
              <a:cs typeface="Poppins"/>
              <a:sym typeface="Poppins"/>
            </a:endParaRPr>
          </a:p>
        </p:txBody>
      </p:sp>
      <p:sp>
        <p:nvSpPr>
          <p:cNvPr id="1116" name="Google Shape;1116;p136"/>
          <p:cNvSpPr txBox="1"/>
          <p:nvPr/>
        </p:nvSpPr>
        <p:spPr>
          <a:xfrm>
            <a:off x="571500" y="1545000"/>
            <a:ext cx="11049000" cy="3555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selectStudentByNamePositionalParamaters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 FROM Student s WHERE s.name = ?1 AND age = ?2"</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setParameter</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1</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setParameter</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//print student names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0" name="Shape 1120"/>
        <p:cNvGrpSpPr/>
        <p:nvPr/>
      </p:nvGrpSpPr>
      <p:grpSpPr>
        <a:xfrm>
          <a:off x="0" y="0"/>
          <a:ext cx="0" cy="0"/>
          <a:chOff x="0" y="0"/>
          <a:chExt cx="0" cy="0"/>
        </a:xfrm>
      </p:grpSpPr>
      <p:pic>
        <p:nvPicPr>
          <p:cNvPr descr="image.png" id="1121" name="Google Shape;1121;p13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22" name="Google Shape;1122;p137"/>
          <p:cNvSpPr txBox="1"/>
          <p:nvPr/>
        </p:nvSpPr>
        <p:spPr>
          <a:xfrm>
            <a:off x="571500" y="3393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Selecting Specific Fields</a:t>
            </a:r>
            <a:endParaRPr b="1" sz="3600">
              <a:solidFill>
                <a:srgbClr val="B91C1C"/>
              </a:solidFill>
              <a:latin typeface="Poppins"/>
              <a:ea typeface="Poppins"/>
              <a:cs typeface="Poppins"/>
              <a:sym typeface="Poppins"/>
            </a:endParaRPr>
          </a:p>
        </p:txBody>
      </p:sp>
      <p:sp>
        <p:nvSpPr>
          <p:cNvPr id="1123" name="Google Shape;1123;p137"/>
          <p:cNvSpPr/>
          <p:nvPr/>
        </p:nvSpPr>
        <p:spPr>
          <a:xfrm>
            <a:off x="571500" y="9537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4" name="Google Shape;1124;p137"/>
          <p:cNvSpPr txBox="1"/>
          <p:nvPr/>
        </p:nvSpPr>
        <p:spPr>
          <a:xfrm>
            <a:off x="571500" y="1167675"/>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selectAllStudentEmails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a:t>
            </a:r>
            <a:r>
              <a:rPr lang="en-US" sz="1200">
                <a:solidFill>
                  <a:srgbClr val="17C6A3"/>
                </a:solidFill>
                <a:highlight>
                  <a:srgbClr val="1E1F22"/>
                </a:highlight>
                <a:latin typeface="Courier New"/>
                <a:ea typeface="Courier New"/>
                <a:cs typeface="Courier New"/>
                <a:sym typeface="Courier New"/>
              </a:rPr>
              <a:t>.email</a:t>
            </a:r>
            <a:r>
              <a:rPr lang="en-US" sz="1200">
                <a:solidFill>
                  <a:srgbClr val="17C6A3"/>
                </a:solidFill>
                <a:highlight>
                  <a:srgbClr val="1E1F22"/>
                </a:highlight>
                <a:latin typeface="Courier New"/>
                <a:ea typeface="Courier New"/>
                <a:cs typeface="Courier New"/>
                <a:sym typeface="Courier New"/>
              </a:rPr>
              <a:t> FROM Student 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studentEmails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//print student </a:t>
            </a:r>
            <a:r>
              <a:rPr lang="en-US" sz="1200" u="sng">
                <a:solidFill>
                  <a:srgbClr val="808080"/>
                </a:solidFill>
                <a:highlight>
                  <a:srgbClr val="1E1F22"/>
                </a:highlight>
                <a:latin typeface="Courier New"/>
                <a:ea typeface="Courier New"/>
                <a:cs typeface="Courier New"/>
                <a:sym typeface="Courier New"/>
              </a:rPr>
              <a:t>emails</a:t>
            </a:r>
            <a:endParaRPr sz="1200" u="sng">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studentEmails</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email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
        <p:nvSpPr>
          <p:cNvPr id="1125" name="Google Shape;1125;p137"/>
          <p:cNvSpPr txBox="1"/>
          <p:nvPr/>
        </p:nvSpPr>
        <p:spPr>
          <a:xfrm>
            <a:off x="8620500" y="4572725"/>
            <a:ext cx="3000000" cy="20688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mariasantos@gmail.com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johnmarksantos@gmail.com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juandelacruz@gmail.com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janedoe@gmail.com</a:t>
            </a:r>
            <a:endParaRPr sz="1200">
              <a:solidFill>
                <a:srgbClr val="EBEBEB"/>
              </a:solidFill>
              <a:highlight>
                <a:srgbClr val="2F2F2F"/>
              </a:highlight>
              <a:latin typeface="Courier New"/>
              <a:ea typeface="Courier New"/>
              <a:cs typeface="Courier New"/>
              <a:sym typeface="Courier New"/>
            </a:endParaRPr>
          </a:p>
        </p:txBody>
      </p:sp>
      <p:sp>
        <p:nvSpPr>
          <p:cNvPr id="1126" name="Google Shape;1126;p137"/>
          <p:cNvSpPr txBox="1"/>
          <p:nvPr/>
        </p:nvSpPr>
        <p:spPr>
          <a:xfrm>
            <a:off x="571500" y="4572725"/>
            <a:ext cx="7767900" cy="1011900"/>
          </a:xfrm>
          <a:prstGeom prst="rect">
            <a:avLst/>
          </a:prstGeom>
          <a:noFill/>
          <a:ln>
            <a:noFill/>
          </a:ln>
        </p:spPr>
        <p:txBody>
          <a:bodyPr anchorCtr="0" anchor="t" bIns="91425" lIns="91425" spcFirstLastPara="1" rIns="91425" wrap="square" tIns="91425">
            <a:spAutoFit/>
          </a:bodyPr>
          <a:lstStyle/>
          <a:p>
            <a:pPr indent="-387350" lvl="0" marL="45720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Queries all student emails and stores them in a list.</a:t>
            </a:r>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0" name="Shape 1130"/>
        <p:cNvGrpSpPr/>
        <p:nvPr/>
      </p:nvGrpSpPr>
      <p:grpSpPr>
        <a:xfrm>
          <a:off x="0" y="0"/>
          <a:ext cx="0" cy="0"/>
          <a:chOff x="0" y="0"/>
          <a:chExt cx="0" cy="0"/>
        </a:xfrm>
      </p:grpSpPr>
      <p:pic>
        <p:nvPicPr>
          <p:cNvPr descr="image.png" id="1131" name="Google Shape;1131;p13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32" name="Google Shape;1132;p13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JOIN in JPQL</a:t>
            </a:r>
            <a:endParaRPr b="1" sz="3600">
              <a:solidFill>
                <a:srgbClr val="B91C1C"/>
              </a:solidFill>
              <a:latin typeface="Poppins"/>
              <a:ea typeface="Poppins"/>
              <a:cs typeface="Poppins"/>
              <a:sym typeface="Poppins"/>
            </a:endParaRPr>
          </a:p>
        </p:txBody>
      </p:sp>
      <p:sp>
        <p:nvSpPr>
          <p:cNvPr id="1133" name="Google Shape;1133;p13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4" name="Google Shape;1134;p138"/>
          <p:cNvSpPr txBox="1"/>
          <p:nvPr/>
        </p:nvSpPr>
        <p:spPr>
          <a:xfrm>
            <a:off x="571500" y="2043750"/>
            <a:ext cx="11049000" cy="2770500"/>
          </a:xfrm>
          <a:prstGeom prst="rect">
            <a:avLst/>
          </a:prstGeom>
          <a:noFill/>
          <a:ln>
            <a:noFill/>
          </a:ln>
        </p:spPr>
        <p:txBody>
          <a:bodyPr anchorCtr="0" anchor="t" bIns="91425" lIns="91425" spcFirstLastPara="1" rIns="91425" wrap="square" tIns="91425">
            <a:spAutoFit/>
          </a:bodyPr>
          <a:lstStyle/>
          <a:p>
            <a:pPr indent="-361950" lvl="0" marL="4572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JOIN is used to fetch related entities via their associations.</a:t>
            </a:r>
            <a:br>
              <a:rPr lang="en-US" sz="2100">
                <a:solidFill>
                  <a:schemeClr val="dk1"/>
                </a:solidFill>
                <a:latin typeface="Poppins"/>
                <a:ea typeface="Poppins"/>
                <a:cs typeface="Poppins"/>
                <a:sym typeface="Poppins"/>
              </a:rPr>
            </a:br>
            <a:endParaRPr sz="2100">
              <a:solidFill>
                <a:schemeClr val="dk1"/>
              </a:solidFill>
              <a:latin typeface="Poppins"/>
              <a:ea typeface="Poppins"/>
              <a:cs typeface="Poppins"/>
              <a:sym typeface="Poppins"/>
            </a:endParaRPr>
          </a:p>
          <a:p>
            <a:pPr indent="-361950" lvl="0" marL="4572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Works with @OneToOne, @OneToMany, @ManyToOne, @ManyToMany.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361950" lvl="0" marL="4572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JPQL Join Types</a:t>
            </a:r>
            <a:endParaRPr sz="2100">
              <a:solidFill>
                <a:schemeClr val="dk1"/>
              </a:solidFill>
              <a:latin typeface="Poppins"/>
              <a:ea typeface="Poppins"/>
              <a:cs typeface="Poppins"/>
              <a:sym typeface="Poppins"/>
            </a:endParaRPr>
          </a:p>
          <a:p>
            <a:pPr indent="-361950" lvl="1" marL="9144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JOIN → INNER JOIN by default</a:t>
            </a:r>
            <a:endParaRPr sz="2100">
              <a:solidFill>
                <a:schemeClr val="dk1"/>
              </a:solidFill>
              <a:latin typeface="Poppins"/>
              <a:ea typeface="Poppins"/>
              <a:cs typeface="Poppins"/>
              <a:sym typeface="Poppins"/>
            </a:endParaRPr>
          </a:p>
          <a:p>
            <a:pPr indent="-361950" lvl="1" marL="9144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LEFT JOIN → LEFT OUTER JOIN</a:t>
            </a:r>
            <a:endParaRPr sz="2100">
              <a:solidFill>
                <a:schemeClr val="dk1"/>
              </a:solidFill>
              <a:latin typeface="Poppins"/>
              <a:ea typeface="Poppins"/>
              <a:cs typeface="Poppins"/>
              <a:sym typeface="Poppins"/>
            </a:endParaRPr>
          </a:p>
          <a:p>
            <a:pPr indent="-361950" lvl="1" marL="9144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FETCH JOIN → loads associated entities eagerly in the same query</a:t>
            </a:r>
            <a:endParaRPr sz="2100">
              <a:solidFill>
                <a:schemeClr val="dk1"/>
              </a:solidFill>
              <a:latin typeface="Poppins"/>
              <a:ea typeface="Poppins"/>
              <a:cs typeface="Poppins"/>
              <a:sym typeface="Poppins"/>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8" name="Shape 1138"/>
        <p:cNvGrpSpPr/>
        <p:nvPr/>
      </p:nvGrpSpPr>
      <p:grpSpPr>
        <a:xfrm>
          <a:off x="0" y="0"/>
          <a:ext cx="0" cy="0"/>
          <a:chOff x="0" y="0"/>
          <a:chExt cx="0" cy="0"/>
        </a:xfrm>
      </p:grpSpPr>
      <p:pic>
        <p:nvPicPr>
          <p:cNvPr descr="image.png" id="1139" name="Google Shape;1139;p13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40" name="Google Shape;1140;p139"/>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INNER JOIN</a:t>
            </a:r>
            <a:endParaRPr b="1" sz="3600">
              <a:solidFill>
                <a:srgbClr val="B91C1C"/>
              </a:solidFill>
              <a:latin typeface="Poppins"/>
              <a:ea typeface="Poppins"/>
              <a:cs typeface="Poppins"/>
              <a:sym typeface="Poppins"/>
            </a:endParaRPr>
          </a:p>
        </p:txBody>
      </p:sp>
      <p:sp>
        <p:nvSpPr>
          <p:cNvPr id="1141" name="Google Shape;1141;p139"/>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2" name="Google Shape;1142;p139"/>
          <p:cNvSpPr txBox="1"/>
          <p:nvPr/>
        </p:nvSpPr>
        <p:spPr>
          <a:xfrm>
            <a:off x="571500" y="1902025"/>
            <a:ext cx="11049000" cy="1644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selectAllStudentsAndCoursesInnerJoin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s FROM Student s JOIN s.courses"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6" name="Shape 1146"/>
        <p:cNvGrpSpPr/>
        <p:nvPr/>
      </p:nvGrpSpPr>
      <p:grpSpPr>
        <a:xfrm>
          <a:off x="0" y="0"/>
          <a:ext cx="0" cy="0"/>
          <a:chOff x="0" y="0"/>
          <a:chExt cx="0" cy="0"/>
        </a:xfrm>
      </p:grpSpPr>
      <p:pic>
        <p:nvPicPr>
          <p:cNvPr descr="image.png" id="1147" name="Google Shape;1147;p14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48" name="Google Shape;1148;p140"/>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INNER JOIN (Multiple)</a:t>
            </a:r>
            <a:endParaRPr b="1" sz="3600">
              <a:solidFill>
                <a:srgbClr val="B91C1C"/>
              </a:solidFill>
              <a:latin typeface="Poppins"/>
              <a:ea typeface="Poppins"/>
              <a:cs typeface="Poppins"/>
              <a:sym typeface="Poppins"/>
            </a:endParaRPr>
          </a:p>
        </p:txBody>
      </p:sp>
      <p:sp>
        <p:nvSpPr>
          <p:cNvPr id="1149" name="Google Shape;1149;p14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0" name="Google Shape;1150;p140"/>
          <p:cNvSpPr txBox="1"/>
          <p:nvPr/>
        </p:nvSpPr>
        <p:spPr>
          <a:xfrm>
            <a:off x="571500" y="1848425"/>
            <a:ext cx="110490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selectAllStudentsAndCoursesInnerJoinMultiple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endParaRPr sz="1200">
              <a:solidFill>
                <a:srgbClr val="79ABFF"/>
              </a:solidFill>
              <a:highlight>
                <a:srgbClr val="1E1F22"/>
              </a:highlight>
              <a:latin typeface="Courier New"/>
              <a:ea typeface="Courier New"/>
              <a:cs typeface="Courier New"/>
              <a:sym typeface="Courier New"/>
            </a:endParaRPr>
          </a:p>
          <a:p>
            <a:pPr indent="431800" lvl="0" marL="9398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s FROM Student s JOIN s.courses JOIN s.profile JOIN s.clubs"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4" name="Shape 1154"/>
        <p:cNvGrpSpPr/>
        <p:nvPr/>
      </p:nvGrpSpPr>
      <p:grpSpPr>
        <a:xfrm>
          <a:off x="0" y="0"/>
          <a:ext cx="0" cy="0"/>
          <a:chOff x="0" y="0"/>
          <a:chExt cx="0" cy="0"/>
        </a:xfrm>
      </p:grpSpPr>
      <p:pic>
        <p:nvPicPr>
          <p:cNvPr descr="image.png" id="1155" name="Google Shape;1155;p14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56" name="Google Shape;1156;p14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INNER JOIN (Multiple)</a:t>
            </a:r>
            <a:endParaRPr b="1" sz="3600">
              <a:solidFill>
                <a:srgbClr val="B91C1C"/>
              </a:solidFill>
              <a:latin typeface="Poppins"/>
              <a:ea typeface="Poppins"/>
              <a:cs typeface="Poppins"/>
              <a:sym typeface="Poppins"/>
            </a:endParaRPr>
          </a:p>
        </p:txBody>
      </p:sp>
      <p:sp>
        <p:nvSpPr>
          <p:cNvPr id="1157" name="Google Shape;1157;p14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8" name="Google Shape;1158;p141"/>
          <p:cNvSpPr txBox="1"/>
          <p:nvPr/>
        </p:nvSpPr>
        <p:spPr>
          <a:xfrm>
            <a:off x="4596000" y="1598400"/>
            <a:ext cx="3000000" cy="46176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s1_0.created_at,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join</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courses c1_0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on s1_0.id=c1_0.student_id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join</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profiles p1_0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on s1_0.id=p1_0.student_id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join</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students_clubs c2_0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on s1_0.id=c2_0.student_id</a:t>
            </a:r>
            <a:endParaRPr sz="12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2" name="Shape 1162"/>
        <p:cNvGrpSpPr/>
        <p:nvPr/>
      </p:nvGrpSpPr>
      <p:grpSpPr>
        <a:xfrm>
          <a:off x="0" y="0"/>
          <a:ext cx="0" cy="0"/>
          <a:chOff x="0" y="0"/>
          <a:chExt cx="0" cy="0"/>
        </a:xfrm>
      </p:grpSpPr>
      <p:pic>
        <p:nvPicPr>
          <p:cNvPr descr="image.png" id="1163" name="Google Shape;1163;p14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64" name="Google Shape;1164;p142"/>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LEFT JOIN</a:t>
            </a:r>
            <a:endParaRPr b="1" sz="3600">
              <a:solidFill>
                <a:srgbClr val="B91C1C"/>
              </a:solidFill>
              <a:latin typeface="Poppins"/>
              <a:ea typeface="Poppins"/>
              <a:cs typeface="Poppins"/>
              <a:sym typeface="Poppins"/>
            </a:endParaRPr>
          </a:p>
        </p:txBody>
      </p:sp>
      <p:sp>
        <p:nvSpPr>
          <p:cNvPr id="1165" name="Google Shape;1165;p14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6" name="Google Shape;1166;p142"/>
          <p:cNvSpPr txBox="1"/>
          <p:nvPr/>
        </p:nvSpPr>
        <p:spPr>
          <a:xfrm>
            <a:off x="571500" y="1902025"/>
            <a:ext cx="11049000" cy="1644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selectAllStudentsAndCoursesLeftJoin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s FROM Student s LEFT JOIN s.courses"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pic>
        <p:nvPicPr>
          <p:cNvPr descr="image.png" id="1171" name="Google Shape;1171;p14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72" name="Google Shape;1172;p143"/>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RIGHT JOIN</a:t>
            </a:r>
            <a:endParaRPr b="1" sz="3600">
              <a:solidFill>
                <a:srgbClr val="B91C1C"/>
              </a:solidFill>
              <a:latin typeface="Poppins"/>
              <a:ea typeface="Poppins"/>
              <a:cs typeface="Poppins"/>
              <a:sym typeface="Poppins"/>
            </a:endParaRPr>
          </a:p>
        </p:txBody>
      </p:sp>
      <p:sp>
        <p:nvSpPr>
          <p:cNvPr id="1173" name="Google Shape;1173;p14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4" name="Google Shape;1174;p143"/>
          <p:cNvSpPr txBox="1"/>
          <p:nvPr/>
        </p:nvSpPr>
        <p:spPr>
          <a:xfrm>
            <a:off x="571500" y="1902025"/>
            <a:ext cx="110490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selectAllStudentsAndCoursesRightJoin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courses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c FROM Course c LEFT JOIN c.student"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8" name="Shape 1178"/>
        <p:cNvGrpSpPr/>
        <p:nvPr/>
      </p:nvGrpSpPr>
      <p:grpSpPr>
        <a:xfrm>
          <a:off x="0" y="0"/>
          <a:ext cx="0" cy="0"/>
          <a:chOff x="0" y="0"/>
          <a:chExt cx="0" cy="0"/>
        </a:xfrm>
      </p:grpSpPr>
      <p:pic>
        <p:nvPicPr>
          <p:cNvPr descr="image.png" id="1179" name="Google Shape;1179;p14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80" name="Google Shape;1180;p144"/>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Aggregate Functions</a:t>
            </a:r>
            <a:endParaRPr b="1" sz="3600">
              <a:solidFill>
                <a:srgbClr val="B91C1C"/>
              </a:solidFill>
              <a:latin typeface="Poppins"/>
              <a:ea typeface="Poppins"/>
              <a:cs typeface="Poppins"/>
              <a:sym typeface="Poppins"/>
            </a:endParaRPr>
          </a:p>
        </p:txBody>
      </p:sp>
      <p:sp>
        <p:nvSpPr>
          <p:cNvPr id="1181" name="Google Shape;1181;p14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2" name="Google Shape;1182;p144"/>
          <p:cNvSpPr txBox="1"/>
          <p:nvPr/>
        </p:nvSpPr>
        <p:spPr>
          <a:xfrm>
            <a:off x="571500" y="1661250"/>
            <a:ext cx="10815300" cy="492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000"/>
              <a:t>SELECT COUNT(e) FROM Employee e</a:t>
            </a:r>
            <a:endParaRPr b="1" sz="2000"/>
          </a:p>
        </p:txBody>
      </p:sp>
      <p:sp>
        <p:nvSpPr>
          <p:cNvPr id="1183" name="Google Shape;1183;p144"/>
          <p:cNvSpPr txBox="1"/>
          <p:nvPr/>
        </p:nvSpPr>
        <p:spPr>
          <a:xfrm>
            <a:off x="571500" y="2522725"/>
            <a:ext cx="10815300" cy="287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Supported functions: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COUNT</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SUM</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AVG</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MIN</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MAX</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7" name="Shape 1187"/>
        <p:cNvGrpSpPr/>
        <p:nvPr/>
      </p:nvGrpSpPr>
      <p:grpSpPr>
        <a:xfrm>
          <a:off x="0" y="0"/>
          <a:ext cx="0" cy="0"/>
          <a:chOff x="0" y="0"/>
          <a:chExt cx="0" cy="0"/>
        </a:xfrm>
      </p:grpSpPr>
      <p:pic>
        <p:nvPicPr>
          <p:cNvPr descr="image.png" id="1188" name="Google Shape;1188;p14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89" name="Google Shape;1189;p145"/>
          <p:cNvSpPr txBox="1"/>
          <p:nvPr/>
        </p:nvSpPr>
        <p:spPr>
          <a:xfrm>
            <a:off x="571500" y="32147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Aggregate Functions</a:t>
            </a:r>
            <a:endParaRPr b="1" sz="3600">
              <a:solidFill>
                <a:srgbClr val="B91C1C"/>
              </a:solidFill>
              <a:latin typeface="Poppins"/>
              <a:ea typeface="Poppins"/>
              <a:cs typeface="Poppins"/>
              <a:sym typeface="Poppins"/>
            </a:endParaRPr>
          </a:p>
        </p:txBody>
      </p:sp>
      <p:sp>
        <p:nvSpPr>
          <p:cNvPr id="1190" name="Google Shape;1190;p145"/>
          <p:cNvSpPr/>
          <p:nvPr/>
        </p:nvSpPr>
        <p:spPr>
          <a:xfrm>
            <a:off x="571500" y="10787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1" name="Google Shape;1191;p145"/>
          <p:cNvSpPr txBox="1"/>
          <p:nvPr/>
        </p:nvSpPr>
        <p:spPr>
          <a:xfrm>
            <a:off x="526850" y="1473400"/>
            <a:ext cx="11093700" cy="3343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countStudents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totalStudents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COUNT(s) FROM Student 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endParaRPr sz="1200">
              <a:solidFill>
                <a:srgbClr val="CC6C1D"/>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getSingleResult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totalStudents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countStudentsWithCourses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studentsWithCourses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COUNT(DISTINCT s) FROM Student s JOIN s.courses c"</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endParaRPr sz="1200">
              <a:solidFill>
                <a:srgbClr val="CC6C1D"/>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getSingleResult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studentsWithCourses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5" name="Shape 1195"/>
        <p:cNvGrpSpPr/>
        <p:nvPr/>
      </p:nvGrpSpPr>
      <p:grpSpPr>
        <a:xfrm>
          <a:off x="0" y="0"/>
          <a:ext cx="0" cy="0"/>
          <a:chOff x="0" y="0"/>
          <a:chExt cx="0" cy="0"/>
        </a:xfrm>
      </p:grpSpPr>
      <p:pic>
        <p:nvPicPr>
          <p:cNvPr descr="image.png" id="1196" name="Google Shape;1196;p14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97" name="Google Shape;1197;p14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M6_Activity5 - JPQL</a:t>
            </a:r>
            <a:endParaRPr b="1" sz="3600">
              <a:solidFill>
                <a:srgbClr val="B91C1C"/>
              </a:solidFill>
              <a:latin typeface="Poppins"/>
              <a:ea typeface="Poppins"/>
              <a:cs typeface="Poppins"/>
              <a:sym typeface="Poppins"/>
            </a:endParaRPr>
          </a:p>
        </p:txBody>
      </p:sp>
      <p:sp>
        <p:nvSpPr>
          <p:cNvPr id="1198" name="Google Shape;1198;p146"/>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9" name="Google Shape;1199;p146"/>
          <p:cNvSpPr txBox="1"/>
          <p:nvPr/>
        </p:nvSpPr>
        <p:spPr>
          <a:xfrm>
            <a:off x="571500" y="1455200"/>
            <a:ext cx="11049000" cy="289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200">
                <a:solidFill>
                  <a:schemeClr val="dk1"/>
                </a:solidFill>
                <a:latin typeface="Poppins"/>
                <a:ea typeface="Poppins"/>
                <a:cs typeface="Poppins"/>
                <a:sym typeface="Poppins"/>
              </a:rPr>
              <a:t>Objective: </a:t>
            </a:r>
            <a:endParaRPr b="1" sz="2200">
              <a:solidFill>
                <a:schemeClr val="dk1"/>
              </a:solidFill>
              <a:latin typeface="Poppins"/>
              <a:ea typeface="Poppins"/>
              <a:cs typeface="Poppins"/>
              <a:sym typeface="Poppins"/>
            </a:endParaRPr>
          </a:p>
          <a:p>
            <a:pPr indent="0" lvl="0" marL="0" rtl="0" algn="l">
              <a:spcBef>
                <a:spcPts val="0"/>
              </a:spcBef>
              <a:spcAft>
                <a:spcPts val="0"/>
              </a:spcAft>
              <a:buNone/>
            </a:pPr>
            <a:br>
              <a:rPr b="1" lang="en-US" sz="2200">
                <a:solidFill>
                  <a:schemeClr val="dk1"/>
                </a:solidFill>
                <a:latin typeface="Poppins"/>
                <a:ea typeface="Poppins"/>
                <a:cs typeface="Poppins"/>
                <a:sym typeface="Poppins"/>
              </a:rPr>
            </a:br>
            <a:r>
              <a:rPr lang="en-US" sz="2200">
                <a:solidFill>
                  <a:schemeClr val="dk1"/>
                </a:solidFill>
                <a:latin typeface="Poppins"/>
                <a:ea typeface="Poppins"/>
                <a:cs typeface="Poppins"/>
                <a:sym typeface="Poppins"/>
              </a:rPr>
              <a:t>Implement the following operations using JPQL and EntityManager:</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//void printAllStudentNames(EntityManager em)</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//Long countCoursesByStudentId(EntityManager em, Long id)</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//Long countStudentsByAgeGreaterThan(</a:t>
            </a:r>
            <a:r>
              <a:rPr lang="en-US" sz="2200">
                <a:solidFill>
                  <a:schemeClr val="dk1"/>
                </a:solidFill>
                <a:latin typeface="Poppins"/>
                <a:ea typeface="Poppins"/>
                <a:cs typeface="Poppins"/>
                <a:sym typeface="Poppins"/>
              </a:rPr>
              <a:t>EntityManager em, </a:t>
            </a:r>
            <a:r>
              <a:rPr lang="en-US" sz="2200">
                <a:solidFill>
                  <a:schemeClr val="dk1"/>
                </a:solidFill>
                <a:latin typeface="Poppins"/>
                <a:ea typeface="Poppins"/>
                <a:cs typeface="Poppins"/>
                <a:sym typeface="Poppins"/>
              </a:rPr>
              <a:t>int age)</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3" name="Shape 1203"/>
        <p:cNvGrpSpPr/>
        <p:nvPr/>
      </p:nvGrpSpPr>
      <p:grpSpPr>
        <a:xfrm>
          <a:off x="0" y="0"/>
          <a:ext cx="0" cy="0"/>
          <a:chOff x="0" y="0"/>
          <a:chExt cx="0" cy="0"/>
        </a:xfrm>
      </p:grpSpPr>
      <p:pic>
        <p:nvPicPr>
          <p:cNvPr descr="image.png" id="1204" name="Google Shape;1204;p14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05" name="Google Shape;1205;p14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M6_Activity5 - JPQL (Output)</a:t>
            </a:r>
            <a:endParaRPr b="1" sz="3600">
              <a:solidFill>
                <a:srgbClr val="B91C1C"/>
              </a:solidFill>
              <a:latin typeface="Poppins"/>
              <a:ea typeface="Poppins"/>
              <a:cs typeface="Poppins"/>
              <a:sym typeface="Poppins"/>
            </a:endParaRPr>
          </a:p>
        </p:txBody>
      </p:sp>
      <p:sp>
        <p:nvSpPr>
          <p:cNvPr id="1206" name="Google Shape;1206;p147"/>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07" name="Google Shape;1207;p147"/>
          <p:cNvSpPr txBox="1"/>
          <p:nvPr/>
        </p:nvSpPr>
        <p:spPr>
          <a:xfrm>
            <a:off x="571500" y="1393025"/>
            <a:ext cx="59730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200">
                <a:solidFill>
                  <a:schemeClr val="dk1"/>
                </a:solidFill>
                <a:latin typeface="Poppins"/>
                <a:ea typeface="Poppins"/>
                <a:cs typeface="Poppins"/>
                <a:sym typeface="Poppins"/>
              </a:rPr>
              <a:t>void printAllStudentNames()</a:t>
            </a:r>
            <a:endParaRPr/>
          </a:p>
        </p:txBody>
      </p:sp>
      <p:pic>
        <p:nvPicPr>
          <p:cNvPr id="1208" name="Google Shape;1208;p147"/>
          <p:cNvPicPr preferRelativeResize="0"/>
          <p:nvPr/>
        </p:nvPicPr>
        <p:blipFill>
          <a:blip r:embed="rId4">
            <a:alphaModFix/>
          </a:blip>
          <a:stretch>
            <a:fillRect/>
          </a:stretch>
        </p:blipFill>
        <p:spPr>
          <a:xfrm>
            <a:off x="571500" y="2296725"/>
            <a:ext cx="4481800" cy="1551400"/>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2" name="Shape 1212"/>
        <p:cNvGrpSpPr/>
        <p:nvPr/>
      </p:nvGrpSpPr>
      <p:grpSpPr>
        <a:xfrm>
          <a:off x="0" y="0"/>
          <a:ext cx="0" cy="0"/>
          <a:chOff x="0" y="0"/>
          <a:chExt cx="0" cy="0"/>
        </a:xfrm>
      </p:grpSpPr>
      <p:pic>
        <p:nvPicPr>
          <p:cNvPr descr="image.png" id="1213" name="Google Shape;1213;p14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14" name="Google Shape;1214;p14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M6_Activity5 - JPQL (Output)</a:t>
            </a:r>
            <a:endParaRPr b="1" sz="3600">
              <a:solidFill>
                <a:srgbClr val="B91C1C"/>
              </a:solidFill>
              <a:latin typeface="Poppins"/>
              <a:ea typeface="Poppins"/>
              <a:cs typeface="Poppins"/>
              <a:sym typeface="Poppins"/>
            </a:endParaRPr>
          </a:p>
        </p:txBody>
      </p:sp>
      <p:sp>
        <p:nvSpPr>
          <p:cNvPr id="1215" name="Google Shape;1215;p148"/>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16" name="Google Shape;1216;p148"/>
          <p:cNvSpPr txBox="1"/>
          <p:nvPr/>
        </p:nvSpPr>
        <p:spPr>
          <a:xfrm>
            <a:off x="571500" y="1393025"/>
            <a:ext cx="59730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200">
                <a:solidFill>
                  <a:schemeClr val="dk1"/>
                </a:solidFill>
                <a:latin typeface="Poppins"/>
                <a:ea typeface="Poppins"/>
                <a:cs typeface="Poppins"/>
                <a:sym typeface="Poppins"/>
              </a:rPr>
              <a:t>void </a:t>
            </a:r>
            <a:r>
              <a:rPr lang="en-US" sz="2200">
                <a:solidFill>
                  <a:schemeClr val="dk1"/>
                </a:solidFill>
                <a:latin typeface="Poppins"/>
                <a:ea typeface="Poppins"/>
                <a:cs typeface="Poppins"/>
                <a:sym typeface="Poppins"/>
              </a:rPr>
              <a:t>countCoursesByStudentId</a:t>
            </a:r>
            <a:r>
              <a:rPr lang="en-US" sz="2200">
                <a:solidFill>
                  <a:schemeClr val="dk1"/>
                </a:solidFill>
                <a:latin typeface="Poppins"/>
                <a:ea typeface="Poppins"/>
                <a:cs typeface="Poppins"/>
                <a:sym typeface="Poppins"/>
              </a:rPr>
              <a:t>()</a:t>
            </a:r>
            <a:endParaRPr/>
          </a:p>
        </p:txBody>
      </p:sp>
      <p:pic>
        <p:nvPicPr>
          <p:cNvPr id="1217" name="Google Shape;1217;p148"/>
          <p:cNvPicPr preferRelativeResize="0"/>
          <p:nvPr/>
        </p:nvPicPr>
        <p:blipFill>
          <a:blip r:embed="rId4">
            <a:alphaModFix/>
          </a:blip>
          <a:stretch>
            <a:fillRect/>
          </a:stretch>
        </p:blipFill>
        <p:spPr>
          <a:xfrm>
            <a:off x="3108228" y="2371725"/>
            <a:ext cx="5002325" cy="2625325"/>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pic>
        <p:nvPicPr>
          <p:cNvPr descr="image.png" id="1222" name="Google Shape;1222;p14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23" name="Google Shape;1223;p14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M6_Activity5 - JPQL (Output)</a:t>
            </a:r>
            <a:endParaRPr b="1" sz="3600">
              <a:solidFill>
                <a:srgbClr val="B91C1C"/>
              </a:solidFill>
              <a:latin typeface="Poppins"/>
              <a:ea typeface="Poppins"/>
              <a:cs typeface="Poppins"/>
              <a:sym typeface="Poppins"/>
            </a:endParaRPr>
          </a:p>
        </p:txBody>
      </p:sp>
      <p:sp>
        <p:nvSpPr>
          <p:cNvPr id="1224" name="Google Shape;1224;p149"/>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25" name="Google Shape;1225;p149"/>
          <p:cNvSpPr txBox="1"/>
          <p:nvPr/>
        </p:nvSpPr>
        <p:spPr>
          <a:xfrm>
            <a:off x="571500" y="1393025"/>
            <a:ext cx="110490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2200">
                <a:solidFill>
                  <a:schemeClr val="dk1"/>
                </a:solidFill>
                <a:latin typeface="Poppins"/>
                <a:ea typeface="Poppins"/>
                <a:cs typeface="Poppins"/>
                <a:sym typeface="Poppins"/>
              </a:rPr>
              <a:t>Long countStudentsByAgeGreaterThan(EntityManager em, int age)</a:t>
            </a:r>
            <a:endParaRPr/>
          </a:p>
        </p:txBody>
      </p:sp>
      <p:pic>
        <p:nvPicPr>
          <p:cNvPr id="1226" name="Google Shape;1226;p149"/>
          <p:cNvPicPr preferRelativeResize="0"/>
          <p:nvPr/>
        </p:nvPicPr>
        <p:blipFill>
          <a:blip r:embed="rId4">
            <a:alphaModFix/>
          </a:blip>
          <a:stretch>
            <a:fillRect/>
          </a:stretch>
        </p:blipFill>
        <p:spPr>
          <a:xfrm>
            <a:off x="4233863" y="2524125"/>
            <a:ext cx="4029075" cy="2114550"/>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0" name="Shape 1230"/>
        <p:cNvGrpSpPr/>
        <p:nvPr/>
      </p:nvGrpSpPr>
      <p:grpSpPr>
        <a:xfrm>
          <a:off x="0" y="0"/>
          <a:ext cx="0" cy="0"/>
          <a:chOff x="0" y="0"/>
          <a:chExt cx="0" cy="0"/>
        </a:xfrm>
      </p:grpSpPr>
      <p:pic>
        <p:nvPicPr>
          <p:cNvPr descr="image.png" id="1231" name="Google Shape;1231;p15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32" name="Google Shape;1232;p150"/>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Criteria API</a:t>
            </a:r>
            <a:endParaRPr b="1" sz="5700">
              <a:solidFill>
                <a:srgbClr val="B91C1C"/>
              </a:solidFill>
              <a:latin typeface="Poppins"/>
              <a:ea typeface="Poppins"/>
              <a:cs typeface="Poppins"/>
              <a:sym typeface="Poppins"/>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6" name="Shape 1236"/>
        <p:cNvGrpSpPr/>
        <p:nvPr/>
      </p:nvGrpSpPr>
      <p:grpSpPr>
        <a:xfrm>
          <a:off x="0" y="0"/>
          <a:ext cx="0" cy="0"/>
          <a:chOff x="0" y="0"/>
          <a:chExt cx="0" cy="0"/>
        </a:xfrm>
      </p:grpSpPr>
      <p:pic>
        <p:nvPicPr>
          <p:cNvPr descr="image.png" id="1237" name="Google Shape;1237;p15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38" name="Google Shape;1238;p15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What is Criteria API?</a:t>
            </a:r>
            <a:endParaRPr b="1" sz="3600">
              <a:solidFill>
                <a:srgbClr val="B91C1C"/>
              </a:solidFill>
              <a:latin typeface="Poppins"/>
              <a:ea typeface="Poppins"/>
              <a:cs typeface="Poppins"/>
              <a:sym typeface="Poppins"/>
            </a:endParaRPr>
          </a:p>
        </p:txBody>
      </p:sp>
      <p:sp>
        <p:nvSpPr>
          <p:cNvPr id="1239" name="Google Shape;1239;p15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0" name="Google Shape;1240;p151"/>
          <p:cNvSpPr txBox="1"/>
          <p:nvPr/>
        </p:nvSpPr>
        <p:spPr>
          <a:xfrm>
            <a:off x="571500" y="1693950"/>
            <a:ext cx="11049000" cy="2108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Criteria API is a type-safe, programmatic way to build JPA queries.</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Queries are built using Java code, not strings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Can be used for dynamic queries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Reduces risk of syntax errors at runtime</a:t>
            </a:r>
            <a:endParaRPr sz="2500">
              <a:solidFill>
                <a:schemeClr val="dk1"/>
              </a:solidFill>
              <a:latin typeface="Poppins"/>
              <a:ea typeface="Poppins"/>
              <a:cs typeface="Poppins"/>
              <a:sym typeface="Poppins"/>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4" name="Shape 1244"/>
        <p:cNvGrpSpPr/>
        <p:nvPr/>
      </p:nvGrpSpPr>
      <p:grpSpPr>
        <a:xfrm>
          <a:off x="0" y="0"/>
          <a:ext cx="0" cy="0"/>
          <a:chOff x="0" y="0"/>
          <a:chExt cx="0" cy="0"/>
        </a:xfrm>
      </p:grpSpPr>
      <p:pic>
        <p:nvPicPr>
          <p:cNvPr descr="image.png" id="1245" name="Google Shape;1245;p15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46" name="Google Shape;1246;p15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Why Use Criteria API?</a:t>
            </a:r>
            <a:endParaRPr b="1" sz="3600">
              <a:solidFill>
                <a:srgbClr val="B91C1C"/>
              </a:solidFill>
              <a:latin typeface="Poppins"/>
              <a:ea typeface="Poppins"/>
              <a:cs typeface="Poppins"/>
              <a:sym typeface="Poppins"/>
            </a:endParaRPr>
          </a:p>
        </p:txBody>
      </p:sp>
      <p:sp>
        <p:nvSpPr>
          <p:cNvPr id="1247" name="Google Shape;1247;p15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8" name="Google Shape;1248;p152"/>
          <p:cNvSpPr txBox="1"/>
          <p:nvPr/>
        </p:nvSpPr>
        <p:spPr>
          <a:xfrm>
            <a:off x="571500" y="1693950"/>
            <a:ext cx="11049000" cy="3201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Type-safe</a:t>
            </a:r>
            <a:r>
              <a:rPr lang="en-US" sz="2800">
                <a:solidFill>
                  <a:schemeClr val="dk1"/>
                </a:solidFill>
                <a:latin typeface="Poppins"/>
                <a:ea typeface="Poppins"/>
                <a:cs typeface="Poppins"/>
                <a:sym typeface="Poppins"/>
              </a:rPr>
              <a:t>: compiler checks field names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Dynamic queries</a:t>
            </a:r>
            <a:r>
              <a:rPr lang="en-US" sz="2800">
                <a:solidFill>
                  <a:schemeClr val="dk1"/>
                </a:solidFill>
                <a:latin typeface="Poppins"/>
                <a:ea typeface="Poppins"/>
                <a:cs typeface="Poppins"/>
                <a:sym typeface="Poppins"/>
              </a:rPr>
              <a:t>: build queries programmatically</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Safe refactoring</a:t>
            </a:r>
            <a:r>
              <a:rPr lang="en-US" sz="2800">
                <a:solidFill>
                  <a:schemeClr val="dk1"/>
                </a:solidFill>
                <a:latin typeface="Poppins"/>
                <a:ea typeface="Poppins"/>
                <a:cs typeface="Poppins"/>
                <a:sym typeface="Poppins"/>
              </a:rPr>
              <a:t>: IDE detects renamed fields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Works well with complex queries</a:t>
            </a:r>
            <a:endParaRPr b="1" sz="2800">
              <a:solidFill>
                <a:schemeClr val="dk1"/>
              </a:solidFill>
              <a:latin typeface="Poppins"/>
              <a:ea typeface="Poppins"/>
              <a:cs typeface="Poppins"/>
              <a:sym typeface="Poppins"/>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2" name="Shape 1252"/>
        <p:cNvGrpSpPr/>
        <p:nvPr/>
      </p:nvGrpSpPr>
      <p:grpSpPr>
        <a:xfrm>
          <a:off x="0" y="0"/>
          <a:ext cx="0" cy="0"/>
          <a:chOff x="0" y="0"/>
          <a:chExt cx="0" cy="0"/>
        </a:xfrm>
      </p:grpSpPr>
      <p:pic>
        <p:nvPicPr>
          <p:cNvPr descr="image.png" id="1253" name="Google Shape;1253;p15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54" name="Google Shape;1254;p15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Basic Components</a:t>
            </a:r>
            <a:endParaRPr b="1" sz="3600">
              <a:solidFill>
                <a:srgbClr val="B91C1C"/>
              </a:solidFill>
              <a:latin typeface="Poppins"/>
              <a:ea typeface="Poppins"/>
              <a:cs typeface="Poppins"/>
              <a:sym typeface="Poppins"/>
            </a:endParaRPr>
          </a:p>
        </p:txBody>
      </p:sp>
      <p:sp>
        <p:nvSpPr>
          <p:cNvPr id="1255" name="Google Shape;1255;p15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6" name="Google Shape;1256;p153"/>
          <p:cNvSpPr txBox="1"/>
          <p:nvPr/>
        </p:nvSpPr>
        <p:spPr>
          <a:xfrm>
            <a:off x="571500" y="1693950"/>
            <a:ext cx="11049000" cy="40635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CriteriaBuilder → factory for building criteria queries</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CriteriaQuery → represents the query</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Root → represents the entity in the FROM clause</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Predicate → represents WHERE conditions</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TypedQuery → executes the query</a:t>
            </a:r>
            <a:endParaRPr b="1" sz="2800">
              <a:solidFill>
                <a:schemeClr val="dk1"/>
              </a:solidFill>
              <a:latin typeface="Poppins"/>
              <a:ea typeface="Poppins"/>
              <a:cs typeface="Poppins"/>
              <a:sym typeface="Poppins"/>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0" name="Shape 1260"/>
        <p:cNvGrpSpPr/>
        <p:nvPr/>
      </p:nvGrpSpPr>
      <p:grpSpPr>
        <a:xfrm>
          <a:off x="0" y="0"/>
          <a:ext cx="0" cy="0"/>
          <a:chOff x="0" y="0"/>
          <a:chExt cx="0" cy="0"/>
        </a:xfrm>
      </p:grpSpPr>
      <p:pic>
        <p:nvPicPr>
          <p:cNvPr descr="image.png" id="1261" name="Google Shape;1261;p15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62" name="Google Shape;1262;p15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Simple SELECT Query</a:t>
            </a:r>
            <a:endParaRPr b="1" sz="3600">
              <a:solidFill>
                <a:srgbClr val="B91C1C"/>
              </a:solidFill>
              <a:latin typeface="Poppins"/>
              <a:ea typeface="Poppins"/>
              <a:cs typeface="Poppins"/>
              <a:sym typeface="Poppins"/>
            </a:endParaRPr>
          </a:p>
        </p:txBody>
      </p:sp>
      <p:sp>
        <p:nvSpPr>
          <p:cNvPr id="1263" name="Google Shape;1263;p15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64" name="Google Shape;1264;p154"/>
          <p:cNvSpPr txBox="1"/>
          <p:nvPr/>
        </p:nvSpPr>
        <p:spPr>
          <a:xfrm>
            <a:off x="571500" y="4796250"/>
            <a:ext cx="10735500" cy="10467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Selects all Student entities</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Equivalent to </a:t>
            </a:r>
            <a:r>
              <a:rPr b="1" lang="en-US" sz="2800">
                <a:solidFill>
                  <a:schemeClr val="dk1"/>
                </a:solidFill>
                <a:latin typeface="Poppins"/>
                <a:ea typeface="Poppins"/>
                <a:cs typeface="Poppins"/>
                <a:sym typeface="Poppins"/>
              </a:rPr>
              <a:t>SELECT s FROM Student s</a:t>
            </a:r>
            <a:endParaRPr b="1" sz="2800">
              <a:solidFill>
                <a:schemeClr val="dk1"/>
              </a:solidFill>
              <a:latin typeface="Poppins"/>
              <a:ea typeface="Poppins"/>
              <a:cs typeface="Poppins"/>
              <a:sym typeface="Poppins"/>
            </a:endParaRPr>
          </a:p>
        </p:txBody>
      </p:sp>
      <p:sp>
        <p:nvSpPr>
          <p:cNvPr id="1265" name="Google Shape;1265;p154"/>
          <p:cNvSpPr txBox="1"/>
          <p:nvPr/>
        </p:nvSpPr>
        <p:spPr>
          <a:xfrm>
            <a:off x="571500" y="1535900"/>
            <a:ext cx="11049000" cy="2493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9" name="Shape 1269"/>
        <p:cNvGrpSpPr/>
        <p:nvPr/>
      </p:nvGrpSpPr>
      <p:grpSpPr>
        <a:xfrm>
          <a:off x="0" y="0"/>
          <a:ext cx="0" cy="0"/>
          <a:chOff x="0" y="0"/>
          <a:chExt cx="0" cy="0"/>
        </a:xfrm>
      </p:grpSpPr>
      <p:pic>
        <p:nvPicPr>
          <p:cNvPr descr="image.png" id="1270" name="Google Shape;1270;p15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71" name="Google Shape;1271;p155"/>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WHERE Clause</a:t>
            </a:r>
            <a:endParaRPr b="1" sz="3600">
              <a:solidFill>
                <a:srgbClr val="B91C1C"/>
              </a:solidFill>
              <a:latin typeface="Poppins"/>
              <a:ea typeface="Poppins"/>
              <a:cs typeface="Poppins"/>
              <a:sym typeface="Poppins"/>
            </a:endParaRPr>
          </a:p>
        </p:txBody>
      </p:sp>
      <p:sp>
        <p:nvSpPr>
          <p:cNvPr id="1272" name="Google Shape;1272;p15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3" name="Google Shape;1273;p155"/>
          <p:cNvSpPr txBox="1"/>
          <p:nvPr/>
        </p:nvSpPr>
        <p:spPr>
          <a:xfrm>
            <a:off x="571500" y="479625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Filters students with age &gt; 21</a:t>
            </a:r>
            <a:endParaRPr b="1" sz="2800">
              <a:solidFill>
                <a:schemeClr val="dk1"/>
              </a:solidFill>
              <a:latin typeface="Poppins"/>
              <a:ea typeface="Poppins"/>
              <a:cs typeface="Poppins"/>
              <a:sym typeface="Poppins"/>
            </a:endParaRPr>
          </a:p>
        </p:txBody>
      </p:sp>
      <p:sp>
        <p:nvSpPr>
          <p:cNvPr id="1274" name="Google Shape;1274;p155"/>
          <p:cNvSpPr txBox="1"/>
          <p:nvPr/>
        </p:nvSpPr>
        <p:spPr>
          <a:xfrm>
            <a:off x="571500" y="1580550"/>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selectStudentsWhereAgeGreaterThan21</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Predicate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condition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greaterThan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where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condition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8" name="Shape 1278"/>
        <p:cNvGrpSpPr/>
        <p:nvPr/>
      </p:nvGrpSpPr>
      <p:grpSpPr>
        <a:xfrm>
          <a:off x="0" y="0"/>
          <a:ext cx="0" cy="0"/>
          <a:chOff x="0" y="0"/>
          <a:chExt cx="0" cy="0"/>
        </a:xfrm>
      </p:grpSpPr>
      <p:pic>
        <p:nvPicPr>
          <p:cNvPr descr="image.png" id="1279" name="Google Shape;1279;p15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80" name="Google Shape;1280;p156"/>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Selecting Specific Fields</a:t>
            </a:r>
            <a:endParaRPr b="1" sz="3600">
              <a:solidFill>
                <a:srgbClr val="B91C1C"/>
              </a:solidFill>
              <a:latin typeface="Poppins"/>
              <a:ea typeface="Poppins"/>
              <a:cs typeface="Poppins"/>
              <a:sym typeface="Poppins"/>
            </a:endParaRPr>
          </a:p>
        </p:txBody>
      </p:sp>
      <p:sp>
        <p:nvSpPr>
          <p:cNvPr id="1281" name="Google Shape;1281;p15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2" name="Google Shape;1282;p156"/>
          <p:cNvSpPr txBox="1"/>
          <p:nvPr/>
        </p:nvSpPr>
        <p:spPr>
          <a:xfrm>
            <a:off x="571500" y="479625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Selects All Student Names</a:t>
            </a:r>
            <a:endParaRPr b="1" sz="2800">
              <a:solidFill>
                <a:schemeClr val="dk1"/>
              </a:solidFill>
              <a:latin typeface="Poppins"/>
              <a:ea typeface="Poppins"/>
              <a:cs typeface="Poppins"/>
              <a:sym typeface="Poppins"/>
            </a:endParaRPr>
          </a:p>
        </p:txBody>
      </p:sp>
      <p:sp>
        <p:nvSpPr>
          <p:cNvPr id="1283" name="Google Shape;1283;p156"/>
          <p:cNvSpPr txBox="1"/>
          <p:nvPr/>
        </p:nvSpPr>
        <p:spPr>
          <a:xfrm>
            <a:off x="571500" y="1580550"/>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selectStudentNames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7" name="Shape 1287"/>
        <p:cNvGrpSpPr/>
        <p:nvPr/>
      </p:nvGrpSpPr>
      <p:grpSpPr>
        <a:xfrm>
          <a:off x="0" y="0"/>
          <a:ext cx="0" cy="0"/>
          <a:chOff x="0" y="0"/>
          <a:chExt cx="0" cy="0"/>
        </a:xfrm>
      </p:grpSpPr>
      <p:pic>
        <p:nvPicPr>
          <p:cNvPr descr="image.png" id="1288" name="Google Shape;1288;p15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89" name="Google Shape;1289;p157"/>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Selecting Specific Fields</a:t>
            </a:r>
            <a:endParaRPr b="1" sz="3600">
              <a:solidFill>
                <a:srgbClr val="B91C1C"/>
              </a:solidFill>
              <a:latin typeface="Poppins"/>
              <a:ea typeface="Poppins"/>
              <a:cs typeface="Poppins"/>
              <a:sym typeface="Poppins"/>
            </a:endParaRPr>
          </a:p>
        </p:txBody>
      </p:sp>
      <p:sp>
        <p:nvSpPr>
          <p:cNvPr id="1290" name="Google Shape;1290;p15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1" name="Google Shape;1291;p157"/>
          <p:cNvSpPr txBox="1"/>
          <p:nvPr/>
        </p:nvSpPr>
        <p:spPr>
          <a:xfrm>
            <a:off x="571500" y="5808150"/>
            <a:ext cx="110490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Selects Student id, name, and email</a:t>
            </a:r>
            <a:endParaRPr b="1" sz="2800">
              <a:solidFill>
                <a:schemeClr val="dk1"/>
              </a:solidFill>
              <a:latin typeface="Poppins"/>
              <a:ea typeface="Poppins"/>
              <a:cs typeface="Poppins"/>
              <a:sym typeface="Poppins"/>
            </a:endParaRPr>
          </a:p>
        </p:txBody>
      </p:sp>
      <p:sp>
        <p:nvSpPr>
          <p:cNvPr id="1292" name="Google Shape;1292;p157"/>
          <p:cNvSpPr txBox="1"/>
          <p:nvPr/>
        </p:nvSpPr>
        <p:spPr>
          <a:xfrm>
            <a:off x="571500" y="1580550"/>
            <a:ext cx="11049000" cy="4192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selectStudentIdNameEmail</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array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Display the retrieved attributes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for</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email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"id: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 name: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 email: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pic>
        <p:nvPicPr>
          <p:cNvPr descr="image.png" id="1297" name="Google Shape;1297;p15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98" name="Google Shape;1298;p158"/>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Selecting Specific Fields - Using DTO</a:t>
            </a:r>
            <a:endParaRPr b="1" sz="3600">
              <a:solidFill>
                <a:srgbClr val="B91C1C"/>
              </a:solidFill>
              <a:latin typeface="Poppins"/>
              <a:ea typeface="Poppins"/>
              <a:cs typeface="Poppins"/>
              <a:sym typeface="Poppins"/>
            </a:endParaRPr>
          </a:p>
        </p:txBody>
      </p:sp>
      <p:sp>
        <p:nvSpPr>
          <p:cNvPr id="1299" name="Google Shape;1299;p15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0" name="Google Shape;1300;p158"/>
          <p:cNvSpPr txBox="1"/>
          <p:nvPr/>
        </p:nvSpPr>
        <p:spPr>
          <a:xfrm>
            <a:off x="571500" y="2686250"/>
            <a:ext cx="11049000" cy="3555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StudentDto</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StudentDto</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StudentDto</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super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email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CC6C1D"/>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	</a:t>
            </a:r>
            <a:r>
              <a:rPr lang="en-US" sz="1200">
                <a:solidFill>
                  <a:srgbClr val="96EC3F"/>
                </a:solidFill>
                <a:highlight>
                  <a:srgbClr val="1E1F22"/>
                </a:highlight>
                <a:latin typeface="Courier New"/>
                <a:ea typeface="Courier New"/>
                <a:cs typeface="Courier New"/>
                <a:sym typeface="Courier New"/>
              </a:rPr>
              <a:t>//getters and setters</a:t>
            </a:r>
            <a:endParaRPr sz="1200">
              <a:solidFill>
                <a:srgbClr val="96EC3F"/>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
        <p:nvSpPr>
          <p:cNvPr id="1301" name="Google Shape;1301;p158"/>
          <p:cNvSpPr txBox="1"/>
          <p:nvPr/>
        </p:nvSpPr>
        <p:spPr>
          <a:xfrm>
            <a:off x="571500" y="169395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Create a DTO class that contains the expected fields.</a:t>
            </a:r>
            <a:endParaRPr b="1" sz="2800">
              <a:solidFill>
                <a:schemeClr val="dk1"/>
              </a:solidFill>
              <a:latin typeface="Poppins"/>
              <a:ea typeface="Poppins"/>
              <a:cs typeface="Poppins"/>
              <a:sym typeface="Poppins"/>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5" name="Shape 1305"/>
        <p:cNvGrpSpPr/>
        <p:nvPr/>
      </p:nvGrpSpPr>
      <p:grpSpPr>
        <a:xfrm>
          <a:off x="0" y="0"/>
          <a:ext cx="0" cy="0"/>
          <a:chOff x="0" y="0"/>
          <a:chExt cx="0" cy="0"/>
        </a:xfrm>
      </p:grpSpPr>
      <p:pic>
        <p:nvPicPr>
          <p:cNvPr descr="image.png" id="1306" name="Google Shape;1306;p15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07" name="Google Shape;1307;p159"/>
          <p:cNvSpPr txBox="1"/>
          <p:nvPr/>
        </p:nvSpPr>
        <p:spPr>
          <a:xfrm>
            <a:off x="571500" y="3014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Selecting Specific Fields - Using DTO</a:t>
            </a:r>
            <a:endParaRPr b="1" sz="3600">
              <a:solidFill>
                <a:srgbClr val="B91C1C"/>
              </a:solidFill>
              <a:latin typeface="Poppins"/>
              <a:ea typeface="Poppins"/>
              <a:cs typeface="Poppins"/>
              <a:sym typeface="Poppins"/>
            </a:endParaRPr>
          </a:p>
        </p:txBody>
      </p:sp>
      <p:sp>
        <p:nvSpPr>
          <p:cNvPr id="1308" name="Google Shape;1308;p159"/>
          <p:cNvSpPr/>
          <p:nvPr/>
        </p:nvSpPr>
        <p:spPr>
          <a:xfrm>
            <a:off x="571500" y="9363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9" name="Google Shape;1309;p159"/>
          <p:cNvSpPr txBox="1"/>
          <p:nvPr/>
        </p:nvSpPr>
        <p:spPr>
          <a:xfrm>
            <a:off x="618450" y="1036350"/>
            <a:ext cx="110490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selectStudentDto</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construct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Display the retrieved attributes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for</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StudentDto</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"id: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431800" lvl="0" marL="2311400" rtl="0" algn="l">
              <a:lnSpc>
                <a:spcPct val="115000"/>
              </a:lnSpc>
              <a:spcBef>
                <a:spcPts val="0"/>
              </a:spcBef>
              <a:spcAft>
                <a:spcPts val="0"/>
              </a:spcAft>
              <a:buNone/>
            </a:pPr>
            <a:r>
              <a:rPr lang="en-US" sz="1200">
                <a:solidFill>
                  <a:srgbClr val="17C6A3"/>
                </a:solidFill>
                <a:highlight>
                  <a:srgbClr val="1E1F22"/>
                </a:highlight>
                <a:latin typeface="Courier New"/>
                <a:ea typeface="Courier New"/>
                <a:cs typeface="Courier New"/>
                <a:sym typeface="Courier New"/>
              </a:rPr>
              <a:t>", name: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431800" lvl="0" marL="2311400" rtl="0" algn="l">
              <a:lnSpc>
                <a:spcPct val="115000"/>
              </a:lnSpc>
              <a:spcBef>
                <a:spcPts val="0"/>
              </a:spcBef>
              <a:spcAft>
                <a:spcPts val="0"/>
              </a:spcAft>
              <a:buClr>
                <a:schemeClr val="dk1"/>
              </a:buClr>
              <a:buSzPts val="1100"/>
              <a:buFont typeface="Arial"/>
              <a:buNone/>
            </a:pPr>
            <a:r>
              <a:rPr lang="en-US" sz="1200">
                <a:solidFill>
                  <a:srgbClr val="17C6A3"/>
                </a:solidFill>
                <a:highlight>
                  <a:srgbClr val="1E1F22"/>
                </a:highlight>
                <a:latin typeface="Courier New"/>
                <a:ea typeface="Courier New"/>
                <a:cs typeface="Courier New"/>
                <a:sym typeface="Courier New"/>
              </a:rPr>
              <a:t>", email: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getEmail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3" name="Shape 1313"/>
        <p:cNvGrpSpPr/>
        <p:nvPr/>
      </p:nvGrpSpPr>
      <p:grpSpPr>
        <a:xfrm>
          <a:off x="0" y="0"/>
          <a:ext cx="0" cy="0"/>
          <a:chOff x="0" y="0"/>
          <a:chExt cx="0" cy="0"/>
        </a:xfrm>
      </p:grpSpPr>
      <p:pic>
        <p:nvPicPr>
          <p:cNvPr descr="image.png" id="1314" name="Google Shape;1314;p16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15" name="Google Shape;1315;p160"/>
          <p:cNvSpPr txBox="1"/>
          <p:nvPr/>
        </p:nvSpPr>
        <p:spPr>
          <a:xfrm>
            <a:off x="571500" y="3253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Multiple Conditions (AND / OR)</a:t>
            </a:r>
            <a:endParaRPr b="1" sz="3600">
              <a:solidFill>
                <a:srgbClr val="B91C1C"/>
              </a:solidFill>
              <a:latin typeface="Poppins"/>
              <a:ea typeface="Poppins"/>
              <a:cs typeface="Poppins"/>
              <a:sym typeface="Poppins"/>
            </a:endParaRPr>
          </a:p>
        </p:txBody>
      </p:sp>
      <p:sp>
        <p:nvSpPr>
          <p:cNvPr id="1316" name="Google Shape;1316;p160"/>
          <p:cNvSpPr/>
          <p:nvPr/>
        </p:nvSpPr>
        <p:spPr>
          <a:xfrm>
            <a:off x="571500" y="9804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7" name="Google Shape;1317;p160"/>
          <p:cNvSpPr txBox="1"/>
          <p:nvPr/>
        </p:nvSpPr>
        <p:spPr>
          <a:xfrm>
            <a:off x="571500" y="5142650"/>
            <a:ext cx="110490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AND, OR, NOT are available through CriteriaBuilder</a:t>
            </a:r>
            <a:endParaRPr b="1" sz="2800">
              <a:solidFill>
                <a:schemeClr val="dk1"/>
              </a:solidFill>
              <a:latin typeface="Poppins"/>
              <a:ea typeface="Poppins"/>
              <a:cs typeface="Poppins"/>
              <a:sym typeface="Poppins"/>
            </a:endParaRPr>
          </a:p>
        </p:txBody>
      </p:sp>
      <p:sp>
        <p:nvSpPr>
          <p:cNvPr id="1318" name="Google Shape;1318;p160"/>
          <p:cNvSpPr txBox="1"/>
          <p:nvPr/>
        </p:nvSpPr>
        <p:spPr>
          <a:xfrm>
            <a:off x="571500" y="1160850"/>
            <a:ext cx="11049000" cy="3768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selectStudentMultipleWhereCondition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Predicate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condition1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greaterThan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Predicate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condition2</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lessThan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60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where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and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condition1</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condition2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2" name="Shape 1322"/>
        <p:cNvGrpSpPr/>
        <p:nvPr/>
      </p:nvGrpSpPr>
      <p:grpSpPr>
        <a:xfrm>
          <a:off x="0" y="0"/>
          <a:ext cx="0" cy="0"/>
          <a:chOff x="0" y="0"/>
          <a:chExt cx="0" cy="0"/>
        </a:xfrm>
      </p:grpSpPr>
      <p:pic>
        <p:nvPicPr>
          <p:cNvPr descr="image.png" id="1323" name="Google Shape;1323;p16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24" name="Google Shape;1324;p161"/>
          <p:cNvSpPr txBox="1"/>
          <p:nvPr/>
        </p:nvSpPr>
        <p:spPr>
          <a:xfrm>
            <a:off x="571500" y="3572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ORDER BY Clause</a:t>
            </a:r>
            <a:endParaRPr b="1" sz="3600">
              <a:solidFill>
                <a:srgbClr val="B91C1C"/>
              </a:solidFill>
              <a:latin typeface="Poppins"/>
              <a:ea typeface="Poppins"/>
              <a:cs typeface="Poppins"/>
              <a:sym typeface="Poppins"/>
            </a:endParaRPr>
          </a:p>
        </p:txBody>
      </p:sp>
      <p:sp>
        <p:nvSpPr>
          <p:cNvPr id="1325" name="Google Shape;1325;p161"/>
          <p:cNvSpPr/>
          <p:nvPr/>
        </p:nvSpPr>
        <p:spPr>
          <a:xfrm>
            <a:off x="571500" y="9983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6" name="Google Shape;1326;p161"/>
          <p:cNvSpPr txBox="1"/>
          <p:nvPr/>
        </p:nvSpPr>
        <p:spPr>
          <a:xfrm>
            <a:off x="571500" y="1237600"/>
            <a:ext cx="11049000" cy="800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b="1" lang="en-US" sz="2000"/>
              <a:t>cq.select(root).orderBy(cb.asc(root.get(</a:t>
            </a:r>
            <a:r>
              <a:rPr b="1" lang="en-US" sz="2000">
                <a:solidFill>
                  <a:srgbClr val="38761D"/>
                </a:solidFill>
              </a:rPr>
              <a:t>"name"</a:t>
            </a:r>
            <a:r>
              <a:rPr b="1" lang="en-US" sz="2000"/>
              <a:t>))); // ascending</a:t>
            </a:r>
            <a:endParaRPr b="1" sz="2000"/>
          </a:p>
          <a:p>
            <a:pPr indent="0" lvl="0" marL="0" rtl="0" algn="l">
              <a:spcBef>
                <a:spcPts val="0"/>
              </a:spcBef>
              <a:spcAft>
                <a:spcPts val="0"/>
              </a:spcAft>
              <a:buNone/>
            </a:pPr>
            <a:r>
              <a:rPr b="1" lang="en-US" sz="2000"/>
              <a:t>cq.select(root).orderBy(cb.desc(root.get(</a:t>
            </a:r>
            <a:r>
              <a:rPr b="1" lang="en-US" sz="2000">
                <a:solidFill>
                  <a:srgbClr val="38761D"/>
                </a:solidFill>
              </a:rPr>
              <a:t>"salary"</a:t>
            </a:r>
            <a:r>
              <a:rPr b="1" lang="en-US" sz="2000"/>
              <a:t>))); // descending</a:t>
            </a:r>
            <a:endParaRPr b="1" sz="2000"/>
          </a:p>
        </p:txBody>
      </p:sp>
      <p:sp>
        <p:nvSpPr>
          <p:cNvPr id="1327" name="Google Shape;1327;p161"/>
          <p:cNvSpPr txBox="1"/>
          <p:nvPr/>
        </p:nvSpPr>
        <p:spPr>
          <a:xfrm>
            <a:off x="571500" y="2580675"/>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selectStudentOrderBy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orderBy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desc</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pic>
        <p:nvPicPr>
          <p:cNvPr descr="image.png" id="1332" name="Google Shape;1332;p16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33" name="Google Shape;1333;p162"/>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INNER JOIN</a:t>
            </a:r>
            <a:endParaRPr b="1" sz="3600">
              <a:solidFill>
                <a:srgbClr val="B91C1C"/>
              </a:solidFill>
              <a:latin typeface="Poppins"/>
              <a:ea typeface="Poppins"/>
              <a:cs typeface="Poppins"/>
              <a:sym typeface="Poppins"/>
            </a:endParaRPr>
          </a:p>
        </p:txBody>
      </p:sp>
      <p:sp>
        <p:nvSpPr>
          <p:cNvPr id="1334" name="Google Shape;1334;p16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5" name="Google Shape;1335;p162"/>
          <p:cNvSpPr txBox="1"/>
          <p:nvPr/>
        </p:nvSpPr>
        <p:spPr>
          <a:xfrm>
            <a:off x="571500" y="1652000"/>
            <a:ext cx="11049000" cy="4405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selectStudentClubInnerJoin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Join</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Club</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u="sng">
                <a:solidFill>
                  <a:srgbClr val="F2F200"/>
                </a:solidFill>
                <a:highlight>
                  <a:srgbClr val="1E1F22"/>
                </a:highlight>
                <a:latin typeface="Courier New"/>
                <a:ea typeface="Courier New"/>
                <a:cs typeface="Courier New"/>
                <a:sym typeface="Courier New"/>
              </a:rPr>
              <a:t>customer</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join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clubs</a:t>
            </a:r>
            <a:r>
              <a:rPr lang="en-US" sz="1200">
                <a:solidFill>
                  <a:srgbClr val="17C6A3"/>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JoinType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INNER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distinct</a:t>
            </a:r>
            <a:r>
              <a:rPr lang="en-US" sz="1200">
                <a:solidFill>
                  <a:srgbClr val="F9FAF4"/>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true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getClubs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 :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9" name="Shape 1339"/>
        <p:cNvGrpSpPr/>
        <p:nvPr/>
      </p:nvGrpSpPr>
      <p:grpSpPr>
        <a:xfrm>
          <a:off x="0" y="0"/>
          <a:ext cx="0" cy="0"/>
          <a:chOff x="0" y="0"/>
          <a:chExt cx="0" cy="0"/>
        </a:xfrm>
      </p:grpSpPr>
      <p:pic>
        <p:nvPicPr>
          <p:cNvPr descr="image.png" id="1340" name="Google Shape;1340;p16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41" name="Google Shape;1341;p163"/>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LEFT</a:t>
            </a:r>
            <a:r>
              <a:rPr b="1" lang="en-US" sz="3600">
                <a:solidFill>
                  <a:srgbClr val="B91C1C"/>
                </a:solidFill>
                <a:latin typeface="Poppins"/>
                <a:ea typeface="Poppins"/>
                <a:cs typeface="Poppins"/>
                <a:sym typeface="Poppins"/>
              </a:rPr>
              <a:t> JOIN</a:t>
            </a:r>
            <a:endParaRPr b="1" sz="3600">
              <a:solidFill>
                <a:srgbClr val="B91C1C"/>
              </a:solidFill>
              <a:latin typeface="Poppins"/>
              <a:ea typeface="Poppins"/>
              <a:cs typeface="Poppins"/>
              <a:sym typeface="Poppins"/>
            </a:endParaRPr>
          </a:p>
        </p:txBody>
      </p:sp>
      <p:sp>
        <p:nvSpPr>
          <p:cNvPr id="1342" name="Google Shape;1342;p16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3" name="Google Shape;1343;p163"/>
          <p:cNvSpPr txBox="1"/>
          <p:nvPr/>
        </p:nvSpPr>
        <p:spPr>
          <a:xfrm>
            <a:off x="571500" y="1693950"/>
            <a:ext cx="11049000" cy="3343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selectStudentCourseLeftJoin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Join</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u="sng">
                <a:solidFill>
                  <a:srgbClr val="F2F200"/>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join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JoinType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LEFT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size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7" name="Shape 1347"/>
        <p:cNvGrpSpPr/>
        <p:nvPr/>
      </p:nvGrpSpPr>
      <p:grpSpPr>
        <a:xfrm>
          <a:off x="0" y="0"/>
          <a:ext cx="0" cy="0"/>
          <a:chOff x="0" y="0"/>
          <a:chExt cx="0" cy="0"/>
        </a:xfrm>
      </p:grpSpPr>
      <p:pic>
        <p:nvPicPr>
          <p:cNvPr descr="image.png" id="1348" name="Google Shape;1348;p16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49" name="Google Shape;1349;p164"/>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RIGHT</a:t>
            </a:r>
            <a:r>
              <a:rPr b="1" lang="en-US" sz="3600">
                <a:solidFill>
                  <a:srgbClr val="B91C1C"/>
                </a:solidFill>
                <a:latin typeface="Poppins"/>
                <a:ea typeface="Poppins"/>
                <a:cs typeface="Poppins"/>
                <a:sym typeface="Poppins"/>
              </a:rPr>
              <a:t> JOIN</a:t>
            </a:r>
            <a:endParaRPr b="1" sz="3600">
              <a:solidFill>
                <a:srgbClr val="B91C1C"/>
              </a:solidFill>
              <a:latin typeface="Poppins"/>
              <a:ea typeface="Poppins"/>
              <a:cs typeface="Poppins"/>
              <a:sym typeface="Poppins"/>
            </a:endParaRPr>
          </a:p>
        </p:txBody>
      </p:sp>
      <p:sp>
        <p:nvSpPr>
          <p:cNvPr id="1350" name="Google Shape;1350;p16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1" name="Google Shape;1351;p164"/>
          <p:cNvSpPr txBox="1"/>
          <p:nvPr/>
        </p:nvSpPr>
        <p:spPr>
          <a:xfrm>
            <a:off x="571500" y="1693950"/>
            <a:ext cx="11049000" cy="3343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selectStudentCourseLeftJoin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Join</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u="sng">
                <a:solidFill>
                  <a:srgbClr val="F2F200"/>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join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JoinType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RIGHT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size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5" name="Shape 1355"/>
        <p:cNvGrpSpPr/>
        <p:nvPr/>
      </p:nvGrpSpPr>
      <p:grpSpPr>
        <a:xfrm>
          <a:off x="0" y="0"/>
          <a:ext cx="0" cy="0"/>
          <a:chOff x="0" y="0"/>
          <a:chExt cx="0" cy="0"/>
        </a:xfrm>
      </p:grpSpPr>
      <p:pic>
        <p:nvPicPr>
          <p:cNvPr descr="image.png" id="1356" name="Google Shape;1356;p16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57" name="Google Shape;1357;p16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Aggregate Functions</a:t>
            </a:r>
            <a:endParaRPr b="1" sz="3600">
              <a:solidFill>
                <a:srgbClr val="B91C1C"/>
              </a:solidFill>
              <a:latin typeface="Poppins"/>
              <a:ea typeface="Poppins"/>
              <a:cs typeface="Poppins"/>
              <a:sym typeface="Poppins"/>
            </a:endParaRPr>
          </a:p>
        </p:txBody>
      </p:sp>
      <p:sp>
        <p:nvSpPr>
          <p:cNvPr id="1358" name="Google Shape;1358;p16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9" name="Google Shape;1359;p165"/>
          <p:cNvSpPr txBox="1"/>
          <p:nvPr/>
        </p:nvSpPr>
        <p:spPr>
          <a:xfrm>
            <a:off x="571500" y="1628200"/>
            <a:ext cx="110490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Supports COUNT, SUM, AVG, MAX, MIN</a:t>
            </a:r>
            <a:endParaRPr sz="2800">
              <a:solidFill>
                <a:schemeClr val="dk1"/>
              </a:solidFill>
              <a:latin typeface="Poppins"/>
              <a:ea typeface="Poppins"/>
              <a:cs typeface="Poppins"/>
              <a:sym typeface="Poppins"/>
            </a:endParaRPr>
          </a:p>
        </p:txBody>
      </p:sp>
      <p:sp>
        <p:nvSpPr>
          <p:cNvPr id="1360" name="Google Shape;1360;p165"/>
          <p:cNvSpPr txBox="1"/>
          <p:nvPr/>
        </p:nvSpPr>
        <p:spPr>
          <a:xfrm>
            <a:off x="705125" y="2452625"/>
            <a:ext cx="109155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aggregateFunction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count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getSingleResult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result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4" name="Shape 1364"/>
        <p:cNvGrpSpPr/>
        <p:nvPr/>
      </p:nvGrpSpPr>
      <p:grpSpPr>
        <a:xfrm>
          <a:off x="0" y="0"/>
          <a:ext cx="0" cy="0"/>
          <a:chOff x="0" y="0"/>
          <a:chExt cx="0" cy="0"/>
        </a:xfrm>
      </p:grpSpPr>
      <p:pic>
        <p:nvPicPr>
          <p:cNvPr descr="image.png" id="1365" name="Google Shape;1365;p16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66" name="Google Shape;1366;p166"/>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Repository Pattern</a:t>
            </a:r>
            <a:endParaRPr b="1" sz="5700">
              <a:solidFill>
                <a:srgbClr val="B91C1C"/>
              </a:solidFill>
              <a:latin typeface="Poppins"/>
              <a:ea typeface="Poppins"/>
              <a:cs typeface="Poppins"/>
              <a:sym typeface="Poppins"/>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0" name="Shape 1370"/>
        <p:cNvGrpSpPr/>
        <p:nvPr/>
      </p:nvGrpSpPr>
      <p:grpSpPr>
        <a:xfrm>
          <a:off x="0" y="0"/>
          <a:ext cx="0" cy="0"/>
          <a:chOff x="0" y="0"/>
          <a:chExt cx="0" cy="0"/>
        </a:xfrm>
      </p:grpSpPr>
      <p:pic>
        <p:nvPicPr>
          <p:cNvPr descr="image.png" id="1371" name="Google Shape;1371;p16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72" name="Google Shape;1372;p167"/>
          <p:cNvSpPr txBox="1"/>
          <p:nvPr/>
        </p:nvSpPr>
        <p:spPr>
          <a:xfrm>
            <a:off x="571500" y="571500"/>
            <a:ext cx="11049000" cy="600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900">
                <a:solidFill>
                  <a:srgbClr val="B91C1C"/>
                </a:solidFill>
                <a:latin typeface="Poppins"/>
                <a:ea typeface="Poppins"/>
                <a:cs typeface="Poppins"/>
                <a:sym typeface="Poppins"/>
              </a:rPr>
              <a:t>Objectives</a:t>
            </a:r>
            <a:endParaRPr b="1" sz="3900">
              <a:solidFill>
                <a:srgbClr val="B91C1C"/>
              </a:solidFill>
              <a:latin typeface="Poppins"/>
              <a:ea typeface="Poppins"/>
              <a:cs typeface="Poppins"/>
              <a:sym typeface="Poppins"/>
            </a:endParaRPr>
          </a:p>
        </p:txBody>
      </p:sp>
      <p:sp>
        <p:nvSpPr>
          <p:cNvPr id="1373" name="Google Shape;1373;p16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4" name="Google Shape;1374;p167"/>
          <p:cNvSpPr txBox="1"/>
          <p:nvPr/>
        </p:nvSpPr>
        <p:spPr>
          <a:xfrm>
            <a:off x="571500" y="1888125"/>
            <a:ext cx="10735500" cy="2031900"/>
          </a:xfrm>
          <a:prstGeom prst="rect">
            <a:avLst/>
          </a:prstGeom>
          <a:noFill/>
          <a:ln>
            <a:noFill/>
          </a:ln>
        </p:spPr>
        <p:txBody>
          <a:bodyPr anchorCtr="0" anchor="t" bIns="91425" lIns="91425" spcFirstLastPara="1" rIns="91425" wrap="square" tIns="91425">
            <a:spAutoFit/>
          </a:bodyPr>
          <a:lstStyle/>
          <a:p>
            <a:pPr indent="-419100" lvl="0" marL="457200" marR="0" rtl="0" algn="l">
              <a:lnSpc>
                <a:spcPct val="100000"/>
              </a:lnSpc>
              <a:spcBef>
                <a:spcPts val="0"/>
              </a:spcBef>
              <a:spcAft>
                <a:spcPts val="0"/>
              </a:spcAft>
              <a:buClr>
                <a:schemeClr val="dk1"/>
              </a:buClr>
              <a:buSzPts val="3000"/>
              <a:buFont typeface="Poppins"/>
              <a:buAutoNum type="arabicPeriod"/>
            </a:pPr>
            <a:r>
              <a:rPr lang="en-US" sz="3000">
                <a:solidFill>
                  <a:schemeClr val="dk1"/>
                </a:solidFill>
                <a:latin typeface="Poppins"/>
                <a:ea typeface="Poppins"/>
                <a:cs typeface="Poppins"/>
                <a:sym typeface="Poppins"/>
              </a:rPr>
              <a:t>Understand the purpose and benefits of the Repository Pattern</a:t>
            </a:r>
            <a:endParaRPr sz="3000">
              <a:solidFill>
                <a:schemeClr val="dk1"/>
              </a:solidFill>
              <a:latin typeface="Poppins"/>
              <a:ea typeface="Poppins"/>
              <a:cs typeface="Poppins"/>
              <a:sym typeface="Poppins"/>
            </a:endParaRPr>
          </a:p>
          <a:p>
            <a:pPr indent="0" lvl="0" marL="914400" marR="0" rtl="0" algn="l">
              <a:lnSpc>
                <a:spcPct val="100000"/>
              </a:lnSpc>
              <a:spcBef>
                <a:spcPts val="0"/>
              </a:spcBef>
              <a:spcAft>
                <a:spcPts val="0"/>
              </a:spcAft>
              <a:buNone/>
            </a:pPr>
            <a:r>
              <a:t/>
            </a:r>
            <a:endParaRPr sz="3000">
              <a:solidFill>
                <a:schemeClr val="dk1"/>
              </a:solidFill>
              <a:latin typeface="Poppins"/>
              <a:ea typeface="Poppins"/>
              <a:cs typeface="Poppins"/>
              <a:sym typeface="Poppins"/>
            </a:endParaRPr>
          </a:p>
          <a:p>
            <a:pPr indent="-419100" lvl="0" marL="457200" marR="0" rtl="0" algn="l">
              <a:lnSpc>
                <a:spcPct val="100000"/>
              </a:lnSpc>
              <a:spcBef>
                <a:spcPts val="0"/>
              </a:spcBef>
              <a:spcAft>
                <a:spcPts val="0"/>
              </a:spcAft>
              <a:buClr>
                <a:schemeClr val="dk1"/>
              </a:buClr>
              <a:buSzPts val="3000"/>
              <a:buFont typeface="Poppins"/>
              <a:buAutoNum type="arabicPeriod"/>
            </a:pPr>
            <a:r>
              <a:rPr lang="en-US" sz="3000">
                <a:solidFill>
                  <a:schemeClr val="dk1"/>
                </a:solidFill>
                <a:latin typeface="Poppins"/>
                <a:ea typeface="Poppins"/>
                <a:cs typeface="Poppins"/>
                <a:sym typeface="Poppins"/>
              </a:rPr>
              <a:t>Learn and Implement repository pattern</a:t>
            </a:r>
            <a:endParaRPr sz="3000">
              <a:solidFill>
                <a:schemeClr val="dk1"/>
              </a:solidFill>
              <a:latin typeface="Poppins"/>
              <a:ea typeface="Poppins"/>
              <a:cs typeface="Poppins"/>
              <a:sym typeface="Poppins"/>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pic>
        <p:nvPicPr>
          <p:cNvPr descr="image.png" id="1379" name="Google Shape;1379;p16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80" name="Google Shape;1380;p168"/>
          <p:cNvSpPr txBox="1"/>
          <p:nvPr/>
        </p:nvSpPr>
        <p:spPr>
          <a:xfrm>
            <a:off x="590400" y="2946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What is Repository Pattern?</a:t>
            </a:r>
            <a:endParaRPr b="1" sz="3600">
              <a:solidFill>
                <a:srgbClr val="B91C1C"/>
              </a:solidFill>
              <a:latin typeface="Poppins"/>
              <a:ea typeface="Poppins"/>
              <a:cs typeface="Poppins"/>
              <a:sym typeface="Poppins"/>
            </a:endParaRPr>
          </a:p>
        </p:txBody>
      </p:sp>
      <p:sp>
        <p:nvSpPr>
          <p:cNvPr id="1381" name="Google Shape;1381;p168"/>
          <p:cNvSpPr/>
          <p:nvPr/>
        </p:nvSpPr>
        <p:spPr>
          <a:xfrm>
            <a:off x="571500" y="1007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2" name="Google Shape;1382;p168"/>
          <p:cNvSpPr txBox="1"/>
          <p:nvPr/>
        </p:nvSpPr>
        <p:spPr>
          <a:xfrm>
            <a:off x="571500" y="1245175"/>
            <a:ext cx="11049000" cy="40635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Design pattern to abstract database access implementation code</a:t>
            </a:r>
            <a:endParaRPr sz="2800">
              <a:solidFill>
                <a:schemeClr val="dk1"/>
              </a:solidFill>
              <a:latin typeface="Poppins"/>
              <a:ea typeface="Poppins"/>
              <a:cs typeface="Poppins"/>
              <a:sym typeface="Poppins"/>
            </a:endParaRPr>
          </a:p>
          <a:p>
            <a:pPr indent="0" lvl="0" marL="9144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D</a:t>
            </a:r>
            <a:r>
              <a:rPr lang="en-US" sz="2800">
                <a:solidFill>
                  <a:schemeClr val="dk1"/>
                </a:solidFill>
                <a:latin typeface="Poppins"/>
                <a:ea typeface="Poppins"/>
                <a:cs typeface="Poppins"/>
                <a:sym typeface="Poppins"/>
              </a:rPr>
              <a:t>esign pattern is a proven, reusable template or blueprint for solving common, recurring problems in software design</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Purpose is to separate business logic from data access logic</a:t>
            </a:r>
            <a:endParaRPr sz="2800">
              <a:solidFill>
                <a:schemeClr val="dk1"/>
              </a:solidFill>
              <a:latin typeface="Poppins"/>
              <a:ea typeface="Poppins"/>
              <a:cs typeface="Poppins"/>
              <a:sym typeface="Poppins"/>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6" name="Shape 1386"/>
        <p:cNvGrpSpPr/>
        <p:nvPr/>
      </p:nvGrpSpPr>
      <p:grpSpPr>
        <a:xfrm>
          <a:off x="0" y="0"/>
          <a:ext cx="0" cy="0"/>
          <a:chOff x="0" y="0"/>
          <a:chExt cx="0" cy="0"/>
        </a:xfrm>
      </p:grpSpPr>
      <p:pic>
        <p:nvPicPr>
          <p:cNvPr descr="image.png" id="1387" name="Google Shape;1387;p16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88" name="Google Shape;1388;p16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Why Use Repository Pattern?</a:t>
            </a:r>
            <a:endParaRPr b="1" sz="3600">
              <a:solidFill>
                <a:srgbClr val="B91C1C"/>
              </a:solidFill>
              <a:latin typeface="Poppins"/>
              <a:ea typeface="Poppins"/>
              <a:cs typeface="Poppins"/>
              <a:sym typeface="Poppins"/>
            </a:endParaRPr>
          </a:p>
        </p:txBody>
      </p:sp>
      <p:sp>
        <p:nvSpPr>
          <p:cNvPr id="1389" name="Google Shape;1389;p169"/>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0" name="Google Shape;1390;p169"/>
          <p:cNvSpPr txBox="1"/>
          <p:nvPr/>
        </p:nvSpPr>
        <p:spPr>
          <a:xfrm>
            <a:off x="571500" y="1888125"/>
            <a:ext cx="10735500" cy="36327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Cleaner</a:t>
            </a:r>
            <a:r>
              <a:rPr lang="en-US" sz="2800">
                <a:solidFill>
                  <a:schemeClr val="dk1"/>
                </a:solidFill>
                <a:latin typeface="Poppins"/>
                <a:ea typeface="Poppins"/>
                <a:cs typeface="Poppins"/>
                <a:sym typeface="Poppins"/>
              </a:rPr>
              <a:t> </a:t>
            </a:r>
            <a:r>
              <a:rPr b="1" lang="en-US" sz="2800">
                <a:solidFill>
                  <a:schemeClr val="dk1"/>
                </a:solidFill>
                <a:latin typeface="Poppins"/>
                <a:ea typeface="Poppins"/>
                <a:cs typeface="Poppins"/>
                <a:sym typeface="Poppins"/>
              </a:rPr>
              <a:t>code</a:t>
            </a:r>
            <a:r>
              <a:rPr lang="en-US" sz="2800">
                <a:solidFill>
                  <a:schemeClr val="dk1"/>
                </a:solidFill>
                <a:latin typeface="Poppins"/>
                <a:ea typeface="Poppins"/>
                <a:cs typeface="Poppins"/>
                <a:sym typeface="Poppins"/>
              </a:rPr>
              <a:t>: avoids data access code in service layer</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Reusability</a:t>
            </a:r>
            <a:r>
              <a:rPr lang="en-US" sz="2800">
                <a:solidFill>
                  <a:schemeClr val="dk1"/>
                </a:solidFill>
                <a:latin typeface="Poppins"/>
                <a:ea typeface="Poppins"/>
                <a:cs typeface="Poppins"/>
                <a:sym typeface="Poppins"/>
              </a:rPr>
              <a:t>: common CRUD methods are centralized</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Testability</a:t>
            </a:r>
            <a:r>
              <a:rPr lang="en-US" sz="2800">
                <a:solidFill>
                  <a:schemeClr val="dk1"/>
                </a:solidFill>
                <a:latin typeface="Poppins"/>
                <a:ea typeface="Poppins"/>
                <a:cs typeface="Poppins"/>
                <a:sym typeface="Poppins"/>
              </a:rPr>
              <a:t>: easy to mock repositories in unit tests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Maintainability</a:t>
            </a:r>
            <a:r>
              <a:rPr lang="en-US" sz="2800">
                <a:solidFill>
                  <a:schemeClr val="dk1"/>
                </a:solidFill>
                <a:latin typeface="Poppins"/>
                <a:ea typeface="Poppins"/>
                <a:cs typeface="Poppins"/>
                <a:sym typeface="Poppins"/>
              </a:rPr>
              <a:t>: easier to switch database or ORM provider, easy to change since logic is in a single class.</a:t>
            </a:r>
            <a:endParaRPr sz="2800">
              <a:solidFill>
                <a:schemeClr val="dk1"/>
              </a:solidFill>
              <a:latin typeface="Poppins"/>
              <a:ea typeface="Poppins"/>
              <a:cs typeface="Poppins"/>
              <a:sym typeface="Poppins"/>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4" name="Shape 1394"/>
        <p:cNvGrpSpPr/>
        <p:nvPr/>
      </p:nvGrpSpPr>
      <p:grpSpPr>
        <a:xfrm>
          <a:off x="0" y="0"/>
          <a:ext cx="0" cy="0"/>
          <a:chOff x="0" y="0"/>
          <a:chExt cx="0" cy="0"/>
        </a:xfrm>
      </p:grpSpPr>
      <p:pic>
        <p:nvPicPr>
          <p:cNvPr descr="image.png" id="1395" name="Google Shape;1395;p17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96" name="Google Shape;1396;p17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Implementation</a:t>
            </a:r>
            <a:endParaRPr b="1" sz="3600">
              <a:solidFill>
                <a:srgbClr val="B91C1C"/>
              </a:solidFill>
              <a:latin typeface="Poppins"/>
              <a:ea typeface="Poppins"/>
              <a:cs typeface="Poppins"/>
              <a:sym typeface="Poppins"/>
            </a:endParaRPr>
          </a:p>
        </p:txBody>
      </p:sp>
      <p:sp>
        <p:nvSpPr>
          <p:cNvPr id="1397" name="Google Shape;1397;p17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8" name="Google Shape;1398;p170"/>
          <p:cNvSpPr txBox="1"/>
          <p:nvPr/>
        </p:nvSpPr>
        <p:spPr>
          <a:xfrm>
            <a:off x="571500" y="1693950"/>
            <a:ext cx="11049000" cy="1477500"/>
          </a:xfrm>
          <a:prstGeom prst="rect">
            <a:avLst/>
          </a:prstGeom>
          <a:noFill/>
          <a:ln>
            <a:noFill/>
          </a:ln>
        </p:spPr>
        <p:txBody>
          <a:bodyPr anchorCtr="0" anchor="t" bIns="91425" lIns="91425" spcFirstLastPara="1" rIns="91425" wrap="square" tIns="91425">
            <a:spAutoFit/>
          </a:bodyPr>
          <a:lstStyle/>
          <a:p>
            <a:pPr indent="-406400" lvl="0" marL="457200" rtl="0" algn="l">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Create repository package </a:t>
            </a:r>
            <a:endParaRPr b="1" sz="2800">
              <a:solidFill>
                <a:schemeClr val="dk1"/>
              </a:solidFill>
              <a:latin typeface="Poppins"/>
              <a:ea typeface="Poppins"/>
              <a:cs typeface="Poppins"/>
              <a:sym typeface="Poppins"/>
            </a:endParaRPr>
          </a:p>
          <a:p>
            <a:pPr indent="0" lvl="0" marL="457200" rtl="0" algn="l">
              <a:spcBef>
                <a:spcPts val="0"/>
              </a:spcBef>
              <a:spcAft>
                <a:spcPts val="0"/>
              </a:spcAft>
              <a:buNone/>
            </a:pPr>
            <a:r>
              <a:t/>
            </a:r>
            <a:endParaRPr b="1" sz="2800">
              <a:solidFill>
                <a:schemeClr val="dk1"/>
              </a:solidFill>
              <a:latin typeface="Poppins"/>
              <a:ea typeface="Poppins"/>
              <a:cs typeface="Poppins"/>
              <a:sym typeface="Poppins"/>
            </a:endParaRPr>
          </a:p>
          <a:p>
            <a:pPr indent="457200" lvl="0" marL="457200" rtl="0" algn="l">
              <a:spcBef>
                <a:spcPts val="0"/>
              </a:spcBef>
              <a:spcAft>
                <a:spcPts val="0"/>
              </a:spcAft>
              <a:buNone/>
            </a:pPr>
            <a:r>
              <a:rPr lang="en-US" sz="2800">
                <a:solidFill>
                  <a:schemeClr val="dk1"/>
                </a:solidFill>
                <a:latin typeface="Poppins"/>
                <a:ea typeface="Poppins"/>
                <a:cs typeface="Poppins"/>
                <a:sym typeface="Poppins"/>
              </a:rPr>
              <a:t>ex. </a:t>
            </a:r>
            <a:r>
              <a:rPr lang="en-US" sz="2800">
                <a:solidFill>
                  <a:schemeClr val="dk1"/>
                </a:solidFill>
                <a:latin typeface="Poppins"/>
                <a:ea typeface="Poppins"/>
                <a:cs typeface="Poppins"/>
                <a:sym typeface="Poppins"/>
              </a:rPr>
              <a:t>com.bpi.module6.repository</a:t>
            </a:r>
            <a:endParaRPr sz="2800">
              <a:solidFill>
                <a:schemeClr val="dk1"/>
              </a:solidFill>
              <a:latin typeface="Poppins"/>
              <a:ea typeface="Poppins"/>
              <a:cs typeface="Poppins"/>
              <a:sym typeface="Poppins"/>
            </a:endParaRPr>
          </a:p>
        </p:txBody>
      </p:sp>
      <p:pic>
        <p:nvPicPr>
          <p:cNvPr id="1399" name="Google Shape;1399;p170"/>
          <p:cNvPicPr preferRelativeResize="0"/>
          <p:nvPr/>
        </p:nvPicPr>
        <p:blipFill>
          <a:blip r:embed="rId4">
            <a:alphaModFix/>
          </a:blip>
          <a:stretch>
            <a:fillRect/>
          </a:stretch>
        </p:blipFill>
        <p:spPr>
          <a:xfrm>
            <a:off x="3809638" y="3501650"/>
            <a:ext cx="5125325" cy="3103100"/>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3" name="Shape 1403"/>
        <p:cNvGrpSpPr/>
        <p:nvPr/>
      </p:nvGrpSpPr>
      <p:grpSpPr>
        <a:xfrm>
          <a:off x="0" y="0"/>
          <a:ext cx="0" cy="0"/>
          <a:chOff x="0" y="0"/>
          <a:chExt cx="0" cy="0"/>
        </a:xfrm>
      </p:grpSpPr>
      <p:pic>
        <p:nvPicPr>
          <p:cNvPr descr="image.png" id="1404" name="Google Shape;1404;p17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05" name="Google Shape;1405;p17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Implementation</a:t>
            </a:r>
            <a:endParaRPr b="1" sz="3600">
              <a:solidFill>
                <a:srgbClr val="B91C1C"/>
              </a:solidFill>
              <a:latin typeface="Poppins"/>
              <a:ea typeface="Poppins"/>
              <a:cs typeface="Poppins"/>
              <a:sym typeface="Poppins"/>
            </a:endParaRPr>
          </a:p>
        </p:txBody>
      </p:sp>
      <p:sp>
        <p:nvSpPr>
          <p:cNvPr id="1406" name="Google Shape;1406;p17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7" name="Google Shape;1407;p171"/>
          <p:cNvSpPr txBox="1"/>
          <p:nvPr/>
        </p:nvSpPr>
        <p:spPr>
          <a:xfrm>
            <a:off x="571500" y="1693950"/>
            <a:ext cx="11049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chemeClr val="dk1"/>
                </a:solidFill>
                <a:latin typeface="Poppins"/>
                <a:ea typeface="Poppins"/>
                <a:cs typeface="Poppins"/>
                <a:sym typeface="Poppins"/>
              </a:rPr>
              <a:t>2. </a:t>
            </a:r>
            <a:r>
              <a:rPr b="1" lang="en-US" sz="2800">
                <a:solidFill>
                  <a:schemeClr val="dk1"/>
                </a:solidFill>
                <a:latin typeface="Poppins"/>
                <a:ea typeface="Poppins"/>
                <a:cs typeface="Poppins"/>
                <a:sym typeface="Poppins"/>
              </a:rPr>
              <a:t>Create repository interface</a:t>
            </a:r>
            <a:endParaRPr b="1" sz="2800">
              <a:solidFill>
                <a:schemeClr val="dk1"/>
              </a:solidFill>
              <a:latin typeface="Poppins"/>
              <a:ea typeface="Poppins"/>
              <a:cs typeface="Poppins"/>
              <a:sym typeface="Poppins"/>
            </a:endParaRPr>
          </a:p>
        </p:txBody>
      </p:sp>
      <p:sp>
        <p:nvSpPr>
          <p:cNvPr id="1408" name="Google Shape;1408;p171"/>
          <p:cNvSpPr txBox="1"/>
          <p:nvPr/>
        </p:nvSpPr>
        <p:spPr>
          <a:xfrm>
            <a:off x="3252300" y="2509250"/>
            <a:ext cx="5687400" cy="3869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import</a:t>
            </a:r>
            <a:r>
              <a:rPr lang="en-US">
                <a:solidFill>
                  <a:srgbClr val="D9E8F7"/>
                </a:solidFill>
                <a:highlight>
                  <a:srgbClr val="1E1F22"/>
                </a:highlight>
                <a:latin typeface="Courier New"/>
                <a:ea typeface="Courier New"/>
                <a:cs typeface="Courier New"/>
                <a:sym typeface="Courier New"/>
              </a:rPr>
              <a:t> java</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util</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List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interface</a:t>
            </a:r>
            <a:r>
              <a:rPr lang="en-US">
                <a:solidFill>
                  <a:srgbClr val="D9E8F7"/>
                </a:solidFill>
                <a:highlight>
                  <a:srgbClr val="1E1F22"/>
                </a:highlight>
                <a:latin typeface="Courier New"/>
                <a:ea typeface="Courier New"/>
                <a:cs typeface="Courier New"/>
                <a:sym typeface="Courier New"/>
              </a:rPr>
              <a:t> </a:t>
            </a:r>
            <a:r>
              <a:rPr lang="en-US">
                <a:solidFill>
                  <a:srgbClr val="80F2F6"/>
                </a:solidFill>
                <a:highlight>
                  <a:srgbClr val="1E1F22"/>
                </a:highlight>
                <a:latin typeface="Courier New"/>
                <a:ea typeface="Courier New"/>
                <a:cs typeface="Courier New"/>
                <a:sym typeface="Courier New"/>
              </a:rPr>
              <a:t>Repository</a:t>
            </a:r>
            <a:r>
              <a:rPr lang="en-US">
                <a:solidFill>
                  <a:srgbClr val="E6E6FA"/>
                </a:solidFill>
                <a:highlight>
                  <a:srgbClr val="1E1F22"/>
                </a:highlight>
                <a:latin typeface="Courier New"/>
                <a:ea typeface="Courier New"/>
                <a:cs typeface="Courier New"/>
                <a:sym typeface="Courier New"/>
              </a:rPr>
              <a:t>&lt;</a:t>
            </a:r>
            <a:r>
              <a:rPr lang="en-US">
                <a:solidFill>
                  <a:srgbClr val="BFA4A4"/>
                </a:solidFill>
                <a:highlight>
                  <a:srgbClr val="1E1F22"/>
                </a:highlight>
                <a:latin typeface="Courier New"/>
                <a:ea typeface="Courier New"/>
                <a:cs typeface="Courier New"/>
                <a:sym typeface="Courier New"/>
              </a:rPr>
              <a:t>T</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BFA4A4"/>
                </a:solidFill>
                <a:highlight>
                  <a:srgbClr val="1E1F22"/>
                </a:highlight>
                <a:latin typeface="Courier New"/>
                <a:ea typeface="Courier New"/>
                <a:cs typeface="Courier New"/>
                <a:sym typeface="Courier New"/>
              </a:rPr>
              <a:t>ID</a:t>
            </a:r>
            <a:r>
              <a:rPr lang="en-US">
                <a:solidFill>
                  <a:srgbClr val="E6E6FA"/>
                </a:solidFill>
                <a:highlight>
                  <a:srgbClr val="1E1F22"/>
                </a:highlight>
                <a:latin typeface="Courier New"/>
                <a:ea typeface="Courier New"/>
                <a:cs typeface="Courier New"/>
                <a:sym typeface="Courier New"/>
              </a:rPr>
              <a:t>&gt;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save</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entity</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void</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delete</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entity</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void</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deleteById</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ID</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id</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findById</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ID</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id</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F2F6"/>
                </a:solidFill>
                <a:highlight>
                  <a:srgbClr val="1E1F22"/>
                </a:highlight>
                <a:latin typeface="Courier New"/>
                <a:ea typeface="Courier New"/>
                <a:cs typeface="Courier New"/>
                <a:sym typeface="Courier New"/>
              </a:rPr>
              <a:t>List</a:t>
            </a:r>
            <a:r>
              <a:rPr lang="en-US">
                <a:solidFill>
                  <a:srgbClr val="E6E6FA"/>
                </a:solidFill>
                <a:highlight>
                  <a:srgbClr val="1E1F22"/>
                </a:highlight>
                <a:latin typeface="Courier New"/>
                <a:ea typeface="Courier New"/>
                <a:cs typeface="Courier New"/>
                <a:sym typeface="Courier New"/>
              </a:rPr>
              <a:t>&lt;</a:t>
            </a:r>
            <a:r>
              <a:rPr lang="en-US">
                <a:solidFill>
                  <a:srgbClr val="BFA4A4"/>
                </a:solidFill>
                <a:highlight>
                  <a:srgbClr val="1E1F22"/>
                </a:highlight>
                <a:latin typeface="Courier New"/>
                <a:ea typeface="Courier New"/>
                <a:cs typeface="Courier New"/>
                <a:sym typeface="Courier New"/>
              </a:rPr>
              <a:t>T</a:t>
            </a:r>
            <a:r>
              <a:rPr lang="en-US">
                <a:solidFill>
                  <a:srgbClr val="E6E6FA"/>
                </a:solidFill>
                <a:highlight>
                  <a:srgbClr val="1E1F22"/>
                </a:highlight>
                <a:latin typeface="Courier New"/>
                <a:ea typeface="Courier New"/>
                <a:cs typeface="Courier New"/>
                <a:sym typeface="Courier New"/>
              </a:rPr>
              <a:t>&gt;</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findAll</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pic>
        <p:nvPicPr>
          <p:cNvPr descr="image.png" id="1413" name="Google Shape;1413;p17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14" name="Google Shape;1414;p17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Repository Implementation</a:t>
            </a:r>
            <a:endParaRPr b="1" sz="3600">
              <a:solidFill>
                <a:srgbClr val="B91C1C"/>
              </a:solidFill>
              <a:latin typeface="Poppins"/>
              <a:ea typeface="Poppins"/>
              <a:cs typeface="Poppins"/>
              <a:sym typeface="Poppins"/>
            </a:endParaRPr>
          </a:p>
        </p:txBody>
      </p:sp>
      <p:sp>
        <p:nvSpPr>
          <p:cNvPr id="1415" name="Google Shape;1415;p17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6" name="Google Shape;1416;p172"/>
          <p:cNvSpPr txBox="1"/>
          <p:nvPr/>
        </p:nvSpPr>
        <p:spPr>
          <a:xfrm>
            <a:off x="571500" y="1693950"/>
            <a:ext cx="11049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chemeClr val="dk1"/>
                </a:solidFill>
                <a:latin typeface="Poppins"/>
                <a:ea typeface="Poppins"/>
                <a:cs typeface="Poppins"/>
                <a:sym typeface="Poppins"/>
              </a:rPr>
              <a:t>3</a:t>
            </a:r>
            <a:r>
              <a:rPr b="1" lang="en-US" sz="2800">
                <a:solidFill>
                  <a:schemeClr val="dk1"/>
                </a:solidFill>
                <a:latin typeface="Poppins"/>
                <a:ea typeface="Poppins"/>
                <a:cs typeface="Poppins"/>
                <a:sym typeface="Poppins"/>
              </a:rPr>
              <a:t>. Create Implementation class of Repository Interface for each entity</a:t>
            </a:r>
            <a:endParaRPr b="1" sz="2800">
              <a:solidFill>
                <a:schemeClr val="dk1"/>
              </a:solidFill>
              <a:latin typeface="Poppins"/>
              <a:ea typeface="Poppins"/>
              <a:cs typeface="Poppins"/>
              <a:sym typeface="Poppins"/>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pic>
        <p:nvPicPr>
          <p:cNvPr descr="image.png" id="1421" name="Google Shape;1421;p17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22" name="Google Shape;1422;p173"/>
          <p:cNvSpPr txBox="1"/>
          <p:nvPr/>
        </p:nvSpPr>
        <p:spPr>
          <a:xfrm>
            <a:off x="910800" y="301350"/>
            <a:ext cx="10518300" cy="9290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StudentRepository</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implements</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Repository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StudentRepository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save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else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merge</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remove</a:t>
            </a:r>
            <a:r>
              <a:rPr lang="en-US" sz="1200">
                <a:solidFill>
                  <a:srgbClr val="F9FAF4"/>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merge</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findAll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s FROM Student 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6" name="Shape 1426"/>
        <p:cNvGrpSpPr/>
        <p:nvPr/>
      </p:nvGrpSpPr>
      <p:grpSpPr>
        <a:xfrm>
          <a:off x="0" y="0"/>
          <a:ext cx="0" cy="0"/>
          <a:chOff x="0" y="0"/>
          <a:chExt cx="0" cy="0"/>
        </a:xfrm>
      </p:grpSpPr>
      <p:pic>
        <p:nvPicPr>
          <p:cNvPr descr="image.png" id="1427" name="Google Shape;1427;p17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28" name="Google Shape;1428;p174"/>
          <p:cNvSpPr txBox="1"/>
          <p:nvPr/>
        </p:nvSpPr>
        <p:spPr>
          <a:xfrm>
            <a:off x="571500" y="41972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Repository Pattern Usage</a:t>
            </a:r>
            <a:endParaRPr b="1" sz="3600">
              <a:solidFill>
                <a:srgbClr val="B91C1C"/>
              </a:solidFill>
              <a:latin typeface="Poppins"/>
              <a:ea typeface="Poppins"/>
              <a:cs typeface="Poppins"/>
              <a:sym typeface="Poppins"/>
            </a:endParaRPr>
          </a:p>
        </p:txBody>
      </p:sp>
      <p:sp>
        <p:nvSpPr>
          <p:cNvPr id="1429" name="Google Shape;1429;p174"/>
          <p:cNvSpPr/>
          <p:nvPr/>
        </p:nvSpPr>
        <p:spPr>
          <a:xfrm>
            <a:off x="517925" y="1185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0" name="Google Shape;1430;p174"/>
          <p:cNvSpPr txBox="1"/>
          <p:nvPr/>
        </p:nvSpPr>
        <p:spPr>
          <a:xfrm>
            <a:off x="517925" y="1526975"/>
            <a:ext cx="110490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1"/>
                </a:solidFill>
                <a:latin typeface="Poppins"/>
                <a:ea typeface="Poppins"/>
                <a:cs typeface="Poppins"/>
                <a:sym typeface="Poppins"/>
              </a:rPr>
              <a:t>Service Layer:</a:t>
            </a:r>
            <a:endParaRPr sz="1100"/>
          </a:p>
        </p:txBody>
      </p:sp>
      <p:sp>
        <p:nvSpPr>
          <p:cNvPr id="1431" name="Google Shape;1431;p174"/>
          <p:cNvSpPr txBox="1"/>
          <p:nvPr/>
        </p:nvSpPr>
        <p:spPr>
          <a:xfrm>
            <a:off x="544775" y="2418275"/>
            <a:ext cx="10995300" cy="1218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interface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StudentService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enrollStudent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 Profile profile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5" name="Shape 1435"/>
        <p:cNvGrpSpPr/>
        <p:nvPr/>
      </p:nvGrpSpPr>
      <p:grpSpPr>
        <a:xfrm>
          <a:off x="0" y="0"/>
          <a:ext cx="0" cy="0"/>
          <a:chOff x="0" y="0"/>
          <a:chExt cx="0" cy="0"/>
        </a:xfrm>
      </p:grpSpPr>
      <p:pic>
        <p:nvPicPr>
          <p:cNvPr descr="image.png" id="1436" name="Google Shape;1436;p17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37" name="Google Shape;1437;p175"/>
          <p:cNvSpPr txBox="1"/>
          <p:nvPr/>
        </p:nvSpPr>
        <p:spPr>
          <a:xfrm>
            <a:off x="417150" y="257350"/>
            <a:ext cx="11357700" cy="65565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800">
                <a:solidFill>
                  <a:srgbClr val="CC6C1D"/>
                </a:solidFill>
                <a:highlight>
                  <a:srgbClr val="1E1F22"/>
                </a:highlight>
                <a:latin typeface="Courier New"/>
                <a:ea typeface="Courier New"/>
                <a:cs typeface="Courier New"/>
                <a:sym typeface="Courier New"/>
              </a:rPr>
              <a:t>public</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class</a:t>
            </a: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StudentServiceImpl</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implements</a:t>
            </a:r>
            <a:r>
              <a:rPr lang="en-US" sz="800">
                <a:solidFill>
                  <a:srgbClr val="D9E8F7"/>
                </a:solidFill>
                <a:highlight>
                  <a:srgbClr val="1E1F22"/>
                </a:highlight>
                <a:latin typeface="Courier New"/>
                <a:ea typeface="Courier New"/>
                <a:cs typeface="Courier New"/>
                <a:sym typeface="Courier New"/>
              </a:rPr>
              <a:t> </a:t>
            </a:r>
            <a:r>
              <a:rPr lang="en-US" sz="800">
                <a:solidFill>
                  <a:srgbClr val="80F2F6"/>
                </a:solidFill>
                <a:highlight>
                  <a:srgbClr val="1E1F22"/>
                </a:highlight>
                <a:latin typeface="Courier New"/>
                <a:ea typeface="Courier New"/>
                <a:cs typeface="Courier New"/>
                <a:sym typeface="Courier New"/>
              </a:rPr>
              <a:t>StudentService</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lang="en-US" sz="800">
                <a:solidFill>
                  <a:srgbClr val="CC6C1D"/>
                </a:solidFill>
                <a:highlight>
                  <a:srgbClr val="1E1F22"/>
                </a:highlight>
                <a:latin typeface="Courier New"/>
                <a:ea typeface="Courier New"/>
                <a:cs typeface="Courier New"/>
                <a:sym typeface="Courier New"/>
              </a:rPr>
              <a:t>private</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final</a:t>
            </a:r>
            <a:r>
              <a:rPr lang="en-US" sz="800">
                <a:solidFill>
                  <a:srgbClr val="D9E8F7"/>
                </a:solidFill>
                <a:highlight>
                  <a:srgbClr val="1E1F22"/>
                </a:highlight>
                <a:latin typeface="Courier New"/>
                <a:ea typeface="Courier New"/>
                <a:cs typeface="Courier New"/>
                <a:sym typeface="Courier New"/>
              </a:rPr>
              <a:t> </a:t>
            </a:r>
            <a:r>
              <a:rPr lang="en-US" sz="800">
                <a:solidFill>
                  <a:srgbClr val="80F2F6"/>
                </a:solidFill>
                <a:highlight>
                  <a:srgbClr val="1E1F22"/>
                </a:highlight>
                <a:latin typeface="Courier New"/>
                <a:ea typeface="Courier New"/>
                <a:cs typeface="Courier New"/>
                <a:sym typeface="Courier New"/>
              </a:rPr>
              <a:t>EntityManager</a:t>
            </a:r>
            <a:r>
              <a:rPr lang="en-US" sz="800">
                <a:solidFill>
                  <a:srgbClr val="D9E8F7"/>
                </a:solidFill>
                <a:highlight>
                  <a:srgbClr val="1E1F22"/>
                </a:highlight>
                <a:latin typeface="Courier New"/>
                <a:ea typeface="Courier New"/>
                <a:cs typeface="Courier New"/>
                <a:sym typeface="Courier New"/>
              </a:rPr>
              <a:t> </a:t>
            </a:r>
            <a:r>
              <a:rPr lang="en-US" sz="800">
                <a:solidFill>
                  <a:srgbClr val="66E1F8"/>
                </a:solidFill>
                <a:highlight>
                  <a:srgbClr val="1E1F22"/>
                </a:highlight>
                <a:latin typeface="Courier New"/>
                <a:ea typeface="Courier New"/>
                <a:cs typeface="Courier New"/>
                <a:sym typeface="Courier New"/>
              </a:rPr>
              <a:t>em</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private</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final</a:t>
            </a: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StudentRepository</a:t>
            </a:r>
            <a:r>
              <a:rPr lang="en-US" sz="800">
                <a:solidFill>
                  <a:srgbClr val="D9E8F7"/>
                </a:solidFill>
                <a:highlight>
                  <a:srgbClr val="1E1F22"/>
                </a:highlight>
                <a:latin typeface="Courier New"/>
                <a:ea typeface="Courier New"/>
                <a:cs typeface="Courier New"/>
                <a:sym typeface="Courier New"/>
              </a:rPr>
              <a:t> </a:t>
            </a:r>
            <a:r>
              <a:rPr lang="en-US" sz="800">
                <a:solidFill>
                  <a:srgbClr val="66E1F8"/>
                </a:solidFill>
                <a:highlight>
                  <a:srgbClr val="1E1F22"/>
                </a:highlight>
                <a:latin typeface="Courier New"/>
                <a:ea typeface="Courier New"/>
                <a:cs typeface="Courier New"/>
                <a:sym typeface="Courier New"/>
              </a:rPr>
              <a:t>studentRepository</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public</a:t>
            </a:r>
            <a:r>
              <a:rPr lang="en-US" sz="800">
                <a:solidFill>
                  <a:srgbClr val="D9E8F7"/>
                </a:solidFill>
                <a:highlight>
                  <a:srgbClr val="1E1F22"/>
                </a:highlight>
                <a:latin typeface="Courier New"/>
                <a:ea typeface="Courier New"/>
                <a:cs typeface="Courier New"/>
                <a:sym typeface="Courier New"/>
              </a:rPr>
              <a:t> </a:t>
            </a:r>
            <a:r>
              <a:rPr lang="en-US" sz="800">
                <a:solidFill>
                  <a:srgbClr val="1EB540"/>
                </a:solidFill>
                <a:highlight>
                  <a:srgbClr val="1E1F22"/>
                </a:highlight>
                <a:latin typeface="Courier New"/>
                <a:ea typeface="Courier New"/>
                <a:cs typeface="Courier New"/>
                <a:sym typeface="Courier New"/>
              </a:rPr>
              <a:t>StudentServiceImpl</a:t>
            </a:r>
            <a:r>
              <a:rPr lang="en-US" sz="800">
                <a:solidFill>
                  <a:srgbClr val="F9FAF4"/>
                </a:solidFill>
                <a:highlight>
                  <a:srgbClr val="1E1F22"/>
                </a:highlight>
                <a:latin typeface="Courier New"/>
                <a:ea typeface="Courier New"/>
                <a:cs typeface="Courier New"/>
                <a:sym typeface="Courier New"/>
              </a:rPr>
              <a:t>(</a:t>
            </a:r>
            <a:r>
              <a:rPr lang="en-US" sz="800">
                <a:solidFill>
                  <a:srgbClr val="80F2F6"/>
                </a:solidFill>
                <a:highlight>
                  <a:srgbClr val="1E1F22"/>
                </a:highlight>
                <a:latin typeface="Courier New"/>
                <a:ea typeface="Courier New"/>
                <a:cs typeface="Courier New"/>
                <a:sym typeface="Courier New"/>
              </a:rPr>
              <a:t>EntityManager</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em</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4826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this</a:t>
            </a:r>
            <a:r>
              <a:rPr lang="en-US" sz="800">
                <a:solidFill>
                  <a:srgbClr val="E6E6FA"/>
                </a:solidFill>
                <a:highlight>
                  <a:srgbClr val="1E1F22"/>
                </a:highlight>
                <a:latin typeface="Courier New"/>
                <a:ea typeface="Courier New"/>
                <a:cs typeface="Courier New"/>
                <a:sym typeface="Courier New"/>
              </a:rPr>
              <a:t>.</a:t>
            </a:r>
            <a:r>
              <a:rPr lang="en-US" sz="800">
                <a:solidFill>
                  <a:srgbClr val="66E1F8"/>
                </a:solidFill>
                <a:highlight>
                  <a:srgbClr val="1E1F22"/>
                </a:highlight>
                <a:latin typeface="Courier New"/>
                <a:ea typeface="Courier New"/>
                <a:cs typeface="Courier New"/>
                <a:sym typeface="Courier New"/>
              </a:rPr>
              <a:t>em</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em</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4826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this</a:t>
            </a:r>
            <a:r>
              <a:rPr lang="en-US" sz="800">
                <a:solidFill>
                  <a:srgbClr val="E6E6FA"/>
                </a:solidFill>
                <a:highlight>
                  <a:srgbClr val="1E1F22"/>
                </a:highlight>
                <a:latin typeface="Courier New"/>
                <a:ea typeface="Courier New"/>
                <a:cs typeface="Courier New"/>
                <a:sym typeface="Courier New"/>
              </a:rPr>
              <a:t>.</a:t>
            </a:r>
            <a:r>
              <a:rPr lang="en-US" sz="800">
                <a:solidFill>
                  <a:srgbClr val="66E1F8"/>
                </a:solidFill>
                <a:highlight>
                  <a:srgbClr val="1E1F22"/>
                </a:highlight>
                <a:latin typeface="Courier New"/>
                <a:ea typeface="Courier New"/>
                <a:cs typeface="Courier New"/>
                <a:sym typeface="Courier New"/>
              </a:rPr>
              <a:t>studentRepository</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new</a:t>
            </a:r>
            <a:r>
              <a:rPr lang="en-US" sz="800">
                <a:solidFill>
                  <a:srgbClr val="D9E8F7"/>
                </a:solidFill>
                <a:highlight>
                  <a:srgbClr val="1E1F22"/>
                </a:highlight>
                <a:latin typeface="Courier New"/>
                <a:ea typeface="Courier New"/>
                <a:cs typeface="Courier New"/>
                <a:sym typeface="Courier New"/>
              </a:rPr>
              <a:t> </a:t>
            </a:r>
            <a:r>
              <a:rPr lang="en-US" sz="800">
                <a:solidFill>
                  <a:srgbClr val="A7EC21"/>
                </a:solidFill>
                <a:highlight>
                  <a:srgbClr val="1E1F22"/>
                </a:highlight>
                <a:latin typeface="Courier New"/>
                <a:ea typeface="Courier New"/>
                <a:cs typeface="Courier New"/>
                <a:sym typeface="Courier New"/>
              </a:rPr>
              <a:t>StudentRepository</a:t>
            </a:r>
            <a:r>
              <a:rPr lang="en-US" sz="800">
                <a:solidFill>
                  <a:srgbClr val="F9FAF4"/>
                </a:solidFill>
                <a:highlight>
                  <a:srgbClr val="1E1F22"/>
                </a:highlight>
                <a:latin typeface="Courier New"/>
                <a:ea typeface="Courier New"/>
                <a:cs typeface="Courier New"/>
                <a:sym typeface="Courier New"/>
              </a:rPr>
              <a:t>(</a:t>
            </a:r>
            <a:r>
              <a:rPr lang="en-US" sz="800">
                <a:solidFill>
                  <a:srgbClr val="79ABFF"/>
                </a:solidFill>
                <a:highlight>
                  <a:srgbClr val="1E1F22"/>
                </a:highlight>
                <a:latin typeface="Courier New"/>
                <a:ea typeface="Courier New"/>
                <a:cs typeface="Courier New"/>
                <a:sym typeface="Courier New"/>
              </a:rPr>
              <a:t>em</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i="1" lang="en-US" sz="800">
                <a:solidFill>
                  <a:srgbClr val="A0A0A0"/>
                </a:solidFill>
                <a:highlight>
                  <a:srgbClr val="1E1F22"/>
                </a:highlight>
                <a:latin typeface="Courier New"/>
                <a:ea typeface="Courier New"/>
                <a:cs typeface="Courier New"/>
                <a:sym typeface="Courier New"/>
              </a:rPr>
              <a:t>@Override</a:t>
            </a:r>
            <a:endParaRPr i="1" sz="8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public</a:t>
            </a: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Student</a:t>
            </a:r>
            <a:r>
              <a:rPr lang="en-US" sz="800">
                <a:solidFill>
                  <a:srgbClr val="D9E8F7"/>
                </a:solidFill>
                <a:highlight>
                  <a:srgbClr val="1E1F22"/>
                </a:highlight>
                <a:latin typeface="Courier New"/>
                <a:ea typeface="Courier New"/>
                <a:cs typeface="Courier New"/>
                <a:sym typeface="Courier New"/>
              </a:rPr>
              <a:t> </a:t>
            </a:r>
            <a:r>
              <a:rPr lang="en-US" sz="800">
                <a:solidFill>
                  <a:srgbClr val="1EB540"/>
                </a:solidFill>
                <a:highlight>
                  <a:srgbClr val="1E1F22"/>
                </a:highlight>
                <a:latin typeface="Courier New"/>
                <a:ea typeface="Courier New"/>
                <a:cs typeface="Courier New"/>
                <a:sym typeface="Courier New"/>
              </a:rPr>
              <a:t>enrollStudent</a:t>
            </a:r>
            <a:r>
              <a:rPr lang="en-US" sz="800">
                <a:solidFill>
                  <a:srgbClr val="F9FAF4"/>
                </a:solidFill>
                <a:highlight>
                  <a:srgbClr val="1E1F22"/>
                </a:highlight>
                <a:latin typeface="Courier New"/>
                <a:ea typeface="Courier New"/>
                <a:cs typeface="Courier New"/>
                <a:sym typeface="Courier New"/>
              </a:rPr>
              <a:t>(</a:t>
            </a:r>
            <a:r>
              <a:rPr lang="en-US" sz="800">
                <a:solidFill>
                  <a:srgbClr val="1290C3"/>
                </a:solidFill>
                <a:highlight>
                  <a:srgbClr val="1E1F22"/>
                </a:highlight>
                <a:latin typeface="Courier New"/>
                <a:ea typeface="Courier New"/>
                <a:cs typeface="Courier New"/>
                <a:sym typeface="Courier New"/>
              </a:rPr>
              <a:t>Student</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student</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Profile</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profile</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80F2F6"/>
                </a:solidFill>
                <a:highlight>
                  <a:srgbClr val="1E1F22"/>
                </a:highlight>
                <a:latin typeface="Courier New"/>
                <a:ea typeface="Courier New"/>
                <a:cs typeface="Courier New"/>
                <a:sym typeface="Courier New"/>
              </a:rPr>
              <a:t>EntityTransaction</a:t>
            </a:r>
            <a:r>
              <a:rPr lang="en-US" sz="800">
                <a:solidFill>
                  <a:srgbClr val="D9E8F7"/>
                </a:solidFill>
                <a:highlight>
                  <a:srgbClr val="1E1F22"/>
                </a:highlight>
                <a:latin typeface="Courier New"/>
                <a:ea typeface="Courier New"/>
                <a:cs typeface="Courier New"/>
                <a:sym typeface="Courier New"/>
              </a:rPr>
              <a:t> </a:t>
            </a:r>
            <a:r>
              <a:rPr lang="en-US" sz="800">
                <a:solidFill>
                  <a:srgbClr val="F2F200"/>
                </a:solidFill>
                <a:highlight>
                  <a:srgbClr val="1E1F22"/>
                </a:highlight>
                <a:latin typeface="Courier New"/>
                <a:ea typeface="Courier New"/>
                <a:cs typeface="Courier New"/>
                <a:sym typeface="Courier New"/>
              </a:rPr>
              <a:t>tx</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66E1F8"/>
                </a:solidFill>
                <a:highlight>
                  <a:srgbClr val="1E1F22"/>
                </a:highlight>
                <a:latin typeface="Courier New"/>
                <a:ea typeface="Courier New"/>
                <a:cs typeface="Courier New"/>
                <a:sym typeface="Courier New"/>
              </a:rPr>
              <a:t>em</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getTransaction</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try</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begin</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HashMap</a:t>
            </a:r>
            <a:r>
              <a:rPr lang="en-US" sz="800">
                <a:solidFill>
                  <a:srgbClr val="E6E6FA"/>
                </a:solidFill>
                <a:highlight>
                  <a:srgbClr val="1E1F22"/>
                </a:highlight>
                <a:latin typeface="Courier New"/>
                <a:ea typeface="Courier New"/>
                <a:cs typeface="Courier New"/>
                <a:sym typeface="Courier New"/>
              </a:rPr>
              <a:t>&lt;</a:t>
            </a:r>
            <a:r>
              <a:rPr lang="en-US" sz="800">
                <a:solidFill>
                  <a:srgbClr val="B166DA"/>
                </a:solidFill>
                <a:highlight>
                  <a:srgbClr val="1E1F22"/>
                </a:highlight>
                <a:latin typeface="Courier New"/>
                <a:ea typeface="Courier New"/>
                <a:cs typeface="Courier New"/>
                <a:sym typeface="Courier New"/>
              </a:rPr>
              <a:t>String</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B166DA"/>
                </a:solidFill>
                <a:highlight>
                  <a:srgbClr val="1E1F22"/>
                </a:highlight>
                <a:latin typeface="Courier New"/>
                <a:ea typeface="Courier New"/>
                <a:cs typeface="Courier New"/>
                <a:sym typeface="Courier New"/>
              </a:rPr>
              <a:t>String</a:t>
            </a:r>
            <a:r>
              <a:rPr lang="en-US" sz="800">
                <a:solidFill>
                  <a:srgbClr val="E6E6FA"/>
                </a:solidFill>
                <a:highlight>
                  <a:srgbClr val="1E1F22"/>
                </a:highlight>
                <a:latin typeface="Courier New"/>
                <a:ea typeface="Courier New"/>
                <a:cs typeface="Courier New"/>
                <a:sym typeface="Courier New"/>
              </a:rPr>
              <a:t>&gt;</a:t>
            </a:r>
            <a:r>
              <a:rPr lang="en-US" sz="800">
                <a:solidFill>
                  <a:srgbClr val="D9E8F7"/>
                </a:solidFill>
                <a:highlight>
                  <a:srgbClr val="1E1F22"/>
                </a:highlight>
                <a:latin typeface="Courier New"/>
                <a:ea typeface="Courier New"/>
                <a:cs typeface="Courier New"/>
                <a:sym typeface="Courier New"/>
              </a:rPr>
              <a:t> </a:t>
            </a:r>
            <a:r>
              <a:rPr lang="en-US" sz="800">
                <a:solidFill>
                  <a:srgbClr val="F2F200"/>
                </a:solidFill>
                <a:highlight>
                  <a:srgbClr val="1E1F22"/>
                </a:highlight>
                <a:latin typeface="Courier New"/>
                <a:ea typeface="Courier New"/>
                <a:cs typeface="Courier New"/>
                <a:sym typeface="Courier New"/>
              </a:rPr>
              <a:t>errors</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A7EC21"/>
                </a:solidFill>
                <a:highlight>
                  <a:srgbClr val="1E1F22"/>
                </a:highlight>
                <a:latin typeface="Courier New"/>
                <a:ea typeface="Courier New"/>
                <a:cs typeface="Courier New"/>
                <a:sym typeface="Courier New"/>
              </a:rPr>
              <a:t>validateEnrollment</a:t>
            </a:r>
            <a:r>
              <a:rPr lang="en-US" sz="800">
                <a:solidFill>
                  <a:srgbClr val="F9FAF4"/>
                </a:solidFill>
                <a:highlight>
                  <a:srgbClr val="1E1F22"/>
                </a:highlight>
                <a:latin typeface="Courier New"/>
                <a:ea typeface="Courier New"/>
                <a:cs typeface="Courier New"/>
                <a:sym typeface="Courier New"/>
              </a:rPr>
              <a:t>(</a:t>
            </a:r>
            <a:r>
              <a:rPr lang="en-US" sz="800">
                <a:solidFill>
                  <a:srgbClr val="79ABFF"/>
                </a:solidFill>
                <a:highlight>
                  <a:srgbClr val="1E1F22"/>
                </a:highlight>
                <a:latin typeface="Courier New"/>
                <a:ea typeface="Courier New"/>
                <a:cs typeface="Courier New"/>
                <a:sym typeface="Courier New"/>
              </a:rPr>
              <a:t>student</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profile</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if</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r>
              <a:rPr lang="en-US" sz="800">
                <a:solidFill>
                  <a:srgbClr val="F3EC79"/>
                </a:solidFill>
                <a:highlight>
                  <a:srgbClr val="1E1F22"/>
                </a:highlight>
                <a:latin typeface="Courier New"/>
                <a:ea typeface="Courier New"/>
                <a:cs typeface="Courier New"/>
                <a:sym typeface="Courier New"/>
              </a:rPr>
              <a:t>errors</a:t>
            </a:r>
            <a:r>
              <a:rPr lang="en-US" sz="800">
                <a:solidFill>
                  <a:srgbClr val="E6E6FA"/>
                </a:solidFill>
                <a:highlight>
                  <a:srgbClr val="1E1F22"/>
                </a:highlight>
                <a:latin typeface="Courier New"/>
                <a:ea typeface="Courier New"/>
                <a:cs typeface="Courier New"/>
                <a:sym typeface="Courier New"/>
              </a:rPr>
              <a:t>.</a:t>
            </a:r>
            <a:r>
              <a:rPr lang="en-US" sz="800">
                <a:solidFill>
                  <a:srgbClr val="A7EC21"/>
                </a:solidFill>
                <a:highlight>
                  <a:srgbClr val="1E1F22"/>
                </a:highlight>
                <a:latin typeface="Courier New"/>
                <a:ea typeface="Courier New"/>
                <a:cs typeface="Courier New"/>
                <a:sym typeface="Courier New"/>
              </a:rPr>
              <a:t>isEmpty</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MapPrinterUtil</a:t>
            </a:r>
            <a:r>
              <a:rPr lang="en-US" sz="800">
                <a:solidFill>
                  <a:srgbClr val="E6E6FA"/>
                </a:solidFill>
                <a:highlight>
                  <a:srgbClr val="1E1F22"/>
                </a:highlight>
                <a:latin typeface="Courier New"/>
                <a:ea typeface="Courier New"/>
                <a:cs typeface="Courier New"/>
                <a:sym typeface="Courier New"/>
              </a:rPr>
              <a:t>.</a:t>
            </a:r>
            <a:r>
              <a:rPr i="1" lang="en-US" sz="800">
                <a:solidFill>
                  <a:srgbClr val="96EC3F"/>
                </a:solidFill>
                <a:highlight>
                  <a:srgbClr val="1E1F22"/>
                </a:highlight>
                <a:latin typeface="Courier New"/>
                <a:ea typeface="Courier New"/>
                <a:cs typeface="Courier New"/>
                <a:sym typeface="Courier New"/>
              </a:rPr>
              <a:t>printMap</a:t>
            </a:r>
            <a:r>
              <a:rPr lang="en-US" sz="800">
                <a:solidFill>
                  <a:srgbClr val="F9FAF4"/>
                </a:solidFill>
                <a:highlight>
                  <a:srgbClr val="1E1F22"/>
                </a:highlight>
                <a:latin typeface="Courier New"/>
                <a:ea typeface="Courier New"/>
                <a:cs typeface="Courier New"/>
                <a:sym typeface="Courier New"/>
              </a:rPr>
              <a:t>(</a:t>
            </a:r>
            <a:r>
              <a:rPr lang="en-US" sz="800">
                <a:solidFill>
                  <a:srgbClr val="F3EC79"/>
                </a:solidFill>
                <a:highlight>
                  <a:srgbClr val="1E1F22"/>
                </a:highlight>
                <a:latin typeface="Courier New"/>
                <a:ea typeface="Courier New"/>
                <a:cs typeface="Courier New"/>
                <a:sym typeface="Courier New"/>
              </a:rPr>
              <a:t>errors</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if</a:t>
            </a:r>
            <a:r>
              <a:rPr lang="en-US" sz="800">
                <a:solidFill>
                  <a:srgbClr val="F9FAF4"/>
                </a:solidFill>
                <a:highlight>
                  <a:srgbClr val="1E1F22"/>
                </a:highlight>
                <a:latin typeface="Courier New"/>
                <a:ea typeface="Courier New"/>
                <a:cs typeface="Courier New"/>
                <a:sym typeface="Courier New"/>
              </a:rPr>
              <a:t>(</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isActive</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rollback</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return</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null</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student</a:t>
            </a:r>
            <a:r>
              <a:rPr lang="en-US" sz="800">
                <a:solidFill>
                  <a:srgbClr val="E6E6FA"/>
                </a:solidFill>
                <a:highlight>
                  <a:srgbClr val="1E1F22"/>
                </a:highlight>
                <a:latin typeface="Courier New"/>
                <a:ea typeface="Courier New"/>
                <a:cs typeface="Courier New"/>
                <a:sym typeface="Courier New"/>
              </a:rPr>
              <a:t>.</a:t>
            </a:r>
            <a:r>
              <a:rPr lang="en-US" sz="800">
                <a:solidFill>
                  <a:srgbClr val="A7EC21"/>
                </a:solidFill>
                <a:highlight>
                  <a:srgbClr val="1E1F22"/>
                </a:highlight>
                <a:latin typeface="Courier New"/>
                <a:ea typeface="Courier New"/>
                <a:cs typeface="Courier New"/>
                <a:sym typeface="Courier New"/>
              </a:rPr>
              <a:t>setProfile</a:t>
            </a:r>
            <a:r>
              <a:rPr lang="en-US" sz="800">
                <a:solidFill>
                  <a:srgbClr val="F9FAF4"/>
                </a:solidFill>
                <a:highlight>
                  <a:srgbClr val="1E1F22"/>
                </a:highlight>
                <a:latin typeface="Courier New"/>
                <a:ea typeface="Courier New"/>
                <a:cs typeface="Courier New"/>
                <a:sym typeface="Courier New"/>
              </a:rPr>
              <a:t>(</a:t>
            </a:r>
            <a:r>
              <a:rPr lang="en-US" sz="800">
                <a:solidFill>
                  <a:srgbClr val="79ABFF"/>
                </a:solidFill>
                <a:highlight>
                  <a:srgbClr val="1E1F22"/>
                </a:highlight>
                <a:latin typeface="Courier New"/>
                <a:ea typeface="Courier New"/>
                <a:cs typeface="Courier New"/>
                <a:sym typeface="Courier New"/>
              </a:rPr>
              <a:t>profile</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Student</a:t>
            </a:r>
            <a:r>
              <a:rPr lang="en-US" sz="800">
                <a:solidFill>
                  <a:srgbClr val="D9E8F7"/>
                </a:solidFill>
                <a:highlight>
                  <a:srgbClr val="1E1F22"/>
                </a:highlight>
                <a:latin typeface="Courier New"/>
                <a:ea typeface="Courier New"/>
                <a:cs typeface="Courier New"/>
                <a:sym typeface="Courier New"/>
              </a:rPr>
              <a:t> </a:t>
            </a:r>
            <a:r>
              <a:rPr lang="en-US" sz="800">
                <a:solidFill>
                  <a:srgbClr val="F2F200"/>
                </a:solidFill>
                <a:highlight>
                  <a:srgbClr val="1E1F22"/>
                </a:highlight>
                <a:latin typeface="Courier New"/>
                <a:ea typeface="Courier New"/>
                <a:cs typeface="Courier New"/>
                <a:sym typeface="Courier New"/>
              </a:rPr>
              <a:t>savedStudent</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66E1F8"/>
                </a:solidFill>
                <a:highlight>
                  <a:srgbClr val="1E1F22"/>
                </a:highlight>
                <a:latin typeface="Courier New"/>
                <a:ea typeface="Courier New"/>
                <a:cs typeface="Courier New"/>
                <a:sym typeface="Courier New"/>
              </a:rPr>
              <a:t>studentRepository</a:t>
            </a:r>
            <a:r>
              <a:rPr lang="en-US" sz="800">
                <a:solidFill>
                  <a:srgbClr val="E6E6FA"/>
                </a:solidFill>
                <a:highlight>
                  <a:srgbClr val="1E1F22"/>
                </a:highlight>
                <a:latin typeface="Courier New"/>
                <a:ea typeface="Courier New"/>
                <a:cs typeface="Courier New"/>
                <a:sym typeface="Courier New"/>
              </a:rPr>
              <a:t>.</a:t>
            </a:r>
            <a:r>
              <a:rPr lang="en-US" sz="800">
                <a:solidFill>
                  <a:srgbClr val="A7EC21"/>
                </a:solidFill>
                <a:highlight>
                  <a:srgbClr val="1E1F22"/>
                </a:highlight>
                <a:latin typeface="Courier New"/>
                <a:ea typeface="Courier New"/>
                <a:cs typeface="Courier New"/>
                <a:sym typeface="Courier New"/>
              </a:rPr>
              <a:t>save</a:t>
            </a:r>
            <a:r>
              <a:rPr lang="en-US" sz="800">
                <a:solidFill>
                  <a:srgbClr val="F9FAF4"/>
                </a:solidFill>
                <a:highlight>
                  <a:srgbClr val="1E1F22"/>
                </a:highlight>
                <a:latin typeface="Courier New"/>
                <a:ea typeface="Courier New"/>
                <a:cs typeface="Courier New"/>
                <a:sym typeface="Courier New"/>
              </a:rPr>
              <a:t>(</a:t>
            </a:r>
            <a:r>
              <a:rPr lang="en-US" sz="800">
                <a:solidFill>
                  <a:srgbClr val="79ABFF"/>
                </a:solidFill>
                <a:highlight>
                  <a:srgbClr val="1E1F22"/>
                </a:highlight>
                <a:latin typeface="Courier New"/>
                <a:ea typeface="Courier New"/>
                <a:cs typeface="Courier New"/>
                <a:sym typeface="Courier New"/>
              </a:rPr>
              <a:t>student</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commit</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return</a:t>
            </a: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savedStudent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catch</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r>
              <a:rPr lang="en-US" sz="800">
                <a:solidFill>
                  <a:srgbClr val="1290C3"/>
                </a:solidFill>
                <a:highlight>
                  <a:srgbClr val="1E1F22"/>
                </a:highlight>
                <a:latin typeface="Courier New"/>
                <a:ea typeface="Courier New"/>
                <a:cs typeface="Courier New"/>
                <a:sym typeface="Courier New"/>
              </a:rPr>
              <a:t>Exception</a:t>
            </a:r>
            <a:r>
              <a:rPr lang="en-US" sz="800">
                <a:solidFill>
                  <a:srgbClr val="D9E8F7"/>
                </a:solidFill>
                <a:highlight>
                  <a:srgbClr val="1E1F22"/>
                </a:highlight>
                <a:latin typeface="Courier New"/>
                <a:ea typeface="Courier New"/>
                <a:cs typeface="Courier New"/>
                <a:sym typeface="Courier New"/>
              </a:rPr>
              <a:t> </a:t>
            </a:r>
            <a:r>
              <a:rPr lang="en-US" sz="800">
                <a:solidFill>
                  <a:srgbClr val="F2F200"/>
                </a:solidFill>
                <a:highlight>
                  <a:srgbClr val="1E1F22"/>
                </a:highlight>
                <a:latin typeface="Courier New"/>
                <a:ea typeface="Courier New"/>
                <a:cs typeface="Courier New"/>
                <a:sym typeface="Courier New"/>
              </a:rPr>
              <a:t>e</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if</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isActive</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rollback</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throw</a:t>
            </a: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e</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HashMap</a:t>
            </a:r>
            <a:r>
              <a:rPr lang="en-US" sz="900">
                <a:solidFill>
                  <a:srgbClr val="E6E6FA"/>
                </a:solidFill>
                <a:highlight>
                  <a:srgbClr val="1E1F22"/>
                </a:highlight>
                <a:latin typeface="Courier New"/>
                <a:ea typeface="Courier New"/>
                <a:cs typeface="Courier New"/>
                <a:sym typeface="Courier New"/>
              </a:rPr>
              <a:t>&lt;</a:t>
            </a:r>
            <a:r>
              <a:rPr lang="en-US" sz="900">
                <a:solidFill>
                  <a:srgbClr val="B166DA"/>
                </a:solidFill>
                <a:highlight>
                  <a:srgbClr val="1E1F22"/>
                </a:highlight>
                <a:latin typeface="Courier New"/>
                <a:ea typeface="Courier New"/>
                <a:cs typeface="Courier New"/>
                <a:sym typeface="Courier New"/>
              </a:rPr>
              <a:t>String</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B166DA"/>
                </a:solidFill>
                <a:highlight>
                  <a:srgbClr val="1E1F22"/>
                </a:highlight>
                <a:latin typeface="Courier New"/>
                <a:ea typeface="Courier New"/>
                <a:cs typeface="Courier New"/>
                <a:sym typeface="Courier New"/>
              </a:rPr>
              <a:t>String</a:t>
            </a:r>
            <a:r>
              <a:rPr lang="en-US" sz="900">
                <a:solidFill>
                  <a:srgbClr val="E6E6FA"/>
                </a:solidFill>
                <a:highlight>
                  <a:srgbClr val="1E1F22"/>
                </a:highlight>
                <a:latin typeface="Courier New"/>
                <a:ea typeface="Courier New"/>
                <a:cs typeface="Courier New"/>
                <a:sym typeface="Courier New"/>
              </a:rPr>
              <a:t>&gt;</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validateEnrollment</a:t>
            </a:r>
            <a:r>
              <a:rPr lang="en-US" sz="900">
                <a:solidFill>
                  <a:srgbClr val="F9FAF4"/>
                </a:solidFill>
                <a:highlight>
                  <a:srgbClr val="1E1F22"/>
                </a:highlight>
                <a:latin typeface="Courier New"/>
                <a:ea typeface="Courier New"/>
                <a:cs typeface="Courier New"/>
                <a:sym typeface="Courier New"/>
              </a:rPr>
              <a:t>(</a:t>
            </a:r>
            <a:r>
              <a:rPr lang="en-US" sz="900">
                <a:solidFill>
                  <a:srgbClr val="1290C3"/>
                </a:solidFill>
                <a:highlight>
                  <a:srgbClr val="1E1F22"/>
                </a:highlight>
                <a:latin typeface="Courier New"/>
                <a:ea typeface="Courier New"/>
                <a:cs typeface="Courier New"/>
                <a:sym typeface="Courier New"/>
              </a:rPr>
              <a:t>Student</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student</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Profile</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profile</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 //TODO }</a:t>
            </a:r>
            <a:endParaRPr sz="900">
              <a:solidFill>
                <a:srgbClr val="F9FAF4"/>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pic>
        <p:nvPicPr>
          <p:cNvPr descr="image.png" id="1442" name="Google Shape;1442;p17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43" name="Google Shape;1443;p176"/>
          <p:cNvSpPr txBox="1"/>
          <p:nvPr/>
        </p:nvSpPr>
        <p:spPr>
          <a:xfrm>
            <a:off x="417150" y="357175"/>
            <a:ext cx="11357700" cy="5633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App</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main</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args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createEntityManager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StudentService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StudentServiceImpl</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"Rose Wood"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25</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"rosewood@gmail.com"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Profile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newStudentProfile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Profile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newStudentProfile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setAddress</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"Pasig City"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newStudentProfile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setNationality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"Filipino"</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studentService</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enrollStudent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newStudentProfile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finally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closeEntityManager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shutdownFactory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pic>
        <p:nvPicPr>
          <p:cNvPr descr="image.png" id="1448" name="Google Shape;1448;p17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49" name="Google Shape;1449;p177"/>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50" name="Google Shape;1450;p177"/>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1" name="Google Shape;1451;p177"/>
          <p:cNvSpPr txBox="1"/>
          <p:nvPr/>
        </p:nvSpPr>
        <p:spPr>
          <a:xfrm>
            <a:off x="571500" y="1406650"/>
            <a:ext cx="11049000" cy="2678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1800">
                <a:solidFill>
                  <a:schemeClr val="dk1"/>
                </a:solidFill>
                <a:latin typeface="Poppins"/>
                <a:ea typeface="Poppins"/>
                <a:cs typeface="Poppins"/>
                <a:sym typeface="Poppins"/>
              </a:rPr>
              <a:t>Update Library System Application</a:t>
            </a:r>
            <a:endParaRPr sz="18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1800">
              <a:solidFill>
                <a:schemeClr val="dk1"/>
              </a:solidFill>
              <a:latin typeface="Poppins"/>
              <a:ea typeface="Poppins"/>
              <a:cs typeface="Poppins"/>
              <a:sym typeface="Poppins"/>
            </a:endParaRPr>
          </a:p>
          <a:p>
            <a:pPr indent="-342900" lvl="0" marL="457200" marR="0" rtl="0" algn="l">
              <a:lnSpc>
                <a:spcPct val="100000"/>
              </a:lnSpc>
              <a:spcBef>
                <a:spcPts val="0"/>
              </a:spcBef>
              <a:spcAft>
                <a:spcPts val="0"/>
              </a:spcAft>
              <a:buClr>
                <a:schemeClr val="dk1"/>
              </a:buClr>
              <a:buSzPts val="1800"/>
              <a:buFont typeface="Poppins"/>
              <a:buAutoNum type="arabicPeriod"/>
            </a:pPr>
            <a:r>
              <a:rPr b="1" lang="en-US" sz="1800">
                <a:solidFill>
                  <a:schemeClr val="dk1"/>
                </a:solidFill>
                <a:latin typeface="Poppins"/>
                <a:ea typeface="Poppins"/>
                <a:cs typeface="Poppins"/>
                <a:sym typeface="Poppins"/>
              </a:rPr>
              <a:t>Migrate to Maven Project </a:t>
            </a:r>
            <a:endParaRPr b="1"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import hibernate-core and postgresql dependencies in pom.xml</a:t>
            </a:r>
            <a:endParaRPr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configure persistence.xml</a:t>
            </a:r>
            <a:endParaRPr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configure jdbc connection</a:t>
            </a:r>
            <a:endParaRPr sz="1800">
              <a:solidFill>
                <a:schemeClr val="dk1"/>
              </a:solidFill>
              <a:latin typeface="Poppins"/>
              <a:ea typeface="Poppins"/>
              <a:cs typeface="Poppins"/>
              <a:sym typeface="Poppins"/>
            </a:endParaRPr>
          </a:p>
          <a:p>
            <a:pPr indent="-342900" lvl="0" marL="457200" marR="0" rtl="0" algn="l">
              <a:lnSpc>
                <a:spcPct val="100000"/>
              </a:lnSpc>
              <a:spcBef>
                <a:spcPts val="0"/>
              </a:spcBef>
              <a:spcAft>
                <a:spcPts val="0"/>
              </a:spcAft>
              <a:buClr>
                <a:schemeClr val="dk1"/>
              </a:buClr>
              <a:buSzPts val="1800"/>
              <a:buFont typeface="Poppins"/>
              <a:buAutoNum type="arabicPeriod"/>
            </a:pPr>
            <a:r>
              <a:rPr b="1" lang="en-US" sz="1800">
                <a:solidFill>
                  <a:schemeClr val="dk1"/>
                </a:solidFill>
                <a:latin typeface="Poppins"/>
                <a:ea typeface="Poppins"/>
                <a:cs typeface="Poppins"/>
                <a:sym typeface="Poppins"/>
              </a:rPr>
              <a:t>Create</a:t>
            </a:r>
            <a:r>
              <a:rPr b="1" lang="en-US" sz="1800">
                <a:solidFill>
                  <a:schemeClr val="dk1"/>
                </a:solidFill>
                <a:latin typeface="Poppins"/>
                <a:ea typeface="Poppins"/>
                <a:cs typeface="Poppins"/>
                <a:sym typeface="Poppins"/>
              </a:rPr>
              <a:t> Entities using JPA annotations</a:t>
            </a:r>
            <a:endParaRPr b="1"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put all entities in a single package</a:t>
            </a:r>
            <a:endParaRPr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Create entity class for </a:t>
            </a:r>
            <a:r>
              <a:rPr b="1" lang="en-US" sz="1800">
                <a:solidFill>
                  <a:schemeClr val="dk1"/>
                </a:solidFill>
                <a:latin typeface="Poppins"/>
                <a:ea typeface="Poppins"/>
                <a:cs typeface="Poppins"/>
                <a:sym typeface="Poppins"/>
              </a:rPr>
              <a:t>Book</a:t>
            </a:r>
            <a:r>
              <a:rPr lang="en-US" sz="1800">
                <a:solidFill>
                  <a:schemeClr val="dk1"/>
                </a:solidFill>
                <a:latin typeface="Poppins"/>
                <a:ea typeface="Poppins"/>
                <a:cs typeface="Poppins"/>
                <a:sym typeface="Poppins"/>
              </a:rPr>
              <a:t>, </a:t>
            </a:r>
            <a:r>
              <a:rPr b="1" lang="en-US" sz="1800">
                <a:solidFill>
                  <a:schemeClr val="dk1"/>
                </a:solidFill>
                <a:latin typeface="Poppins"/>
                <a:ea typeface="Poppins"/>
                <a:cs typeface="Poppins"/>
                <a:sym typeface="Poppins"/>
              </a:rPr>
              <a:t>Loan</a:t>
            </a:r>
            <a:r>
              <a:rPr lang="en-US" sz="1800">
                <a:solidFill>
                  <a:schemeClr val="dk1"/>
                </a:solidFill>
                <a:latin typeface="Poppins"/>
                <a:ea typeface="Poppins"/>
                <a:cs typeface="Poppins"/>
                <a:sym typeface="Poppins"/>
              </a:rPr>
              <a:t>, and </a:t>
            </a:r>
            <a:r>
              <a:rPr b="1" lang="en-US" sz="1800">
                <a:solidFill>
                  <a:schemeClr val="dk1"/>
                </a:solidFill>
                <a:latin typeface="Poppins"/>
                <a:ea typeface="Poppins"/>
                <a:cs typeface="Poppins"/>
                <a:sym typeface="Poppins"/>
              </a:rPr>
              <a:t>User</a:t>
            </a:r>
            <a:endParaRPr sz="1800">
              <a:solidFill>
                <a:schemeClr val="dk1"/>
              </a:solidFill>
              <a:latin typeface="Poppins"/>
              <a:ea typeface="Poppins"/>
              <a:cs typeface="Poppins"/>
              <a:sym typeface="Poppins"/>
            </a:endParaRPr>
          </a:p>
        </p:txBody>
      </p:sp>
      <p:pic>
        <p:nvPicPr>
          <p:cNvPr id="1452" name="Google Shape;1452;p177"/>
          <p:cNvPicPr preferRelativeResize="0"/>
          <p:nvPr/>
        </p:nvPicPr>
        <p:blipFill>
          <a:blip r:embed="rId4">
            <a:alphaModFix/>
          </a:blip>
          <a:stretch>
            <a:fillRect/>
          </a:stretch>
        </p:blipFill>
        <p:spPr>
          <a:xfrm>
            <a:off x="6616725" y="3635475"/>
            <a:ext cx="5367676" cy="2979600"/>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6" name="Shape 1456"/>
        <p:cNvGrpSpPr/>
        <p:nvPr/>
      </p:nvGrpSpPr>
      <p:grpSpPr>
        <a:xfrm>
          <a:off x="0" y="0"/>
          <a:ext cx="0" cy="0"/>
          <a:chOff x="0" y="0"/>
          <a:chExt cx="0" cy="0"/>
        </a:xfrm>
      </p:grpSpPr>
      <p:pic>
        <p:nvPicPr>
          <p:cNvPr descr="image.png" id="1457" name="Google Shape;1457;p17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58" name="Google Shape;1458;p178"/>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59" name="Google Shape;1459;p178"/>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0" name="Google Shape;1460;p178"/>
          <p:cNvSpPr txBox="1"/>
          <p:nvPr/>
        </p:nvSpPr>
        <p:spPr>
          <a:xfrm>
            <a:off x="571500" y="1406650"/>
            <a:ext cx="11049000" cy="203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000">
                <a:solidFill>
                  <a:schemeClr val="dk1"/>
                </a:solidFill>
                <a:latin typeface="Poppins"/>
                <a:ea typeface="Poppins"/>
                <a:cs typeface="Poppins"/>
                <a:sym typeface="Poppins"/>
              </a:rPr>
              <a:t>3. </a:t>
            </a:r>
            <a:r>
              <a:rPr b="1" lang="en-US" sz="2000">
                <a:solidFill>
                  <a:schemeClr val="dk1"/>
                </a:solidFill>
                <a:latin typeface="Poppins"/>
                <a:ea typeface="Poppins"/>
                <a:cs typeface="Poppins"/>
                <a:sym typeface="Poppins"/>
              </a:rPr>
              <a:t>Practice Repository Pattern</a:t>
            </a:r>
            <a:endParaRPr b="1"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repository package and put all Repository classes there</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Repository Interface</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Repository Implementation Class per Entity Class</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p:txBody>
      </p:sp>
      <p:pic>
        <p:nvPicPr>
          <p:cNvPr id="1461" name="Google Shape;1461;p178"/>
          <p:cNvPicPr preferRelativeResize="0"/>
          <p:nvPr/>
        </p:nvPicPr>
        <p:blipFill>
          <a:blip r:embed="rId4">
            <a:alphaModFix/>
          </a:blip>
          <a:stretch>
            <a:fillRect/>
          </a:stretch>
        </p:blipFill>
        <p:spPr>
          <a:xfrm>
            <a:off x="6415225" y="2973250"/>
            <a:ext cx="5431125" cy="3299925"/>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pic>
        <p:nvPicPr>
          <p:cNvPr descr="image.png" id="1466" name="Google Shape;1466;p17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67" name="Google Shape;1467;p179"/>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68" name="Google Shape;1468;p179"/>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9" name="Google Shape;1469;p179"/>
          <p:cNvSpPr txBox="1"/>
          <p:nvPr/>
        </p:nvSpPr>
        <p:spPr>
          <a:xfrm>
            <a:off x="4233000" y="2387725"/>
            <a:ext cx="37260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interface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Repository</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FA4A4"/>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BFA4A4"/>
                </a:solidFill>
                <a:highlight>
                  <a:srgbClr val="1E1F22"/>
                </a:highlight>
                <a:latin typeface="Courier New"/>
                <a:ea typeface="Courier New"/>
                <a:cs typeface="Courier New"/>
                <a:sym typeface="Courier New"/>
              </a:rPr>
              <a:t>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save</a:t>
            </a:r>
            <a:r>
              <a:rPr lang="en-US" sz="1200">
                <a:solidFill>
                  <a:srgbClr val="F9FAF4"/>
                </a:solidFill>
                <a:highlight>
                  <a:srgbClr val="1E1F22"/>
                </a:highlight>
                <a:latin typeface="Courier New"/>
                <a:ea typeface="Courier New"/>
                <a:cs typeface="Courier New"/>
                <a:sym typeface="Courier New"/>
              </a:rPr>
              <a:t>(</a:t>
            </a:r>
            <a:r>
              <a:rPr lang="en-US" sz="1200">
                <a:solidFill>
                  <a:srgbClr val="BFA4A4"/>
                </a:solidFill>
                <a:highlight>
                  <a:srgbClr val="1E1F22"/>
                </a:highlight>
                <a:latin typeface="Courier New"/>
                <a:ea typeface="Courier New"/>
                <a:cs typeface="Courier New"/>
                <a:sym typeface="Courier New"/>
              </a:rPr>
              <a:t>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entity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BFA4A4"/>
                </a:solidFill>
                <a:highlight>
                  <a:srgbClr val="1E1F22"/>
                </a:highlight>
                <a:latin typeface="Courier New"/>
                <a:ea typeface="Courier New"/>
                <a:cs typeface="Courier New"/>
                <a:sym typeface="Courier New"/>
              </a:rPr>
              <a:t>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entity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deleteById</a:t>
            </a:r>
            <a:r>
              <a:rPr lang="en-US" sz="1200">
                <a:solidFill>
                  <a:srgbClr val="F9FAF4"/>
                </a:solidFill>
                <a:highlight>
                  <a:srgbClr val="1E1F22"/>
                </a:highlight>
                <a:latin typeface="Courier New"/>
                <a:ea typeface="Courier New"/>
                <a:cs typeface="Courier New"/>
                <a:sym typeface="Courier New"/>
              </a:rPr>
              <a:t>(</a:t>
            </a:r>
            <a:r>
              <a:rPr lang="en-US" sz="1200">
                <a:solidFill>
                  <a:srgbClr val="BFA4A4"/>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BFA4A4"/>
                </a:solidFill>
                <a:highlight>
                  <a:srgbClr val="1E1F22"/>
                </a:highlight>
                <a:latin typeface="Courier New"/>
                <a:ea typeface="Courier New"/>
                <a:cs typeface="Courier New"/>
                <a:sym typeface="Courier New"/>
              </a:rPr>
              <a:t>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BFA4A4"/>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findAll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3" name="Shape 1473"/>
        <p:cNvGrpSpPr/>
        <p:nvPr/>
      </p:nvGrpSpPr>
      <p:grpSpPr>
        <a:xfrm>
          <a:off x="0" y="0"/>
          <a:ext cx="0" cy="0"/>
          <a:chOff x="0" y="0"/>
          <a:chExt cx="0" cy="0"/>
        </a:xfrm>
      </p:grpSpPr>
      <p:pic>
        <p:nvPicPr>
          <p:cNvPr descr="image.png" id="1474" name="Google Shape;1474;p18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75" name="Google Shape;1475;p180"/>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76" name="Google Shape;1476;p180"/>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77" name="Google Shape;1477;p180"/>
          <p:cNvSpPr txBox="1"/>
          <p:nvPr/>
        </p:nvSpPr>
        <p:spPr>
          <a:xfrm>
            <a:off x="600850" y="1336700"/>
            <a:ext cx="6532500" cy="5254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BookRepository</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implements</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Repository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Book</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u="sng">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BookRepository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save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Book</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entity</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Book</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entity</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p:txBody>
      </p:sp>
      <p:sp>
        <p:nvSpPr>
          <p:cNvPr id="1478" name="Google Shape;1478;p180"/>
          <p:cNvSpPr txBox="1"/>
          <p:nvPr/>
        </p:nvSpPr>
        <p:spPr>
          <a:xfrm>
            <a:off x="7339475" y="1336700"/>
            <a:ext cx="4281000" cy="2706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Book</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findAll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pic>
        <p:nvPicPr>
          <p:cNvPr descr="image.png" id="1483" name="Google Shape;1483;p18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84" name="Google Shape;1484;p181"/>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85" name="Google Shape;1485;p181"/>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6" name="Google Shape;1486;p181"/>
          <p:cNvSpPr txBox="1"/>
          <p:nvPr/>
        </p:nvSpPr>
        <p:spPr>
          <a:xfrm>
            <a:off x="571500" y="1228750"/>
            <a:ext cx="11049000" cy="1569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b="1" lang="en-US" sz="1800">
                <a:solidFill>
                  <a:schemeClr val="dk1"/>
                </a:solidFill>
                <a:latin typeface="Poppins"/>
                <a:ea typeface="Poppins"/>
                <a:cs typeface="Poppins"/>
                <a:sym typeface="Poppins"/>
              </a:rPr>
              <a:t>4. Retain all functionalities from Module 5 Project</a:t>
            </a:r>
            <a:endParaRPr b="1" sz="1800">
              <a:solidFill>
                <a:schemeClr val="dk1"/>
              </a:solidFill>
              <a:latin typeface="Poppins"/>
              <a:ea typeface="Poppins"/>
              <a:cs typeface="Poppins"/>
              <a:sym typeface="Poppins"/>
            </a:endParaRPr>
          </a:p>
          <a:p>
            <a:pPr indent="-342900" lvl="0"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Display All Books, Display Available Books, Display All Borrowed Books, Borrow Book, Return Book, Add Book, Remove Book, Update Book</a:t>
            </a:r>
            <a:endParaRPr sz="1800">
              <a:solidFill>
                <a:schemeClr val="dk1"/>
              </a:solidFill>
              <a:latin typeface="Poppins"/>
              <a:ea typeface="Poppins"/>
              <a:cs typeface="Poppins"/>
              <a:sym typeface="Poppins"/>
            </a:endParaRPr>
          </a:p>
          <a:p>
            <a:pPr indent="-342900" lvl="0"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try to put these functionalities in a service classes (BookService)</a:t>
            </a:r>
            <a:endParaRPr sz="1800">
              <a:solidFill>
                <a:schemeClr val="dk1"/>
              </a:solidFill>
              <a:latin typeface="Poppins"/>
              <a:ea typeface="Poppins"/>
              <a:cs typeface="Poppins"/>
              <a:sym typeface="Poppins"/>
            </a:endParaRPr>
          </a:p>
          <a:p>
            <a:pPr indent="-342900" lvl="0"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put service class in service package</a:t>
            </a:r>
            <a:endParaRPr sz="1800">
              <a:solidFill>
                <a:schemeClr val="dk1"/>
              </a:solidFill>
              <a:latin typeface="Poppins"/>
              <a:ea typeface="Poppins"/>
              <a:cs typeface="Poppins"/>
              <a:sym typeface="Poppins"/>
            </a:endParaRPr>
          </a:p>
        </p:txBody>
      </p:sp>
      <p:pic>
        <p:nvPicPr>
          <p:cNvPr id="1487" name="Google Shape;1487;p181"/>
          <p:cNvPicPr preferRelativeResize="0"/>
          <p:nvPr/>
        </p:nvPicPr>
        <p:blipFill>
          <a:blip r:embed="rId4">
            <a:alphaModFix/>
          </a:blip>
          <a:stretch>
            <a:fillRect/>
          </a:stretch>
        </p:blipFill>
        <p:spPr>
          <a:xfrm>
            <a:off x="3820300" y="3173488"/>
            <a:ext cx="4610100" cy="2295525"/>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1" name="Shape 1491"/>
        <p:cNvGrpSpPr/>
        <p:nvPr/>
      </p:nvGrpSpPr>
      <p:grpSpPr>
        <a:xfrm>
          <a:off x="0" y="0"/>
          <a:ext cx="0" cy="0"/>
          <a:chOff x="0" y="0"/>
          <a:chExt cx="0" cy="0"/>
        </a:xfrm>
      </p:grpSpPr>
      <p:pic>
        <p:nvPicPr>
          <p:cNvPr descr="image.png" id="1492" name="Google Shape;1492;p18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93" name="Google Shape;1493;p182"/>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94" name="Google Shape;1494;p182"/>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5" name="Google Shape;1495;p182"/>
          <p:cNvSpPr txBox="1"/>
          <p:nvPr/>
        </p:nvSpPr>
        <p:spPr>
          <a:xfrm>
            <a:off x="3078250" y="1296925"/>
            <a:ext cx="6094200" cy="4192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interface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BookService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displayAllBooks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displayAllAvailableBooks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displayAllBorrowedBooks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borrowBook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returnBook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addBook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removeBook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updateBook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CC6C1D"/>
              </a:solidFill>
              <a:highlight>
                <a:srgbClr val="1E1F22"/>
              </a:highlight>
              <a:latin typeface="Courier New"/>
              <a:ea typeface="Courier New"/>
              <a:cs typeface="Courier New"/>
              <a:sym typeface="Courier New"/>
            </a:endParaRPr>
          </a:p>
        </p:txBody>
      </p:sp>
      <p:sp>
        <p:nvSpPr>
          <p:cNvPr id="1496" name="Google Shape;1496;p182"/>
          <p:cNvSpPr txBox="1"/>
          <p:nvPr/>
        </p:nvSpPr>
        <p:spPr>
          <a:xfrm>
            <a:off x="571500" y="5778475"/>
            <a:ext cx="11049000" cy="738900"/>
          </a:xfrm>
          <a:prstGeom prst="rect">
            <a:avLst/>
          </a:prstGeom>
          <a:noFill/>
          <a:ln>
            <a:noFill/>
          </a:ln>
        </p:spPr>
        <p:txBody>
          <a:bodyPr anchorCtr="0" anchor="t" bIns="91425" lIns="91425" spcFirstLastPara="1" rIns="91425" wrap="square" tIns="91425">
            <a:spAutoFit/>
          </a:bodyPr>
          <a:lstStyle/>
          <a:p>
            <a:pPr indent="-342900" lvl="0" marL="914400" rtl="0" algn="l">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Methods don’t necessarily have a void return type or no parameters; it all depends on your design.</a:t>
            </a:r>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0" name="Shape 1500"/>
        <p:cNvGrpSpPr/>
        <p:nvPr/>
      </p:nvGrpSpPr>
      <p:grpSpPr>
        <a:xfrm>
          <a:off x="0" y="0"/>
          <a:ext cx="0" cy="0"/>
          <a:chOff x="0" y="0"/>
          <a:chExt cx="0" cy="0"/>
        </a:xfrm>
      </p:grpSpPr>
      <p:pic>
        <p:nvPicPr>
          <p:cNvPr descr="image.png" id="1501" name="Google Shape;1501;p18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02" name="Google Shape;1502;p183"/>
          <p:cNvSpPr txBox="1"/>
          <p:nvPr/>
        </p:nvSpPr>
        <p:spPr>
          <a:xfrm>
            <a:off x="571500" y="2485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503" name="Google Shape;1503;p183"/>
          <p:cNvSpPr/>
          <p:nvPr/>
        </p:nvSpPr>
        <p:spPr>
          <a:xfrm>
            <a:off x="548000" y="8541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04" name="Google Shape;1504;p183"/>
          <p:cNvSpPr txBox="1"/>
          <p:nvPr/>
        </p:nvSpPr>
        <p:spPr>
          <a:xfrm>
            <a:off x="571500" y="1033400"/>
            <a:ext cx="55452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BookServiceImpl</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implements</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BookService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u="sng">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BookRepository</a:t>
            </a:r>
            <a:r>
              <a:rPr lang="en-US" sz="1200">
                <a:solidFill>
                  <a:srgbClr val="D9E8F7"/>
                </a:solidFill>
                <a:highlight>
                  <a:srgbClr val="1E1F22"/>
                </a:highlight>
                <a:latin typeface="Courier New"/>
                <a:ea typeface="Courier New"/>
                <a:cs typeface="Courier New"/>
                <a:sym typeface="Courier New"/>
              </a:rPr>
              <a:t> </a:t>
            </a:r>
            <a:r>
              <a:rPr lang="en-US" sz="1200" u="sng">
                <a:solidFill>
                  <a:srgbClr val="66E1F8"/>
                </a:solidFill>
                <a:highlight>
                  <a:srgbClr val="1E1F22"/>
                </a:highlight>
                <a:latin typeface="Courier New"/>
                <a:ea typeface="Courier New"/>
                <a:cs typeface="Courier New"/>
                <a:sym typeface="Courier New"/>
              </a:rPr>
              <a:t>bookRepository</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BookServiceImpl</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bookRepository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BookRepository</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displayAllBooks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displayAllAvailableBooks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displayAllBorrowedBooks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CC6C1D"/>
              </a:solidFill>
              <a:highlight>
                <a:srgbClr val="1E1F22"/>
              </a:highlight>
              <a:latin typeface="Courier New"/>
              <a:ea typeface="Courier New"/>
              <a:cs typeface="Courier New"/>
              <a:sym typeface="Courier New"/>
            </a:endParaRPr>
          </a:p>
        </p:txBody>
      </p:sp>
      <p:sp>
        <p:nvSpPr>
          <p:cNvPr id="1505" name="Google Shape;1505;p183"/>
          <p:cNvSpPr txBox="1"/>
          <p:nvPr/>
        </p:nvSpPr>
        <p:spPr>
          <a:xfrm>
            <a:off x="6301100" y="1033400"/>
            <a:ext cx="5295900" cy="5679900"/>
          </a:xfrm>
          <a:prstGeom prst="rect">
            <a:avLst/>
          </a:prstGeom>
          <a:solidFill>
            <a:srgbClr val="1E1F22"/>
          </a:solidFill>
          <a:ln>
            <a:noFill/>
          </a:ln>
        </p:spPr>
        <p:txBody>
          <a:bodyPr anchorCtr="0" anchor="t" bIns="91425" lIns="91425" spcFirstLastPara="1" rIns="91425" wrap="square" tIns="91425">
            <a:spAutoFit/>
          </a:bodyPr>
          <a:lstStyle/>
          <a:p>
            <a:pPr indent="457200" lvl="0" marL="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borrowBook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returnBook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addBook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removeBook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updateBook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9" name="Shape 1509"/>
        <p:cNvGrpSpPr/>
        <p:nvPr/>
      </p:nvGrpSpPr>
      <p:grpSpPr>
        <a:xfrm>
          <a:off x="0" y="0"/>
          <a:ext cx="0" cy="0"/>
          <a:chOff x="0" y="0"/>
          <a:chExt cx="0" cy="0"/>
        </a:xfrm>
      </p:grpSpPr>
      <p:pic>
        <p:nvPicPr>
          <p:cNvPr descr="image.png" id="1510" name="Google Shape;1510;p18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11" name="Google Shape;1511;p184"/>
          <p:cNvSpPr txBox="1"/>
          <p:nvPr/>
        </p:nvSpPr>
        <p:spPr>
          <a:xfrm>
            <a:off x="571500" y="3113400"/>
            <a:ext cx="11049000" cy="631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4100">
                <a:solidFill>
                  <a:srgbClr val="B91C1C"/>
                </a:solidFill>
                <a:latin typeface="Poppins"/>
                <a:ea typeface="Poppins"/>
                <a:cs typeface="Poppins"/>
                <a:sym typeface="Poppins"/>
              </a:rPr>
              <a:t>Thank You!</a:t>
            </a:r>
            <a:endParaRPr b="1" sz="4100">
              <a:solidFill>
                <a:srgbClr val="B91C1C"/>
              </a:solidFill>
              <a:latin typeface="Poppins"/>
              <a:ea typeface="Poppins"/>
              <a:cs typeface="Poppins"/>
              <a:sym typeface="Poppins"/>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